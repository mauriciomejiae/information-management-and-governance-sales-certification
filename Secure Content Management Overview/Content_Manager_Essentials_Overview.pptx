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3.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57" r:id="rId1"/>
    <p:sldMasterId id="2147483933" r:id="rId2"/>
    <p:sldMasterId id="2147483980" r:id="rId3"/>
    <p:sldMasterId id="2147484049" r:id="rId4"/>
  </p:sldMasterIdLst>
  <p:notesMasterIdLst>
    <p:notesMasterId r:id="rId26"/>
  </p:notesMasterIdLst>
  <p:sldIdLst>
    <p:sldId id="258" r:id="rId5"/>
    <p:sldId id="341" r:id="rId6"/>
    <p:sldId id="285" r:id="rId7"/>
    <p:sldId id="504" r:id="rId8"/>
    <p:sldId id="503" r:id="rId9"/>
    <p:sldId id="296" r:id="rId10"/>
    <p:sldId id="528" r:id="rId11"/>
    <p:sldId id="527" r:id="rId12"/>
    <p:sldId id="529" r:id="rId13"/>
    <p:sldId id="297" r:id="rId14"/>
    <p:sldId id="533" r:id="rId15"/>
    <p:sldId id="534" r:id="rId16"/>
    <p:sldId id="535" r:id="rId17"/>
    <p:sldId id="343" r:id="rId18"/>
    <p:sldId id="536" r:id="rId19"/>
    <p:sldId id="537" r:id="rId20"/>
    <p:sldId id="344" r:id="rId21"/>
    <p:sldId id="541" r:id="rId22"/>
    <p:sldId id="320" r:id="rId23"/>
    <p:sldId id="538" r:id="rId24"/>
    <p:sldId id="321" r:id="rId25"/>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4B4C221F-E14F-B142-A344-0B0DC7711EEF}">
          <p14:sldIdLst/>
        </p14:section>
        <p14:section name="Overview" id="{E4F0A0FA-C584-1348-8442-D84B69ABAF5D}">
          <p14:sldIdLst>
            <p14:sldId id="258"/>
            <p14:sldId id="341"/>
            <p14:sldId id="285"/>
            <p14:sldId id="504"/>
            <p14:sldId id="503"/>
            <p14:sldId id="296"/>
            <p14:sldId id="528"/>
            <p14:sldId id="527"/>
            <p14:sldId id="529"/>
            <p14:sldId id="297"/>
            <p14:sldId id="533"/>
            <p14:sldId id="534"/>
            <p14:sldId id="535"/>
            <p14:sldId id="343"/>
            <p14:sldId id="536"/>
            <p14:sldId id="537"/>
            <p14:sldId id="344"/>
            <p14:sldId id="541"/>
            <p14:sldId id="320"/>
            <p14:sldId id="538"/>
          </p14:sldIdLst>
        </p14:section>
        <p14:section name="Summary" id="{9F176DA3-0D70-CB43-9D31-9DE0E4828D73}">
          <p14:sldIdLst>
            <p14:sldId id="321"/>
          </p14:sldIdLst>
        </p14:section>
        <p14:section name="Appendix" id="{A5605A56-FE7F-D846-B21D-49C59850396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lin Stokes" initials="KS" lastIdx="2" clrIdx="0">
    <p:extLst/>
  </p:cmAuthor>
  <p:cmAuthor id="2" name="david groom" initials="dg"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1CA5"/>
    <a:srgbClr val="A6A6A6"/>
    <a:srgbClr val="2FD6C3"/>
    <a:srgbClr val="7424AD"/>
    <a:srgbClr val="3896F3"/>
    <a:srgbClr val="C6179D"/>
    <a:srgbClr val="FFFFFF"/>
    <a:srgbClr val="33A9EF"/>
    <a:srgbClr val="2597EE"/>
    <a:srgbClr val="2190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1690" autoAdjust="0"/>
  </p:normalViewPr>
  <p:slideViewPr>
    <p:cSldViewPr snapToGrid="0" showGuides="1">
      <p:cViewPr varScale="1">
        <p:scale>
          <a:sx n="70" d="100"/>
          <a:sy n="70" d="100"/>
        </p:scale>
        <p:origin x="2094" y="66"/>
      </p:cViewPr>
      <p:guideLst>
        <p:guide orient="horz" pos="2160"/>
        <p:guide pos="3840"/>
      </p:guideLst>
    </p:cSldViewPr>
  </p:slideViewPr>
  <p:outlineViewPr>
    <p:cViewPr>
      <p:scale>
        <a:sx n="33" d="100"/>
        <a:sy n="33" d="100"/>
      </p:scale>
      <p:origin x="0" y="-20748"/>
    </p:cViewPr>
  </p:outlineViewPr>
  <p:notesTextViewPr>
    <p:cViewPr>
      <p:scale>
        <a:sx n="100" d="100"/>
        <a:sy n="100" d="100"/>
      </p:scale>
      <p:origin x="0" y="0"/>
    </p:cViewPr>
  </p:notesTextViewPr>
  <p:sorterViewPr>
    <p:cViewPr>
      <p:scale>
        <a:sx n="200" d="100"/>
        <a:sy n="200" d="100"/>
      </p:scale>
      <p:origin x="0" y="0"/>
    </p:cViewPr>
  </p:sorterViewPr>
  <p:notesViewPr>
    <p:cSldViewPr snapToGrid="0">
      <p:cViewPr varScale="1">
        <p:scale>
          <a:sx n="169" d="100"/>
          <a:sy n="169" d="100"/>
        </p:scale>
        <p:origin x="6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2180C86-3248-4DF5-A80C-69D58517EFA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52F5CF0D-565D-480C-B550-51543CF504FE}">
      <dgm:prSet phldrT="[Text]" custT="1"/>
      <dgm:spPr>
        <a:xfrm>
          <a:off x="1282473" y="2466"/>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Streamline system administration and information flow</a:t>
          </a:r>
        </a:p>
      </dgm:t>
    </dgm:pt>
    <dgm:pt modelId="{368FB42C-52DD-4A9B-9FE2-9935D5D9D6EA}" type="parTrans" cxnId="{686EC8B6-9BDB-4713-B1C7-A2471D0EE950}">
      <dgm:prSet/>
      <dgm:spPr/>
      <dgm:t>
        <a:bodyPr/>
        <a:lstStyle/>
        <a:p>
          <a:endParaRPr lang="en-US" sz="1600">
            <a:latin typeface="+mn-lt"/>
          </a:endParaRPr>
        </a:p>
      </dgm:t>
    </dgm:pt>
    <dgm:pt modelId="{E71AA829-ED94-45AA-B65C-15FE97B0E216}" type="sibTrans" cxnId="{686EC8B6-9BDB-4713-B1C7-A2471D0EE950}">
      <dgm:prSet/>
      <dgm:spPr/>
      <dgm:t>
        <a:bodyPr/>
        <a:lstStyle/>
        <a:p>
          <a:endParaRPr lang="en-US" sz="1600">
            <a:latin typeface="+mn-lt"/>
          </a:endParaRPr>
        </a:p>
      </dgm:t>
    </dgm:pt>
    <dgm:pt modelId="{4D7E5C48-7CA1-4268-A7EB-364198642D21}">
      <dgm:prSet custT="1"/>
      <dgm:spPr>
        <a:xfrm>
          <a:off x="4088932" y="2466"/>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Improve information management, compliance and sharing</a:t>
          </a:r>
        </a:p>
      </dgm:t>
    </dgm:pt>
    <dgm:pt modelId="{06A67C79-A125-4ED2-8D49-C048CEA5344A}" type="parTrans" cxnId="{9ED31EA7-5345-46EA-9E33-4B20195B7BF7}">
      <dgm:prSet/>
      <dgm:spPr/>
      <dgm:t>
        <a:bodyPr/>
        <a:lstStyle/>
        <a:p>
          <a:endParaRPr lang="en-US" sz="1600">
            <a:latin typeface="+mn-lt"/>
          </a:endParaRPr>
        </a:p>
      </dgm:t>
    </dgm:pt>
    <dgm:pt modelId="{972AF8DE-4B5E-4D9A-A9A7-582BCF874453}" type="sibTrans" cxnId="{9ED31EA7-5345-46EA-9E33-4B20195B7BF7}">
      <dgm:prSet/>
      <dgm:spPr/>
      <dgm:t>
        <a:bodyPr/>
        <a:lstStyle/>
        <a:p>
          <a:endParaRPr lang="en-US" sz="1600">
            <a:latin typeface="+mn-lt"/>
          </a:endParaRPr>
        </a:p>
      </dgm:t>
    </dgm:pt>
    <dgm:pt modelId="{B8CD01A5-9B25-418B-8FFE-D3A6495A3AE0}">
      <dgm:prSet custT="1"/>
      <dgm:spPr>
        <a:xfrm>
          <a:off x="6895391" y="2466"/>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Reduce data migration and change management while mitigating risk</a:t>
          </a:r>
        </a:p>
      </dgm:t>
    </dgm:pt>
    <dgm:pt modelId="{0EB6BCB1-0EF2-4755-821C-2642BE6C917F}" type="parTrans" cxnId="{B082D6D7-999C-489E-985C-9C23A23761FE}">
      <dgm:prSet/>
      <dgm:spPr/>
      <dgm:t>
        <a:bodyPr/>
        <a:lstStyle/>
        <a:p>
          <a:endParaRPr lang="en-US" sz="1600">
            <a:latin typeface="+mn-lt"/>
          </a:endParaRPr>
        </a:p>
      </dgm:t>
    </dgm:pt>
    <dgm:pt modelId="{345CA2FF-250F-463F-B51C-20DCDB8C8AA0}" type="sibTrans" cxnId="{B082D6D7-999C-489E-985C-9C23A23761FE}">
      <dgm:prSet/>
      <dgm:spPr/>
      <dgm:t>
        <a:bodyPr/>
        <a:lstStyle/>
        <a:p>
          <a:endParaRPr lang="en-US" sz="1600">
            <a:latin typeface="+mn-lt"/>
          </a:endParaRPr>
        </a:p>
      </dgm:t>
    </dgm:pt>
    <dgm:pt modelId="{EE380F92-D4EE-4704-9EAC-6D2A4A199661}">
      <dgm:prSet custT="1"/>
      <dgm:spPr>
        <a:xfrm>
          <a:off x="1282473" y="1788395"/>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Simplify legally defensible retention management</a:t>
          </a:r>
        </a:p>
      </dgm:t>
    </dgm:pt>
    <dgm:pt modelId="{D5E92ECA-5E49-418C-A090-EFD955C0751C}" type="parTrans" cxnId="{EE5B51FA-96DE-4A0F-8BFE-E758D72B3A9E}">
      <dgm:prSet/>
      <dgm:spPr/>
      <dgm:t>
        <a:bodyPr/>
        <a:lstStyle/>
        <a:p>
          <a:endParaRPr lang="en-US" sz="1600">
            <a:latin typeface="+mn-lt"/>
          </a:endParaRPr>
        </a:p>
      </dgm:t>
    </dgm:pt>
    <dgm:pt modelId="{D1DD8012-6616-4025-A1C5-40DE311B19AA}" type="sibTrans" cxnId="{EE5B51FA-96DE-4A0F-8BFE-E758D72B3A9E}">
      <dgm:prSet/>
      <dgm:spPr/>
      <dgm:t>
        <a:bodyPr/>
        <a:lstStyle/>
        <a:p>
          <a:endParaRPr lang="en-US" sz="1600">
            <a:latin typeface="+mn-lt"/>
          </a:endParaRPr>
        </a:p>
      </dgm:t>
    </dgm:pt>
    <dgm:pt modelId="{9E64954D-9452-4648-9435-ED03A6AE1773}">
      <dgm:prSet custT="1"/>
      <dgm:spPr>
        <a:xfrm>
          <a:off x="4088932" y="1788395"/>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Get SharePoint content under control</a:t>
          </a:r>
        </a:p>
      </dgm:t>
    </dgm:pt>
    <dgm:pt modelId="{D38E3E4C-191E-40EA-A683-C6F641935733}" type="parTrans" cxnId="{CF008234-46D8-4ABE-BBDC-B89AB17D4793}">
      <dgm:prSet/>
      <dgm:spPr/>
      <dgm:t>
        <a:bodyPr/>
        <a:lstStyle/>
        <a:p>
          <a:endParaRPr lang="en-US" sz="1600">
            <a:latin typeface="+mn-lt"/>
          </a:endParaRPr>
        </a:p>
      </dgm:t>
    </dgm:pt>
    <dgm:pt modelId="{BC997B19-00FB-4E52-9304-0AC3325F80EA}" type="sibTrans" cxnId="{CF008234-46D8-4ABE-BBDC-B89AB17D4793}">
      <dgm:prSet/>
      <dgm:spPr/>
      <dgm:t>
        <a:bodyPr/>
        <a:lstStyle/>
        <a:p>
          <a:endParaRPr lang="en-US" sz="1600">
            <a:latin typeface="+mn-lt"/>
          </a:endParaRPr>
        </a:p>
      </dgm:t>
    </dgm:pt>
    <dgm:pt modelId="{862783DF-B8AE-4D12-A295-252F984A1E08}">
      <dgm:prSet custT="1"/>
      <dgm:spPr>
        <a:xfrm>
          <a:off x="6895391" y="1788395"/>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Reduce the cost and complexity to archive SAP applications and content</a:t>
          </a:r>
        </a:p>
      </dgm:t>
    </dgm:pt>
    <dgm:pt modelId="{FA452CEE-C265-4804-9AD4-7DAB8F1E11D8}" type="parTrans" cxnId="{78322772-258B-49C3-AAEE-04D3A22BD606}">
      <dgm:prSet/>
      <dgm:spPr/>
      <dgm:t>
        <a:bodyPr/>
        <a:lstStyle/>
        <a:p>
          <a:endParaRPr lang="en-US" sz="1600">
            <a:latin typeface="+mn-lt"/>
          </a:endParaRPr>
        </a:p>
      </dgm:t>
    </dgm:pt>
    <dgm:pt modelId="{0005421D-93D8-44C5-B62C-CCC8268D061B}" type="sibTrans" cxnId="{78322772-258B-49C3-AAEE-04D3A22BD606}">
      <dgm:prSet/>
      <dgm:spPr/>
      <dgm:t>
        <a:bodyPr/>
        <a:lstStyle/>
        <a:p>
          <a:endParaRPr lang="en-US" sz="1600">
            <a:latin typeface="+mn-lt"/>
          </a:endParaRPr>
        </a:p>
      </dgm:t>
    </dgm:pt>
    <dgm:pt modelId="{B9C8BF88-0D75-4BAC-A33B-81F4267A2513}">
      <dgm:prSet custT="1"/>
      <dgm:spPr>
        <a:xfrm>
          <a:off x="1282473" y="3574323"/>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Enable your mobile workforce</a:t>
          </a:r>
        </a:p>
      </dgm:t>
    </dgm:pt>
    <dgm:pt modelId="{24F0C9F3-C1B2-4E22-84A0-530DE4C2EE49}" type="parTrans" cxnId="{085F2EC0-2D5F-4994-B53F-7E928C519035}">
      <dgm:prSet/>
      <dgm:spPr/>
      <dgm:t>
        <a:bodyPr/>
        <a:lstStyle/>
        <a:p>
          <a:endParaRPr lang="en-US" sz="1600">
            <a:latin typeface="+mn-lt"/>
          </a:endParaRPr>
        </a:p>
      </dgm:t>
    </dgm:pt>
    <dgm:pt modelId="{6F2235AF-2A1B-4733-B31F-3DD8ABB4B33A}" type="sibTrans" cxnId="{085F2EC0-2D5F-4994-B53F-7E928C519035}">
      <dgm:prSet/>
      <dgm:spPr/>
      <dgm:t>
        <a:bodyPr/>
        <a:lstStyle/>
        <a:p>
          <a:endParaRPr lang="en-US" sz="1600">
            <a:latin typeface="+mn-lt"/>
          </a:endParaRPr>
        </a:p>
      </dgm:t>
    </dgm:pt>
    <dgm:pt modelId="{02A2CA2B-FC03-42A7-8CBF-4C0A7CFC0371}">
      <dgm:prSet custT="1"/>
      <dgm:spPr>
        <a:xfrm>
          <a:off x="4088932" y="3574323"/>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Improve information find-ability</a:t>
          </a:r>
        </a:p>
      </dgm:t>
    </dgm:pt>
    <dgm:pt modelId="{B022DF17-9539-4D7D-8785-17B2823A4A26}" type="parTrans" cxnId="{2BCAEE79-E7B4-4D77-8028-507C7A5F6698}">
      <dgm:prSet/>
      <dgm:spPr/>
      <dgm:t>
        <a:bodyPr/>
        <a:lstStyle/>
        <a:p>
          <a:endParaRPr lang="en-US" sz="1600">
            <a:latin typeface="+mn-lt"/>
          </a:endParaRPr>
        </a:p>
      </dgm:t>
    </dgm:pt>
    <dgm:pt modelId="{3CCABF98-D6E3-4C86-AEF6-E2BB727FBEB2}" type="sibTrans" cxnId="{2BCAEE79-E7B4-4D77-8028-507C7A5F6698}">
      <dgm:prSet/>
      <dgm:spPr/>
      <dgm:t>
        <a:bodyPr/>
        <a:lstStyle/>
        <a:p>
          <a:endParaRPr lang="en-US" sz="1600">
            <a:latin typeface="+mn-lt"/>
          </a:endParaRPr>
        </a:p>
      </dgm:t>
    </dgm:pt>
    <dgm:pt modelId="{A8F9E33E-E932-4B95-ACC6-C517D09A3D6A}">
      <dgm:prSet custT="1"/>
      <dgm:spPr>
        <a:xfrm>
          <a:off x="6895391" y="3574323"/>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gm:spPr>
      <dgm:t>
        <a:bodyPr/>
        <a:lstStyle/>
        <a:p>
          <a:r>
            <a:rPr lang="en-AU" sz="1600" dirty="0">
              <a:solidFill>
                <a:sysClr val="window" lastClr="FFFFFF"/>
              </a:solidFill>
              <a:latin typeface="+mn-lt"/>
              <a:ea typeface="+mn-ea"/>
              <a:cs typeface="+mn-cs"/>
            </a:rPr>
            <a:t>Securely manage content in a hybrid environment</a:t>
          </a:r>
        </a:p>
      </dgm:t>
    </dgm:pt>
    <dgm:pt modelId="{B42043BB-6A09-41CF-85EE-1DDE5D91DD2D}" type="parTrans" cxnId="{D1B4C229-58E9-4B11-A601-C0C22111E36B}">
      <dgm:prSet/>
      <dgm:spPr/>
      <dgm:t>
        <a:bodyPr/>
        <a:lstStyle/>
        <a:p>
          <a:endParaRPr lang="en-US" sz="1600">
            <a:latin typeface="+mn-lt"/>
          </a:endParaRPr>
        </a:p>
      </dgm:t>
    </dgm:pt>
    <dgm:pt modelId="{2F68277A-5FC2-4245-B2C7-B474CA085BBC}" type="sibTrans" cxnId="{D1B4C229-58E9-4B11-A601-C0C22111E36B}">
      <dgm:prSet/>
      <dgm:spPr/>
      <dgm:t>
        <a:bodyPr/>
        <a:lstStyle/>
        <a:p>
          <a:endParaRPr lang="en-US" sz="1600">
            <a:latin typeface="+mn-lt"/>
          </a:endParaRPr>
        </a:p>
      </dgm:t>
    </dgm:pt>
    <dgm:pt modelId="{10D7F23C-A33F-4A38-BE6B-9738DD046E13}" type="pres">
      <dgm:prSet presAssocID="{72180C86-3248-4DF5-A80C-69D58517EFA8}" presName="diagram" presStyleCnt="0">
        <dgm:presLayoutVars>
          <dgm:dir/>
          <dgm:resizeHandles val="exact"/>
        </dgm:presLayoutVars>
      </dgm:prSet>
      <dgm:spPr/>
    </dgm:pt>
    <dgm:pt modelId="{BA689820-7951-4C6E-80E2-4ECC995D9560}" type="pres">
      <dgm:prSet presAssocID="{52F5CF0D-565D-480C-B550-51543CF504FE}" presName="node" presStyleLbl="node1" presStyleIdx="0" presStyleCnt="9">
        <dgm:presLayoutVars>
          <dgm:bulletEnabled val="1"/>
        </dgm:presLayoutVars>
      </dgm:prSet>
      <dgm:spPr/>
    </dgm:pt>
    <dgm:pt modelId="{8A3B8605-5D88-41C7-B8DE-31527EDCD18C}" type="pres">
      <dgm:prSet presAssocID="{E71AA829-ED94-45AA-B65C-15FE97B0E216}" presName="sibTrans" presStyleCnt="0"/>
      <dgm:spPr/>
    </dgm:pt>
    <dgm:pt modelId="{E29DA3BE-72CC-4BCD-919A-AF50A38FFF72}" type="pres">
      <dgm:prSet presAssocID="{4D7E5C48-7CA1-4268-A7EB-364198642D21}" presName="node" presStyleLbl="node1" presStyleIdx="1" presStyleCnt="9">
        <dgm:presLayoutVars>
          <dgm:bulletEnabled val="1"/>
        </dgm:presLayoutVars>
      </dgm:prSet>
      <dgm:spPr/>
    </dgm:pt>
    <dgm:pt modelId="{15430E89-8DF7-42C9-BD55-385B94D85602}" type="pres">
      <dgm:prSet presAssocID="{972AF8DE-4B5E-4D9A-A9A7-582BCF874453}" presName="sibTrans" presStyleCnt="0"/>
      <dgm:spPr/>
    </dgm:pt>
    <dgm:pt modelId="{74967B6B-FD28-451D-A295-818BB88373FF}" type="pres">
      <dgm:prSet presAssocID="{B8CD01A5-9B25-418B-8FFE-D3A6495A3AE0}" presName="node" presStyleLbl="node1" presStyleIdx="2" presStyleCnt="9">
        <dgm:presLayoutVars>
          <dgm:bulletEnabled val="1"/>
        </dgm:presLayoutVars>
      </dgm:prSet>
      <dgm:spPr/>
    </dgm:pt>
    <dgm:pt modelId="{D26AE534-81E5-4517-82FD-888D15CA07B0}" type="pres">
      <dgm:prSet presAssocID="{345CA2FF-250F-463F-B51C-20DCDB8C8AA0}" presName="sibTrans" presStyleCnt="0"/>
      <dgm:spPr/>
    </dgm:pt>
    <dgm:pt modelId="{060AF9CF-DF56-4CB8-85F5-3E339EEC1282}" type="pres">
      <dgm:prSet presAssocID="{EE380F92-D4EE-4704-9EAC-6D2A4A199661}" presName="node" presStyleLbl="node1" presStyleIdx="3" presStyleCnt="9">
        <dgm:presLayoutVars>
          <dgm:bulletEnabled val="1"/>
        </dgm:presLayoutVars>
      </dgm:prSet>
      <dgm:spPr/>
    </dgm:pt>
    <dgm:pt modelId="{FE56E326-E9E9-46EE-9462-47EB0C1B07B6}" type="pres">
      <dgm:prSet presAssocID="{D1DD8012-6616-4025-A1C5-40DE311B19AA}" presName="sibTrans" presStyleCnt="0"/>
      <dgm:spPr/>
    </dgm:pt>
    <dgm:pt modelId="{99270D21-1524-4DC1-BE84-F17D686C7668}" type="pres">
      <dgm:prSet presAssocID="{9E64954D-9452-4648-9435-ED03A6AE1773}" presName="node" presStyleLbl="node1" presStyleIdx="4" presStyleCnt="9">
        <dgm:presLayoutVars>
          <dgm:bulletEnabled val="1"/>
        </dgm:presLayoutVars>
      </dgm:prSet>
      <dgm:spPr/>
    </dgm:pt>
    <dgm:pt modelId="{539199A3-20FC-430D-A277-A1F45993DDA9}" type="pres">
      <dgm:prSet presAssocID="{BC997B19-00FB-4E52-9304-0AC3325F80EA}" presName="sibTrans" presStyleCnt="0"/>
      <dgm:spPr/>
    </dgm:pt>
    <dgm:pt modelId="{20B74898-49BC-4B58-BE8F-A32AF949AFED}" type="pres">
      <dgm:prSet presAssocID="{862783DF-B8AE-4D12-A295-252F984A1E08}" presName="node" presStyleLbl="node1" presStyleIdx="5" presStyleCnt="9">
        <dgm:presLayoutVars>
          <dgm:bulletEnabled val="1"/>
        </dgm:presLayoutVars>
      </dgm:prSet>
      <dgm:spPr/>
    </dgm:pt>
    <dgm:pt modelId="{C0D0127E-34C5-41C5-948F-F5A258EED0BB}" type="pres">
      <dgm:prSet presAssocID="{0005421D-93D8-44C5-B62C-CCC8268D061B}" presName="sibTrans" presStyleCnt="0"/>
      <dgm:spPr/>
    </dgm:pt>
    <dgm:pt modelId="{DA21F44D-43B7-4FCD-A5C6-76A278940537}" type="pres">
      <dgm:prSet presAssocID="{B9C8BF88-0D75-4BAC-A33B-81F4267A2513}" presName="node" presStyleLbl="node1" presStyleIdx="6" presStyleCnt="9">
        <dgm:presLayoutVars>
          <dgm:bulletEnabled val="1"/>
        </dgm:presLayoutVars>
      </dgm:prSet>
      <dgm:spPr/>
    </dgm:pt>
    <dgm:pt modelId="{E7291497-989D-4AAB-A767-D60797AA6721}" type="pres">
      <dgm:prSet presAssocID="{6F2235AF-2A1B-4733-B31F-3DD8ABB4B33A}" presName="sibTrans" presStyleCnt="0"/>
      <dgm:spPr/>
    </dgm:pt>
    <dgm:pt modelId="{DB4D1A50-6935-4050-872C-CD426F793F53}" type="pres">
      <dgm:prSet presAssocID="{02A2CA2B-FC03-42A7-8CBF-4C0A7CFC0371}" presName="node" presStyleLbl="node1" presStyleIdx="7" presStyleCnt="9">
        <dgm:presLayoutVars>
          <dgm:bulletEnabled val="1"/>
        </dgm:presLayoutVars>
      </dgm:prSet>
      <dgm:spPr/>
    </dgm:pt>
    <dgm:pt modelId="{C7A29B21-4472-4415-82C4-B9D52185C041}" type="pres">
      <dgm:prSet presAssocID="{3CCABF98-D6E3-4C86-AEF6-E2BB727FBEB2}" presName="sibTrans" presStyleCnt="0"/>
      <dgm:spPr/>
    </dgm:pt>
    <dgm:pt modelId="{60AA6F07-6895-421C-A263-63B9881EC656}" type="pres">
      <dgm:prSet presAssocID="{A8F9E33E-E932-4B95-ACC6-C517D09A3D6A}" presName="node" presStyleLbl="node1" presStyleIdx="8" presStyleCnt="9">
        <dgm:presLayoutVars>
          <dgm:bulletEnabled val="1"/>
        </dgm:presLayoutVars>
      </dgm:prSet>
      <dgm:spPr/>
    </dgm:pt>
  </dgm:ptLst>
  <dgm:cxnLst>
    <dgm:cxn modelId="{D1B4C229-58E9-4B11-A601-C0C22111E36B}" srcId="{72180C86-3248-4DF5-A80C-69D58517EFA8}" destId="{A8F9E33E-E932-4B95-ACC6-C517D09A3D6A}" srcOrd="8" destOrd="0" parTransId="{B42043BB-6A09-41CF-85EE-1DDE5D91DD2D}" sibTransId="{2F68277A-5FC2-4245-B2C7-B474CA085BBC}"/>
    <dgm:cxn modelId="{CF008234-46D8-4ABE-BBDC-B89AB17D4793}" srcId="{72180C86-3248-4DF5-A80C-69D58517EFA8}" destId="{9E64954D-9452-4648-9435-ED03A6AE1773}" srcOrd="4" destOrd="0" parTransId="{D38E3E4C-191E-40EA-A683-C6F641935733}" sibTransId="{BC997B19-00FB-4E52-9304-0AC3325F80EA}"/>
    <dgm:cxn modelId="{C292783F-BA1E-4152-A0F5-B40B28B0F0DD}" type="presOf" srcId="{EE380F92-D4EE-4704-9EAC-6D2A4A199661}" destId="{060AF9CF-DF56-4CB8-85F5-3E339EEC1282}" srcOrd="0" destOrd="0" presId="urn:microsoft.com/office/officeart/2005/8/layout/default"/>
    <dgm:cxn modelId="{C4C42D69-AF52-471B-9AB3-07286576BF7E}" type="presOf" srcId="{862783DF-B8AE-4D12-A295-252F984A1E08}" destId="{20B74898-49BC-4B58-BE8F-A32AF949AFED}" srcOrd="0" destOrd="0" presId="urn:microsoft.com/office/officeart/2005/8/layout/default"/>
    <dgm:cxn modelId="{78322772-258B-49C3-AAEE-04D3A22BD606}" srcId="{72180C86-3248-4DF5-A80C-69D58517EFA8}" destId="{862783DF-B8AE-4D12-A295-252F984A1E08}" srcOrd="5" destOrd="0" parTransId="{FA452CEE-C265-4804-9AD4-7DAB8F1E11D8}" sibTransId="{0005421D-93D8-44C5-B62C-CCC8268D061B}"/>
    <dgm:cxn modelId="{B9210377-8DC2-412E-8510-714545AD04DF}" type="presOf" srcId="{02A2CA2B-FC03-42A7-8CBF-4C0A7CFC0371}" destId="{DB4D1A50-6935-4050-872C-CD426F793F53}" srcOrd="0" destOrd="0" presId="urn:microsoft.com/office/officeart/2005/8/layout/default"/>
    <dgm:cxn modelId="{5B821157-24A4-415A-97A2-21A20EDC03AA}" type="presOf" srcId="{72180C86-3248-4DF5-A80C-69D58517EFA8}" destId="{10D7F23C-A33F-4A38-BE6B-9738DD046E13}" srcOrd="0" destOrd="0" presId="urn:microsoft.com/office/officeart/2005/8/layout/default"/>
    <dgm:cxn modelId="{2BCAEE79-E7B4-4D77-8028-507C7A5F6698}" srcId="{72180C86-3248-4DF5-A80C-69D58517EFA8}" destId="{02A2CA2B-FC03-42A7-8CBF-4C0A7CFC0371}" srcOrd="7" destOrd="0" parTransId="{B022DF17-9539-4D7D-8785-17B2823A4A26}" sibTransId="{3CCABF98-D6E3-4C86-AEF6-E2BB727FBEB2}"/>
    <dgm:cxn modelId="{DD053489-D3E2-4597-909E-8A8E3DA2D51B}" type="presOf" srcId="{A8F9E33E-E932-4B95-ACC6-C517D09A3D6A}" destId="{60AA6F07-6895-421C-A263-63B9881EC656}" srcOrd="0" destOrd="0" presId="urn:microsoft.com/office/officeart/2005/8/layout/default"/>
    <dgm:cxn modelId="{87F7C5A0-BBF1-4844-AA34-D204A81D0518}" type="presOf" srcId="{4D7E5C48-7CA1-4268-A7EB-364198642D21}" destId="{E29DA3BE-72CC-4BCD-919A-AF50A38FFF72}" srcOrd="0" destOrd="0" presId="urn:microsoft.com/office/officeart/2005/8/layout/default"/>
    <dgm:cxn modelId="{9ED31EA7-5345-46EA-9E33-4B20195B7BF7}" srcId="{72180C86-3248-4DF5-A80C-69D58517EFA8}" destId="{4D7E5C48-7CA1-4268-A7EB-364198642D21}" srcOrd="1" destOrd="0" parTransId="{06A67C79-A125-4ED2-8D49-C048CEA5344A}" sibTransId="{972AF8DE-4B5E-4D9A-A9A7-582BCF874453}"/>
    <dgm:cxn modelId="{686EC8B6-9BDB-4713-B1C7-A2471D0EE950}" srcId="{72180C86-3248-4DF5-A80C-69D58517EFA8}" destId="{52F5CF0D-565D-480C-B550-51543CF504FE}" srcOrd="0" destOrd="0" parTransId="{368FB42C-52DD-4A9B-9FE2-9935D5D9D6EA}" sibTransId="{E71AA829-ED94-45AA-B65C-15FE97B0E216}"/>
    <dgm:cxn modelId="{34DB7CB8-7137-4029-8B92-E2EFCAB05C0A}" type="presOf" srcId="{B8CD01A5-9B25-418B-8FFE-D3A6495A3AE0}" destId="{74967B6B-FD28-451D-A295-818BB88373FF}" srcOrd="0" destOrd="0" presId="urn:microsoft.com/office/officeart/2005/8/layout/default"/>
    <dgm:cxn modelId="{085F2EC0-2D5F-4994-B53F-7E928C519035}" srcId="{72180C86-3248-4DF5-A80C-69D58517EFA8}" destId="{B9C8BF88-0D75-4BAC-A33B-81F4267A2513}" srcOrd="6" destOrd="0" parTransId="{24F0C9F3-C1B2-4E22-84A0-530DE4C2EE49}" sibTransId="{6F2235AF-2A1B-4733-B31F-3DD8ABB4B33A}"/>
    <dgm:cxn modelId="{C6BF6FC3-89DD-4BE8-ADB2-68CE8C168424}" type="presOf" srcId="{52F5CF0D-565D-480C-B550-51543CF504FE}" destId="{BA689820-7951-4C6E-80E2-4ECC995D9560}" srcOrd="0" destOrd="0" presId="urn:microsoft.com/office/officeart/2005/8/layout/default"/>
    <dgm:cxn modelId="{7867B8C4-B563-4540-B2B9-25FCC47E290D}" type="presOf" srcId="{9E64954D-9452-4648-9435-ED03A6AE1773}" destId="{99270D21-1524-4DC1-BE84-F17D686C7668}" srcOrd="0" destOrd="0" presId="urn:microsoft.com/office/officeart/2005/8/layout/default"/>
    <dgm:cxn modelId="{B082D6D7-999C-489E-985C-9C23A23761FE}" srcId="{72180C86-3248-4DF5-A80C-69D58517EFA8}" destId="{B8CD01A5-9B25-418B-8FFE-D3A6495A3AE0}" srcOrd="2" destOrd="0" parTransId="{0EB6BCB1-0EF2-4755-821C-2642BE6C917F}" sibTransId="{345CA2FF-250F-463F-B51C-20DCDB8C8AA0}"/>
    <dgm:cxn modelId="{ECD557F3-72BF-436D-8AAD-E50988BD25E2}" type="presOf" srcId="{B9C8BF88-0D75-4BAC-A33B-81F4267A2513}" destId="{DA21F44D-43B7-4FCD-A5C6-76A278940537}" srcOrd="0" destOrd="0" presId="urn:microsoft.com/office/officeart/2005/8/layout/default"/>
    <dgm:cxn modelId="{EE5B51FA-96DE-4A0F-8BFE-E758D72B3A9E}" srcId="{72180C86-3248-4DF5-A80C-69D58517EFA8}" destId="{EE380F92-D4EE-4704-9EAC-6D2A4A199661}" srcOrd="3" destOrd="0" parTransId="{D5E92ECA-5E49-418C-A090-EFD955C0751C}" sibTransId="{D1DD8012-6616-4025-A1C5-40DE311B19AA}"/>
    <dgm:cxn modelId="{9DC618F1-538B-4C2E-AFEF-765440A0C7A0}" type="presParOf" srcId="{10D7F23C-A33F-4A38-BE6B-9738DD046E13}" destId="{BA689820-7951-4C6E-80E2-4ECC995D9560}" srcOrd="0" destOrd="0" presId="urn:microsoft.com/office/officeart/2005/8/layout/default"/>
    <dgm:cxn modelId="{E4C13E5B-82C2-45BC-A505-D7987E8BBA32}" type="presParOf" srcId="{10D7F23C-A33F-4A38-BE6B-9738DD046E13}" destId="{8A3B8605-5D88-41C7-B8DE-31527EDCD18C}" srcOrd="1" destOrd="0" presId="urn:microsoft.com/office/officeart/2005/8/layout/default"/>
    <dgm:cxn modelId="{5D558B5A-A843-4BA8-9147-04F39EA63883}" type="presParOf" srcId="{10D7F23C-A33F-4A38-BE6B-9738DD046E13}" destId="{E29DA3BE-72CC-4BCD-919A-AF50A38FFF72}" srcOrd="2" destOrd="0" presId="urn:microsoft.com/office/officeart/2005/8/layout/default"/>
    <dgm:cxn modelId="{533BDC2A-F09E-4BD3-8AAA-5394B591B21B}" type="presParOf" srcId="{10D7F23C-A33F-4A38-BE6B-9738DD046E13}" destId="{15430E89-8DF7-42C9-BD55-385B94D85602}" srcOrd="3" destOrd="0" presId="urn:microsoft.com/office/officeart/2005/8/layout/default"/>
    <dgm:cxn modelId="{35F4F3B4-FEA3-499A-A219-B566A3CD0E68}" type="presParOf" srcId="{10D7F23C-A33F-4A38-BE6B-9738DD046E13}" destId="{74967B6B-FD28-451D-A295-818BB88373FF}" srcOrd="4" destOrd="0" presId="urn:microsoft.com/office/officeart/2005/8/layout/default"/>
    <dgm:cxn modelId="{350AD4E0-6469-414F-82D3-903060BB93B8}" type="presParOf" srcId="{10D7F23C-A33F-4A38-BE6B-9738DD046E13}" destId="{D26AE534-81E5-4517-82FD-888D15CA07B0}" srcOrd="5" destOrd="0" presId="urn:microsoft.com/office/officeart/2005/8/layout/default"/>
    <dgm:cxn modelId="{274A7FDF-2C49-476A-AC40-626FD2A693FE}" type="presParOf" srcId="{10D7F23C-A33F-4A38-BE6B-9738DD046E13}" destId="{060AF9CF-DF56-4CB8-85F5-3E339EEC1282}" srcOrd="6" destOrd="0" presId="urn:microsoft.com/office/officeart/2005/8/layout/default"/>
    <dgm:cxn modelId="{2E6E6CBB-8CA0-4640-90D0-C5D9375E0841}" type="presParOf" srcId="{10D7F23C-A33F-4A38-BE6B-9738DD046E13}" destId="{FE56E326-E9E9-46EE-9462-47EB0C1B07B6}" srcOrd="7" destOrd="0" presId="urn:microsoft.com/office/officeart/2005/8/layout/default"/>
    <dgm:cxn modelId="{DAFB57D6-18AF-46B7-B4C6-AE5366451ED2}" type="presParOf" srcId="{10D7F23C-A33F-4A38-BE6B-9738DD046E13}" destId="{99270D21-1524-4DC1-BE84-F17D686C7668}" srcOrd="8" destOrd="0" presId="urn:microsoft.com/office/officeart/2005/8/layout/default"/>
    <dgm:cxn modelId="{2D309C27-4F71-419F-B281-39A24C199556}" type="presParOf" srcId="{10D7F23C-A33F-4A38-BE6B-9738DD046E13}" destId="{539199A3-20FC-430D-A277-A1F45993DDA9}" srcOrd="9" destOrd="0" presId="urn:microsoft.com/office/officeart/2005/8/layout/default"/>
    <dgm:cxn modelId="{54254D3D-8911-4E86-AEF3-31C7A6B1019C}" type="presParOf" srcId="{10D7F23C-A33F-4A38-BE6B-9738DD046E13}" destId="{20B74898-49BC-4B58-BE8F-A32AF949AFED}" srcOrd="10" destOrd="0" presId="urn:microsoft.com/office/officeart/2005/8/layout/default"/>
    <dgm:cxn modelId="{B9579F16-6133-4D3A-82FE-A048B9413B8D}" type="presParOf" srcId="{10D7F23C-A33F-4A38-BE6B-9738DD046E13}" destId="{C0D0127E-34C5-41C5-948F-F5A258EED0BB}" srcOrd="11" destOrd="0" presId="urn:microsoft.com/office/officeart/2005/8/layout/default"/>
    <dgm:cxn modelId="{919D741B-BD7B-4B58-B984-A8C1EC765B3C}" type="presParOf" srcId="{10D7F23C-A33F-4A38-BE6B-9738DD046E13}" destId="{DA21F44D-43B7-4FCD-A5C6-76A278940537}" srcOrd="12" destOrd="0" presId="urn:microsoft.com/office/officeart/2005/8/layout/default"/>
    <dgm:cxn modelId="{1B3ABD3A-2DDA-4FB2-9D56-AD1CFBFC21A7}" type="presParOf" srcId="{10D7F23C-A33F-4A38-BE6B-9738DD046E13}" destId="{E7291497-989D-4AAB-A767-D60797AA6721}" srcOrd="13" destOrd="0" presId="urn:microsoft.com/office/officeart/2005/8/layout/default"/>
    <dgm:cxn modelId="{1348A36F-9B36-4102-B27B-D8CF54E480F2}" type="presParOf" srcId="{10D7F23C-A33F-4A38-BE6B-9738DD046E13}" destId="{DB4D1A50-6935-4050-872C-CD426F793F53}" srcOrd="14" destOrd="0" presId="urn:microsoft.com/office/officeart/2005/8/layout/default"/>
    <dgm:cxn modelId="{64FA8080-0AC3-4396-B82D-7DBBB66E4AEE}" type="presParOf" srcId="{10D7F23C-A33F-4A38-BE6B-9738DD046E13}" destId="{C7A29B21-4472-4415-82C4-B9D52185C041}" srcOrd="15" destOrd="0" presId="urn:microsoft.com/office/officeart/2005/8/layout/default"/>
    <dgm:cxn modelId="{E4507D10-3781-4347-B5A6-3796ADD13D7A}" type="presParOf" srcId="{10D7F23C-A33F-4A38-BE6B-9738DD046E13}" destId="{60AA6F07-6895-421C-A263-63B9881EC656}" srcOrd="1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689820-7951-4C6E-80E2-4ECC995D9560}">
      <dsp:nvSpPr>
        <dsp:cNvPr id="0" name=""/>
        <dsp:cNvSpPr/>
      </dsp:nvSpPr>
      <dsp:spPr>
        <a:xfrm>
          <a:off x="1282473" y="2466"/>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Streamline system administration and information flow</a:t>
          </a:r>
        </a:p>
      </dsp:txBody>
      <dsp:txXfrm>
        <a:off x="1282473" y="2466"/>
        <a:ext cx="2551326" cy="1530795"/>
      </dsp:txXfrm>
    </dsp:sp>
    <dsp:sp modelId="{E29DA3BE-72CC-4BCD-919A-AF50A38FFF72}">
      <dsp:nvSpPr>
        <dsp:cNvPr id="0" name=""/>
        <dsp:cNvSpPr/>
      </dsp:nvSpPr>
      <dsp:spPr>
        <a:xfrm>
          <a:off x="4088932" y="2466"/>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Improve information management, compliance and sharing</a:t>
          </a:r>
        </a:p>
      </dsp:txBody>
      <dsp:txXfrm>
        <a:off x="4088932" y="2466"/>
        <a:ext cx="2551326" cy="1530795"/>
      </dsp:txXfrm>
    </dsp:sp>
    <dsp:sp modelId="{74967B6B-FD28-451D-A295-818BB88373FF}">
      <dsp:nvSpPr>
        <dsp:cNvPr id="0" name=""/>
        <dsp:cNvSpPr/>
      </dsp:nvSpPr>
      <dsp:spPr>
        <a:xfrm>
          <a:off x="6895391" y="2466"/>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Reduce data migration and change management while mitigating risk</a:t>
          </a:r>
        </a:p>
      </dsp:txBody>
      <dsp:txXfrm>
        <a:off x="6895391" y="2466"/>
        <a:ext cx="2551326" cy="1530795"/>
      </dsp:txXfrm>
    </dsp:sp>
    <dsp:sp modelId="{060AF9CF-DF56-4CB8-85F5-3E339EEC1282}">
      <dsp:nvSpPr>
        <dsp:cNvPr id="0" name=""/>
        <dsp:cNvSpPr/>
      </dsp:nvSpPr>
      <dsp:spPr>
        <a:xfrm>
          <a:off x="1282473" y="1788395"/>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Simplify legally defensible retention management</a:t>
          </a:r>
        </a:p>
      </dsp:txBody>
      <dsp:txXfrm>
        <a:off x="1282473" y="1788395"/>
        <a:ext cx="2551326" cy="1530795"/>
      </dsp:txXfrm>
    </dsp:sp>
    <dsp:sp modelId="{99270D21-1524-4DC1-BE84-F17D686C7668}">
      <dsp:nvSpPr>
        <dsp:cNvPr id="0" name=""/>
        <dsp:cNvSpPr/>
      </dsp:nvSpPr>
      <dsp:spPr>
        <a:xfrm>
          <a:off x="4088932" y="1788395"/>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Get SharePoint content under control</a:t>
          </a:r>
        </a:p>
      </dsp:txBody>
      <dsp:txXfrm>
        <a:off x="4088932" y="1788395"/>
        <a:ext cx="2551326" cy="1530795"/>
      </dsp:txXfrm>
    </dsp:sp>
    <dsp:sp modelId="{20B74898-49BC-4B58-BE8F-A32AF949AFED}">
      <dsp:nvSpPr>
        <dsp:cNvPr id="0" name=""/>
        <dsp:cNvSpPr/>
      </dsp:nvSpPr>
      <dsp:spPr>
        <a:xfrm>
          <a:off x="6895391" y="1788395"/>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Reduce the cost and complexity to archive SAP applications and content</a:t>
          </a:r>
        </a:p>
      </dsp:txBody>
      <dsp:txXfrm>
        <a:off x="6895391" y="1788395"/>
        <a:ext cx="2551326" cy="1530795"/>
      </dsp:txXfrm>
    </dsp:sp>
    <dsp:sp modelId="{DA21F44D-43B7-4FCD-A5C6-76A278940537}">
      <dsp:nvSpPr>
        <dsp:cNvPr id="0" name=""/>
        <dsp:cNvSpPr/>
      </dsp:nvSpPr>
      <dsp:spPr>
        <a:xfrm>
          <a:off x="1282473" y="3574323"/>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Enable your mobile workforce</a:t>
          </a:r>
        </a:p>
      </dsp:txBody>
      <dsp:txXfrm>
        <a:off x="1282473" y="3574323"/>
        <a:ext cx="2551326" cy="1530795"/>
      </dsp:txXfrm>
    </dsp:sp>
    <dsp:sp modelId="{DB4D1A50-6935-4050-872C-CD426F793F53}">
      <dsp:nvSpPr>
        <dsp:cNvPr id="0" name=""/>
        <dsp:cNvSpPr/>
      </dsp:nvSpPr>
      <dsp:spPr>
        <a:xfrm>
          <a:off x="4088932" y="3574323"/>
          <a:ext cx="2551326" cy="1530795"/>
        </a:xfrm>
        <a:prstGeom prst="rect">
          <a:avLst/>
        </a:prstGeom>
        <a:solidFill>
          <a:srgbClr val="3896F3"/>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Improve information find-ability</a:t>
          </a:r>
        </a:p>
      </dsp:txBody>
      <dsp:txXfrm>
        <a:off x="4088932" y="3574323"/>
        <a:ext cx="2551326" cy="1530795"/>
      </dsp:txXfrm>
    </dsp:sp>
    <dsp:sp modelId="{60AA6F07-6895-421C-A263-63B9881EC656}">
      <dsp:nvSpPr>
        <dsp:cNvPr id="0" name=""/>
        <dsp:cNvSpPr/>
      </dsp:nvSpPr>
      <dsp:spPr>
        <a:xfrm>
          <a:off x="6895391" y="3574323"/>
          <a:ext cx="2551326" cy="1530795"/>
        </a:xfrm>
        <a:prstGeom prst="rect">
          <a:avLst/>
        </a:prstGeom>
        <a:solidFill>
          <a:srgbClr val="231CA5"/>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AU" sz="1600" kern="1200" dirty="0">
              <a:solidFill>
                <a:sysClr val="window" lastClr="FFFFFF"/>
              </a:solidFill>
              <a:latin typeface="+mn-lt"/>
              <a:ea typeface="+mn-ea"/>
              <a:cs typeface="+mn-cs"/>
            </a:rPr>
            <a:t>Securely manage content in a hybrid environment</a:t>
          </a:r>
        </a:p>
      </dsp:txBody>
      <dsp:txXfrm>
        <a:off x="6895391" y="3574323"/>
        <a:ext cx="2551326" cy="153079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91440" rIns="91440" bIns="45720" rtlCol="0"/>
          <a:lstStyle>
            <a:lvl1pPr algn="l">
              <a:defRPr sz="10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91440" rIns="457200" bIns="91440" rtlCol="0"/>
          <a:lstStyle>
            <a:lvl1pPr algn="r">
              <a:defRPr sz="1000"/>
            </a:lvl1pPr>
          </a:lstStyle>
          <a:p>
            <a:fld id="{D6F4137A-32A9-4E3E-80A1-313294284C14}" type="datetimeFigureOut">
              <a:rPr lang="en-US" smtClean="0"/>
              <a:pPr/>
              <a:t>1/30/2019</a:t>
            </a:fld>
            <a:endParaRPr lang="en-US"/>
          </a:p>
        </p:txBody>
      </p:sp>
      <p:sp>
        <p:nvSpPr>
          <p:cNvPr id="4" name="Slide Image Placeholder 3"/>
          <p:cNvSpPr>
            <a:spLocks noGrp="1" noRot="1" noChangeAspect="1"/>
          </p:cNvSpPr>
          <p:nvPr>
            <p:ph type="sldImg" idx="2"/>
          </p:nvPr>
        </p:nvSpPr>
        <p:spPr>
          <a:xfrm>
            <a:off x="457200" y="457200"/>
            <a:ext cx="5943600" cy="3337560"/>
          </a:xfrm>
          <a:prstGeom prst="rect">
            <a:avLst/>
          </a:prstGeom>
          <a:noFill/>
          <a:ln w="127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931920"/>
            <a:ext cx="5943600" cy="475488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13716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411480" bIns="137160" rtlCol="0" anchor="b"/>
          <a:lstStyle>
            <a:lvl1pPr algn="r">
              <a:defRPr sz="1200"/>
            </a:lvl1pPr>
          </a:lstStyle>
          <a:p>
            <a:fld id="{EF956D5C-5EF9-4233-82C8-1D8C4F6E2EDC}" type="slidenum">
              <a:rPr lang="en-US" smtClean="0"/>
              <a:t>‹#›</a:t>
            </a:fld>
            <a:endParaRPr lang="en-US"/>
          </a:p>
        </p:txBody>
      </p:sp>
    </p:spTree>
    <p:extLst>
      <p:ext uri="{BB962C8B-B14F-4D97-AF65-F5344CB8AC3E}">
        <p14:creationId xmlns:p14="http://schemas.microsoft.com/office/powerpoint/2010/main" val="1369405924"/>
      </p:ext>
    </p:extLst>
  </p:cSld>
  <p:clrMap bg1="lt1" tx1="dk1" bg2="lt2" tx2="dk2" accent1="accent1" accent2="accent2" accent3="accent3" accent4="accent4" accent5="accent5" accent6="accent6" hlink="hlink" folHlink="folHlink"/>
  <p:notesStyle>
    <a:lvl1pPr marL="0" algn="l" defTabSz="914377" rtl="0" eaLnBrk="1" latinLnBrk="0" hangingPunct="1">
      <a:lnSpc>
        <a:spcPct val="90000"/>
      </a:lnSpc>
      <a:defRPr sz="1000" kern="1200">
        <a:solidFill>
          <a:schemeClr val="tx1"/>
        </a:solidFill>
        <a:latin typeface="+mn-lt"/>
        <a:ea typeface="+mn-ea"/>
        <a:cs typeface="+mn-cs"/>
      </a:defRPr>
    </a:lvl1pPr>
    <a:lvl2pPr marL="457189" algn="l" defTabSz="914377" rtl="0" eaLnBrk="1" latinLnBrk="0" hangingPunct="1">
      <a:lnSpc>
        <a:spcPct val="90000"/>
      </a:lnSpc>
      <a:defRPr sz="1000" kern="1200">
        <a:solidFill>
          <a:schemeClr val="tx1"/>
        </a:solidFill>
        <a:latin typeface="+mn-lt"/>
        <a:ea typeface="+mn-ea"/>
        <a:cs typeface="+mn-cs"/>
      </a:defRPr>
    </a:lvl2pPr>
    <a:lvl3pPr marL="914377" algn="l" defTabSz="914377" rtl="0" eaLnBrk="1" latinLnBrk="0" hangingPunct="1">
      <a:lnSpc>
        <a:spcPct val="90000"/>
      </a:lnSpc>
      <a:defRPr sz="1000" kern="1200">
        <a:solidFill>
          <a:schemeClr val="tx1"/>
        </a:solidFill>
        <a:latin typeface="+mn-lt"/>
        <a:ea typeface="+mn-ea"/>
        <a:cs typeface="+mn-cs"/>
      </a:defRPr>
    </a:lvl3pPr>
    <a:lvl4pPr marL="1371566" algn="l" defTabSz="914377" rtl="0" eaLnBrk="1" latinLnBrk="0" hangingPunct="1">
      <a:lnSpc>
        <a:spcPct val="90000"/>
      </a:lnSpc>
      <a:defRPr sz="1000" kern="1200">
        <a:solidFill>
          <a:schemeClr val="tx1"/>
        </a:solidFill>
        <a:latin typeface="+mn-lt"/>
        <a:ea typeface="+mn-ea"/>
        <a:cs typeface="+mn-cs"/>
      </a:defRPr>
    </a:lvl4pPr>
    <a:lvl5pPr marL="1828754" algn="l" defTabSz="914377" rtl="0" eaLnBrk="1" latinLnBrk="0" hangingPunct="1">
      <a:lnSpc>
        <a:spcPct val="90000"/>
      </a:lnSpc>
      <a:defRPr sz="10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a:t>
            </a:fld>
            <a:endParaRPr lang="en-US"/>
          </a:p>
        </p:txBody>
      </p:sp>
    </p:spTree>
    <p:extLst>
      <p:ext uri="{BB962C8B-B14F-4D97-AF65-F5344CB8AC3E}">
        <p14:creationId xmlns:p14="http://schemas.microsoft.com/office/powerpoint/2010/main" val="294821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a:t>
            </a:fld>
            <a:endParaRPr lang="en-US"/>
          </a:p>
        </p:txBody>
      </p:sp>
    </p:spTree>
    <p:extLst>
      <p:ext uri="{BB962C8B-B14F-4D97-AF65-F5344CB8AC3E}">
        <p14:creationId xmlns:p14="http://schemas.microsoft.com/office/powerpoint/2010/main" val="191497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90000"/>
              </a:lnSpc>
              <a:spcBef>
                <a:spcPts val="0"/>
              </a:spcBef>
              <a:spcAft>
                <a:spcPts val="0"/>
              </a:spcAft>
              <a:buClrTx/>
              <a:buSzTx/>
              <a:buFontTx/>
              <a:buNone/>
              <a:tabLst/>
              <a:defRPr/>
            </a:pPr>
            <a:r>
              <a:rPr lang="en-GB" sz="1000" dirty="0"/>
              <a:t>Let’s take a look at some of</a:t>
            </a:r>
            <a:r>
              <a:rPr lang="en-GB" sz="1000" baseline="0" dirty="0"/>
              <a:t> the industry trends in the Enterprise Content Management Industry</a:t>
            </a:r>
            <a:endParaRPr lang="en-US" dirty="0"/>
          </a:p>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3</a:t>
            </a:fld>
            <a:endParaRPr lang="en-US"/>
          </a:p>
        </p:txBody>
      </p:sp>
    </p:spTree>
    <p:extLst>
      <p:ext uri="{BB962C8B-B14F-4D97-AF65-F5344CB8AC3E}">
        <p14:creationId xmlns:p14="http://schemas.microsoft.com/office/powerpoint/2010/main" val="154928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7838" y="409575"/>
            <a:ext cx="4937125" cy="2776538"/>
          </a:xfrm>
        </p:spPr>
      </p:sp>
      <p:sp>
        <p:nvSpPr>
          <p:cNvPr id="3" name="Notes Placeholder 2"/>
          <p:cNvSpPr>
            <a:spLocks noGrp="1"/>
          </p:cNvSpPr>
          <p:nvPr>
            <p:ph type="body" idx="1"/>
          </p:nvPr>
        </p:nvSpPr>
        <p:spPr/>
        <p:txBody>
          <a:bodyPr/>
          <a:lstStyle/>
          <a:p>
            <a:r>
              <a:rPr lang="en-AU" dirty="0"/>
              <a:t>In</a:t>
            </a:r>
            <a:r>
              <a:rPr lang="en-AU" baseline="0" dirty="0"/>
              <a:t> todays age of Big Data; the volume, variety and many sources of information has lead to increasing numbers of information siloes, many of which remain ungoverned. This can cause a range of issues particularly in relation to an organizations ability to;</a:t>
            </a:r>
          </a:p>
          <a:p>
            <a:pPr marL="171450" indent="-171450">
              <a:buFont typeface="Arial" panose="020B0604020202020204" pitchFamily="34" charset="0"/>
              <a:buChar char="•"/>
            </a:pPr>
            <a:r>
              <a:rPr lang="en-AU" baseline="0" dirty="0"/>
              <a:t>Find the right information at the right time</a:t>
            </a:r>
          </a:p>
          <a:p>
            <a:pPr marL="171450" indent="-171450">
              <a:buFont typeface="Arial" panose="020B0604020202020204" pitchFamily="34" charset="0"/>
              <a:buChar char="•"/>
            </a:pPr>
            <a:r>
              <a:rPr lang="en-AU" baseline="0" dirty="0"/>
              <a:t>Ensure that the right people have access to it</a:t>
            </a:r>
          </a:p>
          <a:p>
            <a:pPr marL="171450" indent="-171450">
              <a:buFont typeface="Arial" panose="020B0604020202020204" pitchFamily="34" charset="0"/>
              <a:buChar char="•"/>
            </a:pPr>
            <a:r>
              <a:rPr lang="en-AU" baseline="0" dirty="0"/>
              <a:t>Retain information according to its business value and regulatory requirements. </a:t>
            </a:r>
          </a:p>
          <a:p>
            <a:pPr marL="171450" indent="-171450">
              <a:buFont typeface="Arial" panose="020B0604020202020204" pitchFamily="34" charset="0"/>
              <a:buChar char="•"/>
            </a:pPr>
            <a:r>
              <a:rPr lang="en-AU" baseline="0" dirty="0"/>
              <a:t>And reduce operational costs in doing so.</a:t>
            </a:r>
            <a:endParaRPr lang="en-AU" dirty="0"/>
          </a:p>
        </p:txBody>
      </p:sp>
      <p:sp>
        <p:nvSpPr>
          <p:cNvPr id="4" name="Slide Number Placeholder 3"/>
          <p:cNvSpPr>
            <a:spLocks noGrp="1"/>
          </p:cNvSpPr>
          <p:nvPr>
            <p:ph type="sldNum" sz="quarter" idx="10"/>
          </p:nvPr>
        </p:nvSpPr>
        <p:spPr>
          <a:xfrm>
            <a:off x="6481667" y="9365005"/>
            <a:ext cx="673420" cy="244736"/>
          </a:xfrm>
          <a:prstGeom prst="rect">
            <a:avLst/>
          </a:prstGeom>
        </p:spPr>
        <p:txBody>
          <a:bodyPr/>
          <a:lstStyle/>
          <a:p>
            <a:fld id="{EB28D33E-CF53-459E-97F0-DC6DCDA89D11}" type="slidenum">
              <a:rPr lang="en-US">
                <a:solidFill>
                  <a:prstClr val="black"/>
                </a:solidFill>
                <a:latin typeface="Arial" panose="020B0604020202020204"/>
              </a:rPr>
              <a:pPr/>
              <a:t>4</a:t>
            </a:fld>
            <a:endParaRPr lang="en-US">
              <a:solidFill>
                <a:prstClr val="black"/>
              </a:solidFill>
              <a:latin typeface="Arial" panose="020B0604020202020204"/>
            </a:endParaRPr>
          </a:p>
        </p:txBody>
      </p:sp>
    </p:spTree>
    <p:extLst>
      <p:ext uri="{BB962C8B-B14F-4D97-AF65-F5344CB8AC3E}">
        <p14:creationId xmlns:p14="http://schemas.microsoft.com/office/powerpoint/2010/main" val="953206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lnSpcReduction="10000"/>
          </a:bodyPr>
          <a:lstStyle/>
          <a:p>
            <a:pPr marL="0" marR="0" lvl="0" indent="0" algn="l" defTabSz="913981" rtl="0" eaLnBrk="1" fontAlgn="auto" latinLnBrk="0" hangingPunct="1">
              <a:lnSpc>
                <a:spcPct val="100000"/>
              </a:lnSpc>
              <a:spcBef>
                <a:spcPts val="600"/>
              </a:spcBef>
              <a:spcAft>
                <a:spcPts val="0"/>
              </a:spcAft>
              <a:buClrTx/>
              <a:buSzTx/>
              <a:buFontTx/>
              <a:buNone/>
              <a:tabLst/>
              <a:defRPr/>
            </a:pPr>
            <a:r>
              <a:rPr lang="en-US" baseline="0" dirty="0"/>
              <a:t>In addition to the trends described in the previous slide, businesses are</a:t>
            </a:r>
            <a:r>
              <a:rPr lang="en-US" dirty="0"/>
              <a:t> looking for a unified approach to managing content. There are five primary trends</a:t>
            </a:r>
            <a:r>
              <a:rPr lang="en-US" baseline="0" dirty="0"/>
              <a:t> influencing information governance and content management practices globally. </a:t>
            </a:r>
            <a:endParaRPr lang="en-US" dirty="0"/>
          </a:p>
          <a:p>
            <a:r>
              <a:rPr lang="en-AU" dirty="0"/>
              <a:t>&lt;Click&gt;</a:t>
            </a:r>
            <a:endParaRPr lang="en-US" dirty="0"/>
          </a:p>
          <a:p>
            <a:r>
              <a:rPr lang="en-US" b="1" dirty="0"/>
              <a:t>The first trend is Evolving customer services</a:t>
            </a:r>
          </a:p>
          <a:p>
            <a:r>
              <a:rPr lang="en-US" dirty="0"/>
              <a:t>Business is increasingly</a:t>
            </a:r>
            <a:r>
              <a:rPr lang="en-US" baseline="0" dirty="0"/>
              <a:t> under pressure to evolve customer services and move away from traditional f2f delivery. Typically customer service revolves around information and people wanting access to it around the clock. They want to be able to find accurate and relevant information easily and quickly or be able to submit a request or renewal online. </a:t>
            </a:r>
          </a:p>
          <a:p>
            <a:r>
              <a:rPr lang="en-AU" baseline="0" dirty="0"/>
              <a:t>&lt;Click&gt;</a:t>
            </a:r>
            <a:endParaRPr lang="en-US" baseline="0" dirty="0"/>
          </a:p>
          <a:p>
            <a:r>
              <a:rPr lang="en-US" b="1" dirty="0"/>
              <a:t>The 2nd is the Digital transition</a:t>
            </a:r>
          </a:p>
          <a:p>
            <a:r>
              <a:rPr lang="en-US" dirty="0"/>
              <a:t>Many organizations</a:t>
            </a:r>
            <a:r>
              <a:rPr lang="en-US" baseline="0" dirty="0"/>
              <a:t> have been paper heavy when managing contracts and records. The time spent retrieving and accessing this information is not acceptable with today’s service level expectations. There is recognition of the benefits digital can bring through automation, faster and flexible access and streamlined processes. Many are transitioning to a “born digital manage digital” approach. </a:t>
            </a:r>
          </a:p>
          <a:p>
            <a:r>
              <a:rPr lang="en-AU" sz="1100" b="0" i="0" u="none" strike="noStrike" kern="1200" baseline="0" dirty="0">
                <a:solidFill>
                  <a:schemeClr val="tx1"/>
                </a:solidFill>
                <a:latin typeface="+mn-lt"/>
                <a:ea typeface="+mn-ea"/>
                <a:cs typeface="+mn-cs"/>
              </a:rPr>
              <a:t>&lt;Click&gt;</a:t>
            </a:r>
            <a:endParaRPr lang="en-US" sz="1100" b="0" i="0" u="none" strike="noStrike" kern="1200" baseline="0" dirty="0">
              <a:solidFill>
                <a:schemeClr val="tx1"/>
              </a:solidFill>
              <a:latin typeface="+mn-lt"/>
              <a:ea typeface="+mn-ea"/>
              <a:cs typeface="+mn-cs"/>
            </a:endParaRPr>
          </a:p>
          <a:p>
            <a:r>
              <a:rPr lang="en-US" sz="1100" b="1" i="0" u="none" strike="noStrike" kern="1200" baseline="0" dirty="0">
                <a:solidFill>
                  <a:schemeClr val="tx1"/>
                </a:solidFill>
                <a:latin typeface="+mn-lt"/>
                <a:ea typeface="+mn-ea"/>
                <a:cs typeface="+mn-cs"/>
              </a:rPr>
              <a:t>3</a:t>
            </a:r>
            <a:r>
              <a:rPr lang="en-US" sz="1100" b="1" i="0" u="none" strike="noStrike" kern="1200" baseline="30000" dirty="0">
                <a:solidFill>
                  <a:schemeClr val="tx1"/>
                </a:solidFill>
                <a:latin typeface="+mn-lt"/>
                <a:ea typeface="+mn-ea"/>
                <a:cs typeface="+mn-cs"/>
              </a:rPr>
              <a:t>rd</a:t>
            </a:r>
            <a:r>
              <a:rPr lang="en-US" sz="1100" b="1" i="0" u="none" strike="noStrike" kern="1200" baseline="0" dirty="0">
                <a:solidFill>
                  <a:schemeClr val="tx1"/>
                </a:solidFill>
                <a:latin typeface="+mn-lt"/>
                <a:ea typeface="+mn-ea"/>
                <a:cs typeface="+mn-cs"/>
              </a:rPr>
              <a:t> is Mobility</a:t>
            </a:r>
          </a:p>
          <a:p>
            <a:r>
              <a:rPr lang="en-US" sz="1100" b="0" i="0" u="none" strike="noStrike" kern="1200" baseline="0" dirty="0">
                <a:solidFill>
                  <a:schemeClr val="tx1"/>
                </a:solidFill>
                <a:latin typeface="+mn-lt"/>
                <a:ea typeface="+mn-ea"/>
                <a:cs typeface="+mn-cs"/>
              </a:rPr>
              <a:t>Driven by the BYOD phenomenon there is an expectation of being able to access business content anywhere at any time, whether this is for office bound employees or field workers. Mobile access has to support the organization’s security and privacy requirements to ensure content is accessed only by authorized staff.</a:t>
            </a:r>
          </a:p>
          <a:p>
            <a:r>
              <a:rPr lang="en-AU" sz="1100" b="0" i="0" u="none" strike="noStrike" kern="1200" baseline="0" dirty="0">
                <a:solidFill>
                  <a:schemeClr val="tx1"/>
                </a:solidFill>
                <a:latin typeface="+mn-lt"/>
                <a:ea typeface="+mn-ea"/>
                <a:cs typeface="+mn-cs"/>
              </a:rPr>
              <a:t>&lt;Click&gt;</a:t>
            </a:r>
            <a:endParaRPr lang="en-US" sz="1100" b="0" i="0" u="none" strike="noStrike" kern="1200" baseline="0" dirty="0">
              <a:solidFill>
                <a:schemeClr val="tx1"/>
              </a:solidFill>
              <a:latin typeface="+mn-lt"/>
              <a:ea typeface="+mn-ea"/>
              <a:cs typeface="+mn-cs"/>
            </a:endParaRPr>
          </a:p>
          <a:p>
            <a:r>
              <a:rPr lang="en-US" sz="1100" b="1" i="0" u="none" strike="noStrike" kern="1200" baseline="0" dirty="0">
                <a:solidFill>
                  <a:schemeClr val="tx1"/>
                </a:solidFill>
                <a:latin typeface="+mn-lt"/>
                <a:ea typeface="+mn-ea"/>
                <a:cs typeface="+mn-cs"/>
              </a:rPr>
              <a:t>4</a:t>
            </a:r>
            <a:r>
              <a:rPr lang="en-US" sz="1100" b="1" i="0" u="none" strike="noStrike" kern="1200" baseline="30000" dirty="0">
                <a:solidFill>
                  <a:schemeClr val="tx1"/>
                </a:solidFill>
                <a:latin typeface="+mn-lt"/>
                <a:ea typeface="+mn-ea"/>
                <a:cs typeface="+mn-cs"/>
              </a:rPr>
              <a:t>th</a:t>
            </a:r>
            <a:r>
              <a:rPr lang="en-US" sz="1100" b="1" i="0" u="none" strike="noStrike" kern="1200" baseline="0" dirty="0">
                <a:solidFill>
                  <a:schemeClr val="tx1"/>
                </a:solidFill>
                <a:latin typeface="+mn-lt"/>
                <a:ea typeface="+mn-ea"/>
                <a:cs typeface="+mn-cs"/>
              </a:rPr>
              <a:t> trend is Cloud adoption</a:t>
            </a:r>
          </a:p>
          <a:p>
            <a:r>
              <a:rPr lang="en-US" sz="1100" b="0" i="0" u="none" strike="noStrike" kern="1200" baseline="0" dirty="0">
                <a:solidFill>
                  <a:schemeClr val="tx1"/>
                </a:solidFill>
                <a:latin typeface="+mn-lt"/>
                <a:ea typeface="+mn-ea"/>
                <a:cs typeface="+mn-cs"/>
              </a:rPr>
              <a:t>Adoption of Cloud based solutions continues to rise as organizations look to reduce costs and increase the flexibility, agility and scalability of business systems. The management of business content and records in hosted solutions still presents some concerns in relation to data sovereignty and security. Many organizations look to either a private or hybrid cloud solution for managing their critical content to ensure they maintain control and security over this valuable information.</a:t>
            </a:r>
          </a:p>
          <a:p>
            <a:r>
              <a:rPr lang="en-AU" baseline="0" dirty="0"/>
              <a:t>&lt;Click&gt;</a:t>
            </a:r>
            <a:endParaRPr lang="en-US" baseline="0" dirty="0"/>
          </a:p>
          <a:p>
            <a:r>
              <a:rPr lang="en-US" b="1" baseline="0" dirty="0"/>
              <a:t>The 5th is Global Transparency</a:t>
            </a:r>
          </a:p>
          <a:p>
            <a:r>
              <a:rPr lang="en-US" baseline="0" dirty="0"/>
              <a:t>There is a move globally to ensure governments and business conduct their activities more transparently to protect privacy and security of personal data. Ensuring your information is secured and managed according to regulations will make it easier to publish the right information and lockdown that which is sensitive and confidential. The ability to satisfy the requirements of the privacy and data protection acts gives people more confidence in dealing with your organization.</a:t>
            </a:r>
          </a:p>
          <a:p>
            <a:endParaRPr lang="en-US" sz="1100" b="0" i="0" u="none" strike="noStrike"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5</a:t>
            </a:fld>
            <a:endParaRPr lang="en-US">
              <a:solidFill>
                <a:prstClr val="black"/>
              </a:solidFill>
              <a:latin typeface="Arial" panose="020B0604020202020204"/>
            </a:endParaRPr>
          </a:p>
        </p:txBody>
      </p:sp>
    </p:spTree>
    <p:extLst>
      <p:ext uri="{BB962C8B-B14F-4D97-AF65-F5344CB8AC3E}">
        <p14:creationId xmlns:p14="http://schemas.microsoft.com/office/powerpoint/2010/main" val="39558078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90000"/>
              </a:lnSpc>
              <a:spcBef>
                <a:spcPts val="0"/>
              </a:spcBef>
              <a:spcAft>
                <a:spcPts val="0"/>
              </a:spcAft>
              <a:buClrTx/>
              <a:buSzTx/>
              <a:buFontTx/>
              <a:buNone/>
              <a:tabLst/>
              <a:defRPr/>
            </a:pPr>
            <a:r>
              <a:rPr lang="en-GB" sz="1000" dirty="0"/>
              <a:t>Let’s take a look at the how these trends</a:t>
            </a:r>
            <a:r>
              <a:rPr lang="en-GB" sz="1000" baseline="0" dirty="0"/>
              <a:t> relate to customer </a:t>
            </a:r>
            <a:r>
              <a:rPr lang="en-GB" sz="1000" dirty="0"/>
              <a:t>challenges</a:t>
            </a:r>
            <a:r>
              <a:rPr lang="en-GB" sz="1000" baseline="0" dirty="0"/>
              <a:t>.</a:t>
            </a:r>
            <a:endParaRPr lang="en-US" dirty="0"/>
          </a:p>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6</a:t>
            </a:fld>
            <a:endParaRPr lang="en-US"/>
          </a:p>
        </p:txBody>
      </p:sp>
    </p:spTree>
    <p:extLst>
      <p:ext uri="{BB962C8B-B14F-4D97-AF65-F5344CB8AC3E}">
        <p14:creationId xmlns:p14="http://schemas.microsoft.com/office/powerpoint/2010/main" val="2904734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r>
              <a:rPr lang="en-AU" sz="1000" dirty="0">
                <a:solidFill>
                  <a:schemeClr val="tx2"/>
                </a:solidFill>
              </a:rPr>
              <a:t>Traditionally</a:t>
            </a:r>
            <a:r>
              <a:rPr lang="en-AU" sz="1000" baseline="0" dirty="0">
                <a:solidFill>
                  <a:schemeClr val="tx2"/>
                </a:solidFill>
              </a:rPr>
              <a:t> ECM focused on business process and collaboration however with increasing global regulations and privacy concerns these need to be balanced with information security and regulatory compliance across the information lifecycle.</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endParaRPr lang="en-AU" sz="1000" baseline="0" dirty="0">
              <a:solidFill>
                <a:schemeClr val="tx2"/>
              </a:solidFill>
            </a:endParaRP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r>
              <a:rPr lang="en-AU" sz="1000" baseline="0" dirty="0">
                <a:solidFill>
                  <a:schemeClr val="tx2"/>
                </a:solidFill>
              </a:rPr>
              <a:t>Organizations are looking at ECM systems to help them;</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Enhance customer focus by having accurate, relevant and contextual information, </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Improve time to market with greater insight and increased efficiency, </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Increase productivity with automation and workflow tools</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Manage the cost of business systems and staff, by integrating where possible and removing time consuming manual tasks, and</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Ensure information is secure and privacy maintained according to regulation and policy</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endParaRPr lang="en-AU" sz="1000" baseline="0" dirty="0">
              <a:solidFill>
                <a:schemeClr val="tx2"/>
              </a:solidFill>
            </a:endParaRPr>
          </a:p>
          <a:p>
            <a:pPr marL="9144" marR="0" indent="0" algn="l" defTabSz="914400" rtl="0" eaLnBrk="1" fontAlgn="auto" latinLnBrk="0" hangingPunct="1">
              <a:lnSpc>
                <a:spcPct val="100000"/>
              </a:lnSpc>
              <a:spcBef>
                <a:spcPts val="600"/>
              </a:spcBef>
              <a:spcAft>
                <a:spcPts val="0"/>
              </a:spcAft>
              <a:buClrTx/>
              <a:buSzPct val="25000"/>
              <a:buFont typeface="Arial" panose="020B0604020202020204" pitchFamily="34" charset="0"/>
              <a:buNone/>
              <a:tabLst/>
              <a:defRPr/>
            </a:pPr>
            <a:r>
              <a:rPr lang="en-AU" sz="1000" baseline="0" dirty="0">
                <a:solidFill>
                  <a:schemeClr val="tx2"/>
                </a:solidFill>
              </a:rPr>
              <a:t>&lt;Click&gt; </a:t>
            </a:r>
            <a:r>
              <a:rPr lang="en-US" dirty="0"/>
              <a:t>Organizations are undergoing varying degrees of enterprise transformation in order</a:t>
            </a:r>
            <a:r>
              <a:rPr lang="en-US" baseline="0" dirty="0"/>
              <a:t> to better manage and leverage their business information. </a:t>
            </a:r>
            <a:r>
              <a:rPr lang="en-US" dirty="0"/>
              <a:t>Policy-driven management of enterprise content</a:t>
            </a:r>
            <a:r>
              <a:rPr lang="en-US" baseline="0" dirty="0"/>
              <a:t> is the key.</a:t>
            </a:r>
            <a:endParaRPr lang="en-US" dirty="0"/>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endParaRPr lang="en-AU" sz="1000" baseline="0" dirty="0">
              <a:solidFill>
                <a:schemeClr val="tx2"/>
              </a:solidFill>
            </a:endParaRPr>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7</a:t>
            </a:fld>
            <a:endParaRPr lang="en-US">
              <a:solidFill>
                <a:prstClr val="black"/>
              </a:solidFill>
              <a:latin typeface="Arial" panose="020B0604020202020204"/>
            </a:endParaRPr>
          </a:p>
        </p:txBody>
      </p:sp>
    </p:spTree>
    <p:extLst>
      <p:ext uri="{BB962C8B-B14F-4D97-AF65-F5344CB8AC3E}">
        <p14:creationId xmlns:p14="http://schemas.microsoft.com/office/powerpoint/2010/main" val="1815396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r>
              <a:rPr lang="en-AU" dirty="0"/>
              <a:t>So what are organizations trying to achieve with an </a:t>
            </a:r>
            <a:r>
              <a:rPr lang="en-AU" baseline="0" dirty="0"/>
              <a:t>enterprise content management system or information governance program?</a:t>
            </a:r>
          </a:p>
          <a:p>
            <a:endParaRPr lang="en-AU" baseline="0" dirty="0"/>
          </a:p>
          <a:p>
            <a:r>
              <a:rPr lang="en-AU" baseline="0" dirty="0"/>
              <a:t>They are looking to:</a:t>
            </a:r>
          </a:p>
          <a:p>
            <a:endParaRPr lang="en-AU" baseline="0" dirty="0"/>
          </a:p>
          <a:p>
            <a:r>
              <a:rPr lang="en-AU" baseline="0" dirty="0"/>
              <a:t>Streamline system and administration flow</a:t>
            </a:r>
          </a:p>
          <a:p>
            <a:r>
              <a:rPr lang="en-AU" baseline="0" dirty="0"/>
              <a:t>Improve information management and compliance sharing</a:t>
            </a:r>
          </a:p>
          <a:p>
            <a:r>
              <a:rPr lang="en-AU" baseline="0" dirty="0"/>
              <a:t>Reduce data migration and change management while mitigating risk</a:t>
            </a:r>
          </a:p>
          <a:p>
            <a:r>
              <a:rPr lang="en-AU" baseline="0" dirty="0"/>
              <a:t>Simplify legal defensible retention management</a:t>
            </a:r>
          </a:p>
          <a:p>
            <a:r>
              <a:rPr lang="en-AU" baseline="0" dirty="0"/>
              <a:t>Get SharePoint under control</a:t>
            </a:r>
          </a:p>
          <a:p>
            <a:r>
              <a:rPr lang="en-AU" baseline="0" dirty="0"/>
              <a:t>Reduce the cost and complexity to archive SAP applications and content</a:t>
            </a:r>
          </a:p>
          <a:p>
            <a:r>
              <a:rPr lang="en-AU" baseline="0" dirty="0"/>
              <a:t>Enable their mobile workforce</a:t>
            </a:r>
          </a:p>
          <a:p>
            <a:r>
              <a:rPr lang="en-AU" baseline="0" dirty="0"/>
              <a:t>Improve information find-ability</a:t>
            </a:r>
          </a:p>
          <a:p>
            <a:r>
              <a:rPr lang="en-AU" baseline="0" dirty="0"/>
              <a:t>Securely manage content in a hybrid environment</a:t>
            </a: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8</a:t>
            </a:fld>
            <a:endParaRPr lang="en-US">
              <a:solidFill>
                <a:prstClr val="black"/>
              </a:solidFill>
              <a:latin typeface="Arial" panose="020B0604020202020204"/>
            </a:endParaRPr>
          </a:p>
        </p:txBody>
      </p:sp>
    </p:spTree>
    <p:extLst>
      <p:ext uri="{BB962C8B-B14F-4D97-AF65-F5344CB8AC3E}">
        <p14:creationId xmlns:p14="http://schemas.microsoft.com/office/powerpoint/2010/main" val="564570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r>
              <a:rPr lang="en-GB" baseline="0" dirty="0"/>
              <a:t>There are three key roles to target each with their own driver.</a:t>
            </a:r>
          </a:p>
          <a:p>
            <a:endParaRPr lang="en-GB" baseline="0" dirty="0"/>
          </a:p>
          <a:p>
            <a:r>
              <a:rPr lang="en-GB" baseline="0" dirty="0"/>
              <a:t>The Director of Information Services or Records Management. They </a:t>
            </a:r>
            <a:r>
              <a:rPr lang="en-US" sz="1000" kern="1200" dirty="0">
                <a:solidFill>
                  <a:srgbClr val="FF0000"/>
                </a:solidFill>
                <a:effectLst/>
                <a:latin typeface="+mn-lt"/>
                <a:ea typeface="+mn-ea"/>
                <a:cs typeface="+mn-cs"/>
              </a:rPr>
              <a:t>are responsible for managing the information within the organization making sure it is appropriately secured, retained and disposed of when appropriate. The Records Manager works in conjunction with CCO / CLO to </a:t>
            </a:r>
            <a:r>
              <a:rPr lang="en-US" sz="1000" u="sng" kern="1200" dirty="0">
                <a:solidFill>
                  <a:srgbClr val="FF0000"/>
                </a:solidFill>
                <a:effectLst/>
                <a:latin typeface="+mn-lt"/>
                <a:ea typeface="+mn-ea"/>
                <a:cs typeface="+mn-cs"/>
              </a:rPr>
              <a:t>define</a:t>
            </a:r>
            <a:r>
              <a:rPr lang="en-US" sz="1000" kern="1200" dirty="0">
                <a:solidFill>
                  <a:srgbClr val="FF0000"/>
                </a:solidFill>
                <a:effectLst/>
                <a:latin typeface="+mn-lt"/>
                <a:ea typeface="+mn-ea"/>
                <a:cs typeface="+mn-cs"/>
              </a:rPr>
              <a:t> the policies, and in large organizations, they will typically be a team of RM administrators that implement them.</a:t>
            </a:r>
            <a:endParaRPr lang="en-GB" baseline="0" dirty="0"/>
          </a:p>
          <a:p>
            <a:r>
              <a:rPr lang="en-GB" baseline="0" dirty="0"/>
              <a:t>The Chief Compliance Officer/Chief Legal Officer and General Council. </a:t>
            </a:r>
            <a:r>
              <a:rPr lang="en-US" sz="1000" kern="1200" dirty="0">
                <a:solidFill>
                  <a:srgbClr val="FF0000"/>
                </a:solidFill>
                <a:effectLst/>
                <a:latin typeface="+mn-lt"/>
                <a:ea typeface="+mn-ea"/>
                <a:cs typeface="+mn-cs"/>
              </a:rPr>
              <a:t>They are responsible for Risk Management and Litigation Readiness within the organization. These roles</a:t>
            </a:r>
            <a:r>
              <a:rPr lang="en-US" sz="1000" kern="1200" baseline="0" dirty="0">
                <a:solidFill>
                  <a:srgbClr val="FF0000"/>
                </a:solidFill>
                <a:effectLst/>
                <a:latin typeface="+mn-lt"/>
                <a:ea typeface="+mn-ea"/>
                <a:cs typeface="+mn-cs"/>
              </a:rPr>
              <a:t> </a:t>
            </a:r>
            <a:r>
              <a:rPr lang="en-US" sz="1000" kern="1200" dirty="0">
                <a:solidFill>
                  <a:srgbClr val="FF0000"/>
                </a:solidFill>
                <a:effectLst/>
                <a:latin typeface="+mn-lt"/>
                <a:ea typeface="+mn-ea"/>
                <a:cs typeface="+mn-cs"/>
              </a:rPr>
              <a:t>ensure information is being governed according to laws / regulations.</a:t>
            </a:r>
            <a:endParaRPr lang="en-GB"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The Chief Information Officer is concerned about IT Optimization and Productivity – they are responsible for lowering IT operation costs, accessing information efficiently and controlling the information footprint</a:t>
            </a:r>
          </a:p>
          <a:p>
            <a:endParaRPr lang="en-GB" baseline="0" dirty="0"/>
          </a:p>
          <a:p>
            <a:pPr lvl="0"/>
            <a:r>
              <a:rPr lang="en-US" sz="1000" kern="1200" dirty="0">
                <a:solidFill>
                  <a:srgbClr val="FF0000"/>
                </a:solidFill>
                <a:effectLst/>
                <a:latin typeface="+mn-lt"/>
                <a:ea typeface="+mn-ea"/>
                <a:cs typeface="+mn-cs"/>
              </a:rPr>
              <a:t>The Records Manager can be an ally in opportunities, but they rarely have budget. This typically comes from CCO or CIO – so you need to make sure you aligned with all parties and</a:t>
            </a:r>
            <a:r>
              <a:rPr lang="en-US" sz="1000" kern="1200" baseline="0" dirty="0">
                <a:solidFill>
                  <a:srgbClr val="FF0000"/>
                </a:solidFill>
                <a:effectLst/>
                <a:latin typeface="+mn-lt"/>
                <a:ea typeface="+mn-ea"/>
                <a:cs typeface="+mn-cs"/>
              </a:rPr>
              <a:t> are</a:t>
            </a:r>
            <a:r>
              <a:rPr lang="en-US" sz="1000" kern="1200" dirty="0">
                <a:solidFill>
                  <a:srgbClr val="FF0000"/>
                </a:solidFill>
                <a:effectLst/>
                <a:latin typeface="+mn-lt"/>
                <a:ea typeface="+mn-ea"/>
                <a:cs typeface="+mn-cs"/>
              </a:rPr>
              <a:t> bringing them into the opportunity.</a:t>
            </a: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9</a:t>
            </a:fld>
            <a:endParaRPr lang="en-US">
              <a:solidFill>
                <a:prstClr val="black"/>
              </a:solidFill>
              <a:latin typeface="Arial" panose="020B0604020202020204"/>
            </a:endParaRPr>
          </a:p>
        </p:txBody>
      </p:sp>
    </p:spTree>
    <p:extLst>
      <p:ext uri="{BB962C8B-B14F-4D97-AF65-F5344CB8AC3E}">
        <p14:creationId xmlns:p14="http://schemas.microsoft.com/office/powerpoint/2010/main" val="1738867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10</a:t>
            </a:fld>
            <a:endParaRPr lang="en-US"/>
          </a:p>
        </p:txBody>
      </p:sp>
    </p:spTree>
    <p:extLst>
      <p:ext uri="{BB962C8B-B14F-4D97-AF65-F5344CB8AC3E}">
        <p14:creationId xmlns:p14="http://schemas.microsoft.com/office/powerpoint/2010/main" val="1495817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r>
              <a:rPr lang="en-GB" dirty="0"/>
              <a:t>Our</a:t>
            </a:r>
            <a:r>
              <a:rPr lang="en-GB" baseline="0" dirty="0"/>
              <a:t> top line market position is Policy-based Enterprise Content Management.</a:t>
            </a:r>
          </a:p>
          <a:p>
            <a:endParaRPr lang="en-GB" baseline="0" dirty="0"/>
          </a:p>
          <a:p>
            <a:r>
              <a:rPr lang="en-GB" baseline="0" dirty="0"/>
              <a:t>Content Manager, allows customers to create, manage, retain and consign all enterprise content throughout the information lifecycle. It provides control of content for access, privacy and security and can leverage and enhance other content management systems for compliance and cost control.</a:t>
            </a:r>
          </a:p>
          <a:p>
            <a:endParaRPr lang="en-GB" baseline="0" dirty="0"/>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11</a:t>
            </a:fld>
            <a:endParaRPr lang="en-US">
              <a:solidFill>
                <a:prstClr val="black"/>
              </a:solidFill>
              <a:latin typeface="Arial" panose="020B0604020202020204"/>
            </a:endParaRPr>
          </a:p>
        </p:txBody>
      </p:sp>
    </p:spTree>
    <p:extLst>
      <p:ext uri="{BB962C8B-B14F-4D97-AF65-F5344CB8AC3E}">
        <p14:creationId xmlns:p14="http://schemas.microsoft.com/office/powerpoint/2010/main" val="167145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r>
              <a:rPr lang="en-AU" dirty="0"/>
              <a:t>So what are organizations trying to achieve with an </a:t>
            </a:r>
            <a:r>
              <a:rPr lang="en-AU" baseline="0" dirty="0"/>
              <a:t>enterprise content management system or information governance program?</a:t>
            </a:r>
          </a:p>
          <a:p>
            <a:endParaRPr lang="en-AU" baseline="0" dirty="0"/>
          </a:p>
          <a:p>
            <a:r>
              <a:rPr lang="en-AU" baseline="0" dirty="0"/>
              <a:t>They are looking to:</a:t>
            </a:r>
          </a:p>
          <a:p>
            <a:endParaRPr lang="en-AU" baseline="0" dirty="0"/>
          </a:p>
          <a:p>
            <a:r>
              <a:rPr lang="en-AU" baseline="0" dirty="0"/>
              <a:t>Streamline system and administration flow</a:t>
            </a:r>
          </a:p>
          <a:p>
            <a:r>
              <a:rPr lang="en-AU" baseline="0" dirty="0"/>
              <a:t>Improve information management and compliance sharing</a:t>
            </a:r>
          </a:p>
          <a:p>
            <a:r>
              <a:rPr lang="en-AU" baseline="0" dirty="0"/>
              <a:t>Reduce data migration and change management while mitigating risk</a:t>
            </a:r>
          </a:p>
          <a:p>
            <a:r>
              <a:rPr lang="en-AU" baseline="0" dirty="0"/>
              <a:t>Simplify legal defensible retention management</a:t>
            </a:r>
          </a:p>
          <a:p>
            <a:r>
              <a:rPr lang="en-AU" baseline="0" dirty="0"/>
              <a:t>Get SharePoint under control</a:t>
            </a:r>
          </a:p>
          <a:p>
            <a:r>
              <a:rPr lang="en-AU" baseline="0" dirty="0"/>
              <a:t>Reduce the cost and complexity to archive SAP applications and content</a:t>
            </a:r>
          </a:p>
          <a:p>
            <a:r>
              <a:rPr lang="en-AU" baseline="0" dirty="0"/>
              <a:t>Enable their mobile workforce</a:t>
            </a:r>
          </a:p>
          <a:p>
            <a:r>
              <a:rPr lang="en-AU" baseline="0" dirty="0"/>
              <a:t>Improve information find-ability</a:t>
            </a:r>
          </a:p>
          <a:p>
            <a:r>
              <a:rPr lang="en-AU" baseline="0" dirty="0"/>
              <a:t>Securely manage content in a hybrid environment</a:t>
            </a: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12</a:t>
            </a:fld>
            <a:endParaRPr lang="en-US">
              <a:solidFill>
                <a:prstClr val="black"/>
              </a:solidFill>
              <a:latin typeface="Arial" panose="020B0604020202020204"/>
            </a:endParaRPr>
          </a:p>
        </p:txBody>
      </p:sp>
    </p:spTree>
    <p:extLst>
      <p:ext uri="{BB962C8B-B14F-4D97-AF65-F5344CB8AC3E}">
        <p14:creationId xmlns:p14="http://schemas.microsoft.com/office/powerpoint/2010/main" val="24722651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Earlier in this module we looked at these nine boxes describing what organizations are trying to achieve</a:t>
            </a:r>
            <a:r>
              <a:rPr lang="en-AU" baseline="0" dirty="0"/>
              <a:t> from </a:t>
            </a:r>
            <a:r>
              <a:rPr lang="en-AU" dirty="0"/>
              <a:t>an </a:t>
            </a:r>
            <a:r>
              <a:rPr lang="en-AU" baseline="0" dirty="0"/>
              <a:t>enterprise content management system or information governance program.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With Content Manager they are able to achieve these business outcomes, 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Customers can improve information management, compliance and sharing by automatically declaring and classifying content and applying the relevant security and retention schedules.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Customers can simplify legally defensible retention management by automatically applying policy to business content. Content Manager supports mandates from vertical industries and regional jurisdictions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Customer can leverage use of </a:t>
            </a:r>
            <a:r>
              <a:rPr lang="en-AU" baseline="0" dirty="0" err="1"/>
              <a:t>Sharepoint</a:t>
            </a:r>
            <a:r>
              <a:rPr lang="en-AU" baseline="0" dirty="0"/>
              <a:t> and it’s content without diminishing the collaborative user experience and manage the content according to their  defined rules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Employees have access to managed content on a range of mobile devices, including having access to content based on their GPS location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aseline="0" dirty="0"/>
              <a:t>Customers can become more productive and are able to find the right information at the right time with better find-ability through contextual search.</a:t>
            </a: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13</a:t>
            </a:fld>
            <a:endParaRPr lang="en-US">
              <a:solidFill>
                <a:prstClr val="black"/>
              </a:solidFill>
              <a:latin typeface="Arial" panose="020B0604020202020204"/>
            </a:endParaRPr>
          </a:p>
        </p:txBody>
      </p:sp>
    </p:spTree>
    <p:extLst>
      <p:ext uri="{BB962C8B-B14F-4D97-AF65-F5344CB8AC3E}">
        <p14:creationId xmlns:p14="http://schemas.microsoft.com/office/powerpoint/2010/main" val="42221111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878983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marL="9144" indent="0">
              <a:buNone/>
            </a:pPr>
            <a:r>
              <a:rPr lang="en-AU" baseline="0" dirty="0"/>
              <a:t>Last year we conducted a </a:t>
            </a:r>
            <a:r>
              <a:rPr lang="en-AU" baseline="0" dirty="0" err="1"/>
              <a:t>TEchValidate</a:t>
            </a:r>
            <a:r>
              <a:rPr lang="en-AU" baseline="0" dirty="0"/>
              <a:t> survey with our customers to get a better understanding of how they were using our software and the benefits they were achieving.</a:t>
            </a:r>
          </a:p>
          <a:p>
            <a:endParaRPr lang="en-AU" baseline="0" dirty="0"/>
          </a:p>
          <a:p>
            <a:r>
              <a:rPr lang="en-AU" baseline="0" dirty="0"/>
              <a:t>Customers were asked if they agreed with this statement:</a:t>
            </a:r>
          </a:p>
          <a:p>
            <a:endParaRPr lang="en-AU" baseline="0" dirty="0"/>
          </a:p>
          <a:p>
            <a:r>
              <a:rPr lang="en-AU" sz="1200" i="1" dirty="0">
                <a:solidFill>
                  <a:schemeClr val="bg1"/>
                </a:solidFill>
              </a:rPr>
              <a:t>Content Manager (Records Manager at</a:t>
            </a:r>
            <a:r>
              <a:rPr lang="en-AU" sz="1200" i="1" baseline="0" dirty="0">
                <a:solidFill>
                  <a:schemeClr val="bg1"/>
                </a:solidFill>
              </a:rPr>
              <a:t> that time) </a:t>
            </a:r>
            <a:r>
              <a:rPr lang="en-AU" sz="1200" i="1" dirty="0">
                <a:solidFill>
                  <a:schemeClr val="bg1"/>
                </a:solidFill>
              </a:rPr>
              <a:t> is considered a vital business application within our organization, </a:t>
            </a:r>
            <a:br>
              <a:rPr lang="en-AU" sz="1200" i="1" dirty="0">
                <a:solidFill>
                  <a:schemeClr val="bg1"/>
                </a:solidFill>
              </a:rPr>
            </a:br>
            <a:r>
              <a:rPr lang="en-AU" sz="1200" i="1" dirty="0">
                <a:solidFill>
                  <a:schemeClr val="bg1"/>
                </a:solidFill>
              </a:rPr>
              <a:t>it helps us capture, manage, access and secure business documents and records from creation to disposal</a:t>
            </a:r>
            <a:endParaRPr lang="en-AU" baseline="0" dirty="0"/>
          </a:p>
          <a:p>
            <a:endParaRPr lang="en-AU" baseline="0" dirty="0"/>
          </a:p>
          <a:p>
            <a:r>
              <a:rPr lang="en-AU" baseline="0" dirty="0"/>
              <a:t>87% of customers agreed with this statement and from various industries and sizes.</a:t>
            </a:r>
            <a:endParaRPr lang="en-US" dirty="0"/>
          </a:p>
          <a:p>
            <a:pPr marL="9144" indent="0">
              <a:buNone/>
            </a:pPr>
            <a:endParaRPr lang="en-AU" dirty="0"/>
          </a:p>
          <a:p>
            <a:pPr marL="9144" indent="0">
              <a:buNone/>
            </a:pPr>
            <a:endParaRPr lang="en-AU"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MetricHPE"/>
              </a:rPr>
              <a:pPr/>
              <a:t>15</a:t>
            </a:fld>
            <a:endParaRPr lang="en-US">
              <a:solidFill>
                <a:prstClr val="black"/>
              </a:solidFill>
              <a:latin typeface="MetricHPE"/>
            </a:endParaRPr>
          </a:p>
        </p:txBody>
      </p:sp>
    </p:spTree>
    <p:extLst>
      <p:ext uri="{BB962C8B-B14F-4D97-AF65-F5344CB8AC3E}">
        <p14:creationId xmlns:p14="http://schemas.microsoft.com/office/powerpoint/2010/main" val="42869218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algn="l"/>
            <a:r>
              <a:rPr lang="en-AU" dirty="0"/>
              <a:t>We then went on to determine how many of the respondents realized</a:t>
            </a:r>
            <a:r>
              <a:rPr lang="en-AU" baseline="0" dirty="0"/>
              <a:t> specific benefits and the percentage improvement they found across a range of metrics.</a:t>
            </a:r>
          </a:p>
          <a:p>
            <a:pPr algn="l"/>
            <a:endParaRPr lang="en-AU" baseline="0" dirty="0"/>
          </a:p>
          <a:p>
            <a:pPr algn="l"/>
            <a:r>
              <a:rPr lang="en-AU" baseline="0" dirty="0"/>
              <a:t>As these results show Content Manager – a significant component of SCM has delivered significant improvements for many of our customers across a range of areas including productivity, customer service, information security and regulatory compliance. </a:t>
            </a:r>
          </a:p>
          <a:p>
            <a:pPr algn="l"/>
            <a:endParaRPr lang="en-AU" baseline="0" dirty="0"/>
          </a:p>
          <a:p>
            <a:pPr algn="l">
              <a:lnSpc>
                <a:spcPct val="90000"/>
              </a:lnSpc>
            </a:pPr>
            <a:endParaRPr lang="en-US" sz="1200" b="1" dirty="0">
              <a:solidFill>
                <a:schemeClr val="tx1"/>
              </a:solidFill>
            </a:endParaRPr>
          </a:p>
          <a:p>
            <a:pPr algn="ctr">
              <a:lnSpc>
                <a:spcPct val="90000"/>
              </a:lnSpc>
            </a:pPr>
            <a:endParaRPr lang="en-US" sz="1200" b="1" dirty="0">
              <a:solidFill>
                <a:schemeClr val="tx1"/>
              </a:solidFill>
            </a:endParaRPr>
          </a:p>
          <a:p>
            <a:pPr algn="l"/>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414C182C-5E03-4F4D-914A-159A4478F469}" type="slidenum">
              <a:rPr lang="en-US" smtClean="0">
                <a:solidFill>
                  <a:prstClr val="black"/>
                </a:solidFill>
                <a:latin typeface="MetricHPE"/>
              </a:rPr>
              <a:pPr/>
              <a:t>16</a:t>
            </a:fld>
            <a:endParaRPr lang="en-US">
              <a:solidFill>
                <a:prstClr val="black"/>
              </a:solidFill>
              <a:latin typeface="MetricHPE"/>
            </a:endParaRPr>
          </a:p>
        </p:txBody>
      </p:sp>
    </p:spTree>
    <p:extLst>
      <p:ext uri="{BB962C8B-B14F-4D97-AF65-F5344CB8AC3E}">
        <p14:creationId xmlns:p14="http://schemas.microsoft.com/office/powerpoint/2010/main" val="3273177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8868728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5815789" y="9431814"/>
            <a:ext cx="604238" cy="246483"/>
          </a:xfrm>
          <a:prstGeom prst="rect">
            <a:avLst/>
          </a:prstGeom>
        </p:spPr>
        <p:txBody>
          <a:bodyPr/>
          <a:lstStyle/>
          <a:p>
            <a:fld id="{8547E1EE-0039-4797-B978-F453418260D1}" type="slidenum">
              <a:rPr lang="en-US" smtClean="0">
                <a:solidFill>
                  <a:prstClr val="black"/>
                </a:solidFill>
                <a:latin typeface="Arial"/>
              </a:rPr>
              <a:pPr/>
              <a:t>18</a:t>
            </a:fld>
            <a:endParaRPr lang="en-US">
              <a:solidFill>
                <a:prstClr val="black"/>
              </a:solidFill>
              <a:latin typeface="Arial"/>
            </a:endParaRPr>
          </a:p>
        </p:txBody>
      </p:sp>
      <p:sp>
        <p:nvSpPr>
          <p:cNvPr id="6" name="Slide Image Placeholder 5"/>
          <p:cNvSpPr>
            <a:spLocks noGrp="1" noRot="1" noChangeAspect="1"/>
          </p:cNvSpPr>
          <p:nvPr>
            <p:ph type="sldImg"/>
          </p:nvPr>
        </p:nvSpPr>
        <p:spPr>
          <a:xfrm>
            <a:off x="161925" y="414338"/>
            <a:ext cx="4964113" cy="2794000"/>
          </a:xfrm>
        </p:spPr>
      </p:sp>
      <p:sp>
        <p:nvSpPr>
          <p:cNvPr id="7" name="Notes Placeholder 6"/>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u="sng" kern="1200" dirty="0">
              <a:solidFill>
                <a:schemeClr val="tx1"/>
              </a:solidFill>
              <a:effectLst/>
              <a:latin typeface="+mn-lt"/>
              <a:ea typeface="+mn-ea"/>
              <a:cs typeface="+mn-cs"/>
            </a:endParaRPr>
          </a:p>
          <a:p>
            <a:pPr marL="0" indent="0">
              <a:lnSpc>
                <a:spcPct val="100000"/>
              </a:lnSpc>
              <a:spcBef>
                <a:spcPts val="0"/>
              </a:spcBef>
              <a:spcAft>
                <a:spcPts val="0"/>
              </a:spcAft>
              <a:buNone/>
            </a:pPr>
            <a:r>
              <a:rPr lang="en-US" sz="1200" b="1" dirty="0"/>
              <a:t>COMPANY: </a:t>
            </a:r>
            <a:r>
              <a:rPr lang="en-US" sz="1200" kern="1200" dirty="0">
                <a:solidFill>
                  <a:schemeClr val="tx1"/>
                </a:solidFill>
                <a:effectLst/>
                <a:latin typeface="+mn-lt"/>
                <a:ea typeface="+mn-ea"/>
                <a:cs typeface="+mn-cs"/>
              </a:rPr>
              <a:t>NAMIC Insurance Company (NAMICO) is unique in the insurance industry</a:t>
            </a:r>
            <a:r>
              <a:rPr lang="en-US" sz="1200" kern="1200" baseline="0" dirty="0">
                <a:solidFill>
                  <a:schemeClr val="tx1"/>
                </a:solidFill>
                <a:effectLst/>
                <a:latin typeface="+mn-lt"/>
                <a:ea typeface="+mn-ea"/>
                <a:cs typeface="+mn-cs"/>
              </a:rPr>
              <a:t> that p</a:t>
            </a:r>
            <a:r>
              <a:rPr lang="en-US" sz="1200" kern="1200" dirty="0">
                <a:solidFill>
                  <a:schemeClr val="tx1"/>
                </a:solidFill>
                <a:effectLst/>
                <a:latin typeface="+mn-lt"/>
                <a:ea typeface="+mn-ea"/>
                <a:cs typeface="+mn-cs"/>
              </a:rPr>
              <a:t>rovides professional liability insurance to association members. NAMICO, in other words, insures the insurers. </a:t>
            </a:r>
            <a:r>
              <a:rPr lang="en-US" dirty="0"/>
              <a:t>. NAMICO manages the IT infrastructure on behalf of another subsidiary, and must be separate its own internal workflows from the other company's.</a:t>
            </a:r>
            <a:endParaRPr lang="en-US" sz="1200" kern="1200" dirty="0">
              <a:solidFill>
                <a:schemeClr val="tx1"/>
              </a:solidFill>
              <a:effectLst/>
              <a:latin typeface="+mn-lt"/>
              <a:ea typeface="+mn-ea"/>
              <a:cs typeface="+mn-cs"/>
            </a:endParaRPr>
          </a:p>
          <a:p>
            <a:pPr marL="0" indent="0">
              <a:lnSpc>
                <a:spcPct val="100000"/>
              </a:lnSpc>
              <a:spcBef>
                <a:spcPts val="0"/>
              </a:spcBef>
              <a:spcAft>
                <a:spcPts val="0"/>
              </a:spcAft>
              <a:buNone/>
            </a:pPr>
            <a:endParaRPr lang="en-GB" sz="1200" kern="1200" dirty="0">
              <a:solidFill>
                <a:schemeClr val="tx1"/>
              </a:solidFill>
              <a:effectLst/>
              <a:latin typeface="+mn-lt"/>
              <a:ea typeface="+mn-ea"/>
              <a:cs typeface="+mn-cs"/>
            </a:endParaRPr>
          </a:p>
          <a:p>
            <a:pPr marL="0" indent="0">
              <a:lnSpc>
                <a:spcPct val="100000"/>
              </a:lnSpc>
              <a:spcBef>
                <a:spcPts val="0"/>
              </a:spcBef>
              <a:spcAft>
                <a:spcPts val="0"/>
              </a:spcAft>
              <a:buNone/>
            </a:pPr>
            <a:r>
              <a:rPr lang="en-US" dirty="0"/>
              <a:t>Documents are a fundamental component of all of NAMICO’s business-critical processes, from writing quotes, to issuing policies, to adjudicating claims. It must therefore manage its document processes effectively in order to maximize operational efficiency, maintain regulatory compliance and satisfy its clients’ needs. </a:t>
            </a:r>
            <a:endParaRPr lang="en-US" sz="1200" kern="1200" dirty="0">
              <a:solidFill>
                <a:schemeClr val="tx1"/>
              </a:solidFill>
              <a:effectLst/>
              <a:latin typeface="+mn-lt"/>
              <a:ea typeface="+mn-ea"/>
              <a:cs typeface="+mn-cs"/>
            </a:endParaRPr>
          </a:p>
          <a:p>
            <a:pPr marL="0" indent="0">
              <a:lnSpc>
                <a:spcPct val="100000"/>
              </a:lnSpc>
              <a:spcBef>
                <a:spcPts val="0"/>
              </a:spcBef>
              <a:spcAft>
                <a:spcPts val="0"/>
              </a:spcAft>
              <a:buNone/>
            </a:pPr>
            <a:r>
              <a:rPr lang="en-US" sz="1200" b="1" dirty="0"/>
              <a:t>SOLUTION: </a:t>
            </a:r>
            <a:r>
              <a:rPr lang="en-US" sz="1200" kern="1200" dirty="0">
                <a:solidFill>
                  <a:schemeClr val="tx1"/>
                </a:solidFill>
                <a:effectLst/>
                <a:latin typeface="+mn-lt"/>
                <a:ea typeface="+mn-ea"/>
                <a:cs typeface="+mn-cs"/>
              </a:rPr>
              <a:t>Content Manager, Information</a:t>
            </a:r>
            <a:r>
              <a:rPr lang="en-US" sz="1200" kern="1200" baseline="0" dirty="0">
                <a:solidFill>
                  <a:schemeClr val="tx1"/>
                </a:solidFill>
                <a:effectLst/>
                <a:latin typeface="+mn-lt"/>
                <a:ea typeface="+mn-ea"/>
                <a:cs typeface="+mn-cs"/>
              </a:rPr>
              <a:t> Governance</a:t>
            </a:r>
            <a:endParaRPr lang="en-US" sz="1200" b="1" dirty="0"/>
          </a:p>
          <a:p>
            <a:pPr marL="0" indent="0">
              <a:lnSpc>
                <a:spcPct val="100000"/>
              </a:lnSpc>
              <a:spcBef>
                <a:spcPts val="0"/>
              </a:spcBef>
              <a:spcAft>
                <a:spcPts val="0"/>
              </a:spcAft>
              <a:buNone/>
            </a:pPr>
            <a:endParaRPr lang="en-US" sz="1200" b="1" kern="1200" dirty="0">
              <a:solidFill>
                <a:schemeClr val="tx1"/>
              </a:solidFill>
              <a:effectLst/>
              <a:latin typeface="+mn-lt"/>
              <a:ea typeface="+mn-ea"/>
              <a:cs typeface="+mn-cs"/>
            </a:endParaRPr>
          </a:p>
          <a:p>
            <a:pPr marL="0" indent="0">
              <a:lnSpc>
                <a:spcPct val="100000"/>
              </a:lnSpc>
              <a:spcBef>
                <a:spcPts val="0"/>
              </a:spcBef>
              <a:spcAft>
                <a:spcPts val="0"/>
              </a:spcAft>
              <a:buNone/>
            </a:pPr>
            <a:r>
              <a:rPr lang="en-US" sz="1200" kern="1200" dirty="0">
                <a:solidFill>
                  <a:schemeClr val="tx1"/>
                </a:solidFill>
                <a:effectLst/>
                <a:latin typeface="+mn-lt"/>
                <a:ea typeface="+mn-ea"/>
                <a:cs typeface="+mn-cs"/>
              </a:rPr>
              <a:t>When NAMICO decided to implement electronic records management, it needed a solution that would allow it to establish secure walls between certain documents and workflows. The needed to isolate</a:t>
            </a:r>
            <a:r>
              <a:rPr lang="en-US" sz="1200" kern="1200" baseline="0" dirty="0">
                <a:solidFill>
                  <a:schemeClr val="tx1"/>
                </a:solidFill>
                <a:effectLst/>
                <a:latin typeface="+mn-lt"/>
                <a:ea typeface="+mn-ea"/>
                <a:cs typeface="+mn-cs"/>
              </a:rPr>
              <a:t> the documents for each of the two companies</a:t>
            </a:r>
          </a:p>
          <a:p>
            <a:pPr marL="0" indent="0">
              <a:lnSpc>
                <a:spcPct val="100000"/>
              </a:lnSpc>
              <a:spcBef>
                <a:spcPts val="0"/>
              </a:spcBef>
              <a:spcAft>
                <a:spcPts val="0"/>
              </a:spcAft>
              <a:buNone/>
            </a:pPr>
            <a:endParaRPr lang="en-US" sz="1200" kern="1200" dirty="0">
              <a:solidFill>
                <a:schemeClr val="tx1"/>
              </a:solidFill>
              <a:effectLst/>
              <a:latin typeface="+mn-lt"/>
              <a:ea typeface="+mn-ea"/>
              <a:cs typeface="+mn-cs"/>
            </a:endParaRPr>
          </a:p>
          <a:p>
            <a:pPr marL="0" indent="0">
              <a:lnSpc>
                <a:spcPct val="100000"/>
              </a:lnSpc>
              <a:spcBef>
                <a:spcPts val="0"/>
              </a:spcBef>
              <a:spcAft>
                <a:spcPts val="0"/>
              </a:spcAft>
              <a:buNone/>
            </a:pPr>
            <a:r>
              <a:rPr lang="en-US" sz="1200" kern="1200" dirty="0">
                <a:solidFill>
                  <a:schemeClr val="tx1"/>
                </a:solidFill>
                <a:effectLst/>
                <a:latin typeface="+mn-lt"/>
                <a:ea typeface="+mn-ea"/>
                <a:cs typeface="+mn-cs"/>
              </a:rPr>
              <a:t>Content Manager serves as a parallel technology, enabling employees to manage the documents that are created or updated during these workflows. The software is integrated with NAMICO’s Microsoft Office applications to automate hand-offs between the two environments. </a:t>
            </a:r>
          </a:p>
          <a:p>
            <a:pPr marL="0" indent="0">
              <a:lnSpc>
                <a:spcPct val="100000"/>
              </a:lnSpc>
              <a:spcBef>
                <a:spcPts val="0"/>
              </a:spcBef>
              <a:spcAft>
                <a:spcPts val="0"/>
              </a:spcAft>
            </a:pPr>
            <a:r>
              <a:rPr lang="en-US" sz="1200" kern="1200" dirty="0">
                <a:solidFill>
                  <a:schemeClr val="tx1"/>
                </a:solidFill>
                <a:effectLst/>
                <a:latin typeface="+mn-lt"/>
                <a:ea typeface="+mn-ea"/>
                <a:cs typeface="+mn-cs"/>
              </a:rPr>
              <a:t> </a:t>
            </a:r>
          </a:p>
          <a:p>
            <a:pPr marL="0" indent="0">
              <a:lnSpc>
                <a:spcPct val="100000"/>
              </a:lnSpc>
              <a:spcBef>
                <a:spcPts val="0"/>
              </a:spcBef>
              <a:spcAft>
                <a:spcPts val="0"/>
              </a:spcAft>
              <a:buNone/>
            </a:pPr>
            <a:r>
              <a:rPr lang="en-GB" sz="1200" kern="1200" dirty="0">
                <a:solidFill>
                  <a:schemeClr val="tx1"/>
                </a:solidFill>
                <a:effectLst/>
                <a:latin typeface="+mn-lt"/>
                <a:ea typeface="+mn-ea"/>
                <a:cs typeface="+mn-cs"/>
              </a:rPr>
              <a:t>Using Content Manager, NAMICO were able to reduce their processes</a:t>
            </a:r>
            <a:r>
              <a:rPr lang="en-GB" sz="1200" kern="1200" baseline="0" dirty="0">
                <a:solidFill>
                  <a:schemeClr val="tx1"/>
                </a:solidFill>
                <a:effectLst/>
                <a:latin typeface="+mn-lt"/>
                <a:ea typeface="+mn-ea"/>
                <a:cs typeface="+mn-cs"/>
              </a:rPr>
              <a:t> from as long as a day to as little as five minutes. This allows their staff to focus on client interactions. They increased their office space by a third by reducing the need to store paper copies. Content Manager also ensures that only authorized users have access to particular documents whilst maintaining integrity of each company’s respective workflows</a:t>
            </a:r>
            <a:endParaRPr lang="en-US" b="1" dirty="0"/>
          </a:p>
        </p:txBody>
      </p:sp>
    </p:spTree>
    <p:extLst>
      <p:ext uri="{BB962C8B-B14F-4D97-AF65-F5344CB8AC3E}">
        <p14:creationId xmlns:p14="http://schemas.microsoft.com/office/powerpoint/2010/main" val="1129002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a:t>Let’s review the summary</a:t>
            </a:r>
            <a:r>
              <a:rPr lang="en-US" baseline="0" dirty="0"/>
              <a:t> for this overview</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19</a:t>
            </a:fld>
            <a:endParaRPr lang="en-US"/>
          </a:p>
        </p:txBody>
      </p:sp>
    </p:spTree>
    <p:extLst>
      <p:ext uri="{BB962C8B-B14F-4D97-AF65-F5344CB8AC3E}">
        <p14:creationId xmlns:p14="http://schemas.microsoft.com/office/powerpoint/2010/main" val="2668651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GB" dirty="0"/>
              <a:t>In summary Content Manager helps customers by:</a:t>
            </a:r>
          </a:p>
          <a:p>
            <a:endParaRPr lang="en-GB" dirty="0"/>
          </a:p>
          <a:p>
            <a:r>
              <a:rPr lang="en-GB" dirty="0"/>
              <a:t>Control – by securing sensitive information across the lifecycle and granting the appropriate</a:t>
            </a:r>
            <a:r>
              <a:rPr lang="en-GB" baseline="0" dirty="0"/>
              <a:t> access controls</a:t>
            </a:r>
            <a:endParaRPr lang="en-GB" dirty="0"/>
          </a:p>
          <a:p>
            <a:r>
              <a:rPr lang="en-GB" dirty="0"/>
              <a:t>Compliance – by capturing,</a:t>
            </a:r>
            <a:r>
              <a:rPr lang="en-GB" baseline="0" dirty="0"/>
              <a:t> managing and retaining enterprise content and applying policy to this information</a:t>
            </a:r>
            <a:endParaRPr lang="en-GB" dirty="0"/>
          </a:p>
          <a:p>
            <a:r>
              <a:rPr lang="en-GB" dirty="0"/>
              <a:t>Productivity – by streamlining</a:t>
            </a:r>
            <a:r>
              <a:rPr lang="en-GB" baseline="0" dirty="0"/>
              <a:t> and automating processes and delivering superior functionality to mobile users while managing the information in place</a:t>
            </a:r>
            <a:endParaRPr lang="en-GB" dirty="0"/>
          </a:p>
          <a:p>
            <a:r>
              <a:rPr lang="en-GB" dirty="0"/>
              <a:t>And Cost – by working with existing</a:t>
            </a:r>
            <a:r>
              <a:rPr lang="en-GB" baseline="0" dirty="0"/>
              <a:t> third party systems and optimizing content retention and storage</a:t>
            </a:r>
            <a:endParaRPr lang="en-US" dirty="0"/>
          </a:p>
        </p:txBody>
      </p:sp>
    </p:spTree>
    <p:extLst>
      <p:ext uri="{BB962C8B-B14F-4D97-AF65-F5344CB8AC3E}">
        <p14:creationId xmlns:p14="http://schemas.microsoft.com/office/powerpoint/2010/main" val="105517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21</a:t>
            </a:fld>
            <a:endParaRPr lang="en-US"/>
          </a:p>
        </p:txBody>
      </p:sp>
    </p:spTree>
    <p:extLst>
      <p:ext uri="{BB962C8B-B14F-4D97-AF65-F5344CB8AC3E}">
        <p14:creationId xmlns:p14="http://schemas.microsoft.com/office/powerpoint/2010/main" val="3844644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17894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7" y="0"/>
            <a:ext cx="12185904"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w Subtitl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6" y="0"/>
            <a:ext cx="12204191"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2446511"/>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
        <p:nvSpPr>
          <p:cNvPr id="3" name="Text Placeholder 2"/>
          <p:cNvSpPr>
            <a:spLocks noGrp="1"/>
          </p:cNvSpPr>
          <p:nvPr>
            <p:ph type="body" sz="quarter" idx="11"/>
          </p:nvPr>
        </p:nvSpPr>
        <p:spPr>
          <a:xfrm>
            <a:off x="950913" y="4411489"/>
            <a:ext cx="10314495" cy="512058"/>
          </a:xfrm>
        </p:spPr>
        <p:txBody>
          <a:bodyPr/>
          <a:lstStyle>
            <a:lvl1pPr marL="0" indent="0">
              <a:buNone/>
              <a:defRPr sz="3200">
                <a:solidFill>
                  <a:schemeClr val="bg1"/>
                </a:solidFill>
              </a:defRPr>
            </a:lvl1pPr>
          </a:lstStyle>
          <a:p>
            <a:pPr lvl="0"/>
            <a:r>
              <a:rPr lang="en-US"/>
              <a:t>Click to edit Master text styles</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Title Slide">
    <p:bg>
      <p:bgPr>
        <a:gradFill flip="none" rotWithShape="1">
          <a:gsLst>
            <a:gs pos="40000">
              <a:schemeClr val="accent1">
                <a:lumMod val="100000"/>
              </a:schemeClr>
            </a:gs>
            <a:gs pos="0">
              <a:schemeClr val="accent5"/>
            </a:gs>
            <a:gs pos="100000">
              <a:srgbClr val="0155EF"/>
            </a:gs>
          </a:gsLst>
          <a:lin ang="27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7780"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5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Title Slide">
    <p:bg>
      <p:bgPr>
        <a:gradFill>
          <a:gsLst>
            <a:gs pos="0">
              <a:srgbClr val="1DBDFF"/>
            </a:gs>
            <a:gs pos="32000">
              <a:srgbClr val="1A8CFF"/>
            </a:gs>
            <a:gs pos="100000">
              <a:srgbClr val="752FB7"/>
            </a:gs>
          </a:gsLst>
          <a:lin ang="2700000" scaled="0"/>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0465"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3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40529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1"/>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40447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Autofit/>
          </a:bodyPr>
          <a:lstStyle>
            <a:lvl1pPr>
              <a:defRPr/>
            </a:lvl1pPr>
          </a:lstStyle>
          <a:p>
            <a:r>
              <a:rPr lang="en-US" dirty="0"/>
              <a:t>Content + Subtitle</a:t>
            </a:r>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ext Placeholder 2"/>
          <p:cNvSpPr>
            <a:spLocks noGrp="1"/>
          </p:cNvSpPr>
          <p:nvPr>
            <p:ph idx="1" hasCustomPrompt="1"/>
          </p:nvPr>
        </p:nvSpPr>
        <p:spPr>
          <a:xfrm>
            <a:off x="946786" y="1728000"/>
            <a:ext cx="10311765" cy="4452138"/>
          </a:xfrm>
          <a:prstGeom prst="rect">
            <a:avLst/>
          </a:prstGeom>
        </p:spPr>
        <p:txBody>
          <a:bodyPr vert="horz" lIns="0" tIns="45720" rIns="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00816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Subtitle—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rm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1"/>
          <p:cNvSpPr>
            <a:spLocks noGrp="1"/>
          </p:cNvSpPr>
          <p:nvPr>
            <p:ph type="title" hasCustomPrompt="1"/>
          </p:nvPr>
        </p:nvSpPr>
        <p:spPr>
          <a:xfrm>
            <a:off x="946786" y="429275"/>
            <a:ext cx="10311765" cy="657844"/>
          </a:xfrm>
        </p:spPr>
        <p:txBody>
          <a:bodyPr>
            <a:normAutofit/>
          </a:bodyPr>
          <a:lstStyle>
            <a:lvl1pPr>
              <a:defRPr/>
            </a:lvl1pPr>
          </a:lstStyle>
          <a:p>
            <a:r>
              <a:rPr lang="en-US" dirty="0"/>
              <a:t>Content + Subtitle—INFORM</a:t>
            </a:r>
          </a:p>
        </p:txBody>
      </p:sp>
      <p:sp>
        <p:nvSpPr>
          <p:cNvPr id="8"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02981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p>
            <a:r>
              <a:rPr lang="en-US" dirty="0"/>
              <a:t>Title Only</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5104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1"/>
          <p:cNvSpPr>
            <a:spLocks noGrp="1"/>
          </p:cNvSpPr>
          <p:nvPr>
            <p:ph type="title" hasCustomPrompt="1"/>
          </p:nvPr>
        </p:nvSpPr>
        <p:spPr>
          <a:xfrm>
            <a:off x="946786" y="429275"/>
            <a:ext cx="10311765" cy="657844"/>
          </a:xfrm>
        </p:spPr>
        <p:txBody>
          <a:bodyPr>
            <a:noAutofit/>
          </a:bodyPr>
          <a:lstStyle>
            <a:lvl1pPr>
              <a:defRPr/>
            </a:lvl1pPr>
          </a:lstStyle>
          <a:p>
            <a:r>
              <a:rPr lang="en-US" dirty="0"/>
              <a:t>Title + Subtitle Only </a:t>
            </a:r>
          </a:p>
        </p:txBody>
      </p:sp>
      <p:sp>
        <p:nvSpPr>
          <p:cNvPr id="7" name="subtitle"/>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61191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5"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23857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lvl1pPr>
              <a:defRPr baseline="0"/>
            </a:lvl1pPr>
          </a:lstStyle>
          <a:p>
            <a:r>
              <a:rPr lang="en-US" dirty="0"/>
              <a:t>Two Columns—INFORM</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7687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 Subtitle—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Subtitle—INFORM</a:t>
            </a:r>
          </a:p>
        </p:txBody>
      </p:sp>
      <p:sp>
        <p:nvSpPr>
          <p:cNvPr id="9"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9489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w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0"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Two Columns with Headings—INFORM</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1803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Subtitle and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 and Headings—INFORM</a:t>
            </a:r>
          </a:p>
        </p:txBody>
      </p:sp>
      <p:sp>
        <p:nvSpPr>
          <p:cNvPr id="11"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14"/>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49806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a:lvl1pPr>
          </a:lstStyle>
          <a:p>
            <a:r>
              <a:rPr lang="en-US" dirty="0"/>
              <a:t>Three Column—INFORM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17334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Subtitle—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Subtitle—INFORM</a:t>
            </a:r>
          </a:p>
        </p:txBody>
      </p:sp>
      <p:sp>
        <p:nvSpPr>
          <p:cNvPr id="12" name="Text Placeholder 8"/>
          <p:cNvSpPr>
            <a:spLocks noGrp="1"/>
          </p:cNvSpPr>
          <p:nvPr>
            <p:ph type="body" sz="quarter" idx="13"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2333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s w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4"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Three Column with Headings—INFORM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0926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s, Subtitle and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0"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 and Headings—INFORM</a:t>
            </a:r>
          </a:p>
        </p:txBody>
      </p:sp>
      <p:sp>
        <p:nvSpPr>
          <p:cNvPr id="15" name="Text Placeholder 8"/>
          <p:cNvSpPr>
            <a:spLocks noGrp="1"/>
          </p:cNvSpPr>
          <p:nvPr>
            <p:ph type="body" sz="quarter" idx="14"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844702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0" indent="0">
              <a:spcAft>
                <a:spcPts val="600"/>
              </a:spcAft>
              <a:buFont typeface="Wingdings" panose="05000000000000000000" pitchFamily="2" charset="2"/>
              <a:buNone/>
              <a:defRPr sz="2400"/>
            </a:lvl1pPr>
            <a:lvl2pPr marL="346075" indent="0">
              <a:spcAft>
                <a:spcPts val="600"/>
              </a:spcAft>
              <a:buNone/>
              <a:defRPr sz="1800"/>
            </a:lvl2pPr>
            <a:lvl3pPr marL="574675" indent="0">
              <a:spcAft>
                <a:spcPts val="600"/>
              </a:spcAft>
              <a:buNone/>
              <a:defRPr sz="1600"/>
            </a:lvl3pPr>
            <a:lvl4pPr marL="744538" indent="0">
              <a:spcAft>
                <a:spcPts val="600"/>
              </a:spcAft>
              <a:buNone/>
              <a:defRPr sz="1600"/>
            </a:lvl4pPr>
            <a:lvl5pPr marL="922337" indent="0">
              <a:spcAft>
                <a:spcPts val="6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9895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Left with bullets">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342900" indent="-342900">
              <a:spcAft>
                <a:spcPts val="600"/>
              </a:spcAft>
              <a:buFont typeface="Wingdings" panose="05000000000000000000" pitchFamily="2" charset="2"/>
              <a:buChar char="§"/>
              <a:defRPr sz="2400"/>
            </a:lvl1pPr>
            <a:lvl2pPr>
              <a:spcAft>
                <a:spcPts val="600"/>
              </a:spcAft>
              <a:defRPr sz="1800"/>
            </a:lvl2pPr>
            <a:lvl3pPr>
              <a:spcAft>
                <a:spcPts val="600"/>
              </a:spcAft>
              <a:defRPr sz="1600"/>
            </a:lvl3pPr>
            <a:lvl4pPr>
              <a:spcAft>
                <a:spcPts val="600"/>
              </a:spcAft>
              <a:defRPr sz="1600"/>
            </a:lvl4pPr>
            <a:lvl5pPr>
              <a:spcAft>
                <a:spcPts val="6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 with Bullets</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03125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Left with Bullets—INFORM">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noAutofit/>
          </a:bodyPr>
          <a:lstStyle>
            <a:lvl1pPr marL="342900" indent="-342900">
              <a:spcAft>
                <a:spcPts val="600"/>
              </a:spcAft>
              <a:buFont typeface="Wingdings" panose="05000000000000000000" pitchFamily="2" charset="2"/>
              <a:buChar char="§"/>
              <a:defRPr sz="2000"/>
            </a:lvl1pPr>
            <a:lvl2pPr>
              <a:spcAft>
                <a:spcPts val="600"/>
              </a:spcAft>
              <a:defRPr sz="1800"/>
            </a:lvl2pPr>
            <a:lvl3pPr>
              <a:spcAft>
                <a:spcPts val="600"/>
              </a:spcAft>
              <a:defRPr sz="1600"/>
            </a:lvl3pPr>
            <a:lvl4pPr>
              <a:spcAft>
                <a:spcPts val="600"/>
              </a:spcAft>
              <a:defRPr sz="1400"/>
            </a:lvl4pPr>
            <a:lvl5pPr>
              <a:spcAft>
                <a:spcPts val="6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p>
            <a:r>
              <a:rPr lang="en-US" dirty="0"/>
              <a:t>Image Left with Bullets—INFORM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34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Right">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baseline="0"/>
            </a:lvl1pPr>
          </a:lstStyle>
          <a:p>
            <a:r>
              <a:rPr lang="en-US" dirty="0"/>
              <a:t>Image Right</a:t>
            </a:r>
          </a:p>
        </p:txBody>
      </p:sp>
      <p:sp>
        <p:nvSpPr>
          <p:cNvPr id="9" name="Content Placeholder 8"/>
          <p:cNvSpPr>
            <a:spLocks noGrp="1"/>
          </p:cNvSpPr>
          <p:nvPr>
            <p:ph sz="quarter" idx="14" hasCustomPrompt="1"/>
          </p:nvPr>
        </p:nvSpPr>
        <p:spPr>
          <a:xfrm>
            <a:off x="946786" y="1736725"/>
            <a:ext cx="3955414" cy="4443413"/>
          </a:xfrm>
        </p:spPr>
        <p:txBody>
          <a:bodyPr/>
          <a:lstStyle>
            <a:lvl1pPr marL="0" indent="0">
              <a:spcAft>
                <a:spcPts val="1200"/>
              </a:spcAft>
              <a:buNone/>
              <a:defRPr sz="2400"/>
            </a:lvl1pPr>
            <a:lvl2pPr marL="346075" indent="0">
              <a:spcAft>
                <a:spcPts val="1200"/>
              </a:spcAft>
              <a:buNone/>
              <a:defRPr sz="1800"/>
            </a:lvl2pPr>
            <a:lvl3pPr marL="574675" indent="0">
              <a:spcAft>
                <a:spcPts val="1200"/>
              </a:spcAft>
              <a:buNone/>
              <a:defRPr sz="1600"/>
            </a:lvl3pPr>
            <a:lvl4pPr marL="744538" indent="0">
              <a:spcAft>
                <a:spcPts val="1200"/>
              </a:spcAft>
              <a:buNone/>
              <a:defRPr sz="1600"/>
            </a:lvl4pPr>
            <a:lvl5pPr marL="922337" indent="0">
              <a:spcAft>
                <a:spcPts val="12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5189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Right with Bullets">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400"/>
            </a:lvl1pPr>
            <a:lvl2pPr>
              <a:spcAft>
                <a:spcPts val="1200"/>
              </a:spcAft>
              <a:defRPr sz="1800"/>
            </a:lvl2pPr>
            <a:lvl3pPr>
              <a:spcAft>
                <a:spcPts val="1200"/>
              </a:spcAft>
              <a:defRPr sz="1600"/>
            </a:lvl3pPr>
            <a:lvl4pPr>
              <a:spcAft>
                <a:spcPts val="1200"/>
              </a:spcAft>
              <a:defRPr sz="1600"/>
            </a:lvl4pPr>
            <a:lvl5pPr>
              <a:spcAft>
                <a:spcPts val="12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38361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Right with Bullets—INFORM ">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Bullets—INFORM</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000"/>
            </a:lvl1pPr>
            <a:lvl2pPr>
              <a:spcAft>
                <a:spcPts val="1200"/>
              </a:spcAft>
              <a:defRPr sz="1800"/>
            </a:lvl2pPr>
            <a:lvl3pPr>
              <a:spcAft>
                <a:spcPts val="1200"/>
              </a:spcAft>
              <a:defRPr sz="1600"/>
            </a:lvl3pPr>
            <a:lvl4pPr>
              <a:spcAft>
                <a:spcPts val="1200"/>
              </a:spcAft>
              <a:defRPr sz="1400"/>
            </a:lvl4pPr>
            <a:lvl5pPr>
              <a:spcAft>
                <a:spcPts val="12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9069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Screen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47750" y="1987091"/>
            <a:ext cx="4383499" cy="3936380"/>
          </a:xfrm>
        </p:spPr>
        <p:txBody>
          <a:bodyPr/>
          <a:lstStyle>
            <a:lvl1pPr>
              <a:defRPr baseline="0"/>
            </a:lvl1pPr>
          </a:lstStyle>
          <a:p>
            <a:r>
              <a:rPr lang="en-US" dirty="0"/>
              <a:t>Half Screen Image Right 36 </a:t>
            </a:r>
            <a:r>
              <a:rPr lang="en-US" dirty="0" err="1"/>
              <a:t>pt</a:t>
            </a:r>
            <a:endParaRPr lang="en-US" dirty="0"/>
          </a:p>
        </p:txBody>
      </p:sp>
      <p:sp>
        <p:nvSpPr>
          <p:cNvPr id="4" name="Picture Placeholder 2"/>
          <p:cNvSpPr>
            <a:spLocks noGrp="1"/>
          </p:cNvSpPr>
          <p:nvPr>
            <p:ph type="pic" idx="11"/>
          </p:nvPr>
        </p:nvSpPr>
        <p:spPr bwMode="ltGray">
          <a:xfrm>
            <a:off x="6191251" y="1"/>
            <a:ext cx="6000750"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54446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Screen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69250" y="1951465"/>
            <a:ext cx="4383499" cy="3936380"/>
          </a:xfrm>
        </p:spPr>
        <p:txBody>
          <a:bodyPr/>
          <a:lstStyle>
            <a:lvl1pPr>
              <a:defRPr/>
            </a:lvl1pPr>
          </a:lstStyle>
          <a:p>
            <a:r>
              <a:rPr lang="en-US" dirty="0"/>
              <a:t>Half Screen Image </a:t>
            </a:r>
            <a:br>
              <a:rPr lang="en-US" dirty="0"/>
            </a:br>
            <a:r>
              <a:rPr lang="en-US" dirty="0"/>
              <a:t>Left 36 </a:t>
            </a:r>
            <a:r>
              <a:rPr lang="en-US" dirty="0" err="1"/>
              <a:t>pt</a:t>
            </a:r>
            <a:endParaRPr lang="en-US" dirty="0"/>
          </a:p>
        </p:txBody>
      </p:sp>
      <p:sp>
        <p:nvSpPr>
          <p:cNvPr id="4" name="Picture Placeholder 2"/>
          <p:cNvSpPr>
            <a:spLocks noGrp="1"/>
          </p:cNvSpPr>
          <p:nvPr>
            <p:ph type="pic" idx="11"/>
          </p:nvPr>
        </p:nvSpPr>
        <p:spPr bwMode="ltGray">
          <a:xfrm>
            <a:off x="1" y="1"/>
            <a:ext cx="6000752"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Tree>
    <p:extLst>
      <p:ext uri="{BB962C8B-B14F-4D97-AF65-F5344CB8AC3E}">
        <p14:creationId xmlns:p14="http://schemas.microsoft.com/office/powerpoint/2010/main" val="16878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screen  Image">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a:t>Click icon to add picture</a:t>
            </a:r>
            <a:endParaRPr lang="en-US" dirty="0"/>
          </a:p>
        </p:txBody>
      </p:sp>
      <p:sp>
        <p:nvSpPr>
          <p:cNvPr id="3" name="Rectangle 2"/>
          <p:cNvSpPr/>
          <p:nvPr userDrawn="1"/>
        </p:nvSpPr>
        <p:spPr>
          <a:xfrm>
            <a:off x="1041400" y="0"/>
            <a:ext cx="1803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764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rotWithShape="1">
          <a:blip r:embed="rId2">
            <a:alphaModFix amt="5000"/>
            <a:extLst/>
          </a:blip>
          <a:srcRect l="840" r="-840"/>
          <a:stretch/>
        </p:blipFill>
        <p:spPr>
          <a:xfrm>
            <a:off x="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dirty="0"/>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78517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2_Section Break w Mark">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Freeform 9"/>
          <p:cNvSpPr>
            <a:spLocks/>
          </p:cNvSpPr>
          <p:nvPr/>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userDrawn="1"/>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23385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Section Break w Mark">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4_Section Break w Mark">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3250134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5_Section Break w Mark">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1155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6_Section Break w Mark">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7_Section Break w Mark">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Section Break w Numbers">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alpha val="5000"/>
            </a:schemeClr>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Section Break w Numbers">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alpha val="5000"/>
            </a:schemeClr>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6"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Section Break w Numbers">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Section Break w Numbers">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5_Section Break w Numbers">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alpha val="5000"/>
            </a:schemeClr>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Section Break w Numbers">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7_Section Break w Numbers">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Blank Color">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Blank Color">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Blank Color">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Blank Color">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_Blank Color">
    <p:bg>
      <p:bgPr>
        <a:gradFill>
          <a:gsLst>
            <a:gs pos="23000">
              <a:srgbClr val="B81592"/>
            </a:gs>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6_Blank Color">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7_Blank_Color">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Blank_Gray">
    <p:bg>
      <p:bgPr>
        <a:gradFill>
          <a:gsLst>
            <a:gs pos="0">
              <a:schemeClr val="bg2">
                <a:lumMod val="95000"/>
                <a:lumOff val="5000"/>
              </a:schemeClr>
            </a:gs>
            <a:gs pos="100000">
              <a:schemeClr val="bg2"/>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Logo Slide">
    <p:bg>
      <p:bgPr>
        <a:gradFill flip="none" rotWithShape="1">
          <a:gsLst>
            <a:gs pos="0">
              <a:schemeClr val="accent5"/>
            </a:gs>
            <a:gs pos="47000">
              <a:schemeClr val="accent1">
                <a:lumMod val="90000"/>
                <a:lumOff val="10000"/>
              </a:schemeClr>
            </a:gs>
            <a:gs pos="100000">
              <a:schemeClr val="accent3"/>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6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4099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5598212" y="6426104"/>
            <a:ext cx="995578" cy="210312"/>
          </a:xfrm>
          <a:prstGeom prst="rect">
            <a:avLst/>
          </a:prstGeom>
        </p:spPr>
        <p:txBody>
          <a:bodyPr/>
          <a:lstStyle/>
          <a:p>
            <a:fld id="{357CE476-A3A9-47EC-ACB1-2D0024860F8E}"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948590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a:xfrm>
            <a:off x="5598212" y="6426104"/>
            <a:ext cx="995578" cy="210312"/>
          </a:xfrm>
          <a:prstGeom prst="rect">
            <a:avLst/>
          </a:prstGeom>
        </p:spPr>
        <p:txBody>
          <a:bodyPr/>
          <a:lstStyle/>
          <a:p>
            <a:fld id="{24C3AE83-4A36-4E0D-BF8F-4D5F09C9996E}"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1426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5199705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2">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2860895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67832245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Basic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10909097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 Separate Subhead">
    <p:spTree>
      <p:nvGrpSpPr>
        <p:cNvPr id="1" name=""/>
        <p:cNvGrpSpPr/>
        <p:nvPr/>
      </p:nvGrpSpPr>
      <p:grpSpPr>
        <a:xfrm>
          <a:off x="0" y="0"/>
          <a:ext cx="0" cy="0"/>
          <a:chOff x="0" y="0"/>
          <a:chExt cx="0" cy="0"/>
        </a:xfrm>
      </p:grpSpPr>
      <p:sp>
        <p:nvSpPr>
          <p:cNvPr id="2" name="Title 1"/>
          <p:cNvSpPr>
            <a:spLocks noGrp="1"/>
          </p:cNvSpPr>
          <p:nvPr>
            <p:ph type="title"/>
          </p:nvPr>
        </p:nvSpPr>
        <p:spPr>
          <a:xfrm>
            <a:off x="946785" y="429272"/>
            <a:ext cx="10311765" cy="1076223"/>
          </a:xfrm>
        </p:spPr>
        <p:txBody>
          <a:bodyPr/>
          <a:lstStyle/>
          <a:p>
            <a:r>
              <a:rPr lang="en-US"/>
              <a:t>Click to edit Master title style</a:t>
            </a:r>
            <a:endParaRPr lang="en-US" dirty="0"/>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5" name="Text Placeholder 8"/>
          <p:cNvSpPr>
            <a:spLocks noGrp="1"/>
          </p:cNvSpPr>
          <p:nvPr>
            <p:ph type="body" sz="quarter" idx="13" hasCustomPrompt="1"/>
          </p:nvPr>
        </p:nvSpPr>
        <p:spPr>
          <a:xfrm>
            <a:off x="946785" y="967383"/>
            <a:ext cx="10311765" cy="538112"/>
          </a:xfrm>
        </p:spPr>
        <p:txBody>
          <a:bodyPr anchor="t">
            <a:normAutofit/>
          </a:bodyPr>
          <a:lstStyle>
            <a:lvl1pPr marL="0" indent="0">
              <a:lnSpc>
                <a:spcPct val="90000"/>
              </a:lnSpc>
              <a:spcBef>
                <a:spcPts val="0"/>
              </a:spcBef>
              <a:buNone/>
              <a:defRPr lang="en-US" sz="2000" b="0" kern="1200" baseline="0" smtClean="0">
                <a:solidFill>
                  <a:schemeClr val="tx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Click to edit subhead text (20pt)</a:t>
            </a:r>
          </a:p>
        </p:txBody>
      </p:sp>
      <p:sp>
        <p:nvSpPr>
          <p:cNvPr id="6" name="Content Placeholder 2"/>
          <p:cNvSpPr>
            <a:spLocks noGrp="1"/>
          </p:cNvSpPr>
          <p:nvPr>
            <p:ph idx="1"/>
          </p:nvPr>
        </p:nvSpPr>
        <p:spPr>
          <a:xfrm>
            <a:off x="946785" y="2043605"/>
            <a:ext cx="10311765" cy="4133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590953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w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46150" y="2497873"/>
            <a:ext cx="10312400" cy="3679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13" hasCustomPrompt="1"/>
          </p:nvPr>
        </p:nvSpPr>
        <p:spPr>
          <a:xfrm>
            <a:off x="946150" y="1993265"/>
            <a:ext cx="10312400" cy="384175"/>
          </a:xfrm>
        </p:spPr>
        <p:txBody>
          <a:bodyPr/>
          <a:lstStyle>
            <a:lvl1pPr marL="0" indent="0">
              <a:buNone/>
              <a:defRPr b="1"/>
            </a:lvl1pPr>
            <a:lvl2pPr marL="228600" indent="0">
              <a:buNone/>
              <a:defRPr b="1"/>
            </a:lvl2pPr>
            <a:lvl3pPr marL="400050" indent="0">
              <a:buNone/>
              <a:defRPr b="1"/>
            </a:lvl3pPr>
            <a:lvl4pPr marL="571500" indent="0">
              <a:buNone/>
              <a:defRPr b="1"/>
            </a:lvl4pPr>
            <a:lvl5pPr marL="742950" indent="0">
              <a:buNone/>
              <a:defRPr b="1"/>
            </a:lvl5pPr>
          </a:lstStyle>
          <a:p>
            <a:pPr lvl="0"/>
            <a:r>
              <a:rPr lang="en-US" dirty="0"/>
              <a:t>Click to edit Heading text styles</a:t>
            </a:r>
          </a:p>
        </p:txBody>
      </p:sp>
      <p:sp>
        <p:nvSpPr>
          <p:cNvPr id="7"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2755840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Header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id="{95875EC2-73DC-4ADE-800B-1FB9E0C0DC01}"/>
              </a:ext>
            </a:extLst>
          </p:cNvPr>
          <p:cNvGrpSpPr/>
          <p:nvPr userDrawn="1"/>
        </p:nvGrpSpPr>
        <p:grpSpPr>
          <a:xfrm>
            <a:off x="0" y="0"/>
            <a:ext cx="12293598" cy="6961943"/>
            <a:chOff x="0" y="0"/>
            <a:chExt cx="12293598" cy="6961943"/>
          </a:xfrm>
          <a:solidFill>
            <a:schemeClr val="tx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42861867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Purpl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id="{95875EC2-73DC-4ADE-800B-1FB9E0C0DC01}"/>
              </a:ext>
            </a:extLst>
          </p:cNvPr>
          <p:cNvGrpSpPr/>
          <p:nvPr userDrawn="1"/>
        </p:nvGrpSpPr>
        <p:grpSpPr>
          <a:xfrm>
            <a:off x="0" y="0"/>
            <a:ext cx="12293598" cy="6961943"/>
            <a:chOff x="0" y="0"/>
            <a:chExt cx="12293598" cy="6961943"/>
          </a:xfrm>
          <a:solidFill>
            <a:schemeClr val="accent1"/>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31987519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Header (Indigo)">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id="{95875EC2-73DC-4ADE-800B-1FB9E0C0DC01}"/>
              </a:ext>
            </a:extLst>
          </p:cNvPr>
          <p:cNvGrpSpPr/>
          <p:nvPr userDrawn="1"/>
        </p:nvGrpSpPr>
        <p:grpSpPr>
          <a:xfrm>
            <a:off x="0" y="0"/>
            <a:ext cx="12293598" cy="6961943"/>
            <a:chOff x="0" y="0"/>
            <a:chExt cx="12293598" cy="6961943"/>
          </a:xfrm>
          <a:solidFill>
            <a:schemeClr val="accent2"/>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95061611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Dk Blu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id="{95875EC2-73DC-4ADE-800B-1FB9E0C0DC01}"/>
              </a:ext>
            </a:extLst>
          </p:cNvPr>
          <p:cNvGrpSpPr/>
          <p:nvPr userDrawn="1"/>
        </p:nvGrpSpPr>
        <p:grpSpPr>
          <a:xfrm>
            <a:off x="0" y="0"/>
            <a:ext cx="12293598" cy="6961943"/>
            <a:chOff x="0" y="0"/>
            <a:chExt cx="12293598" cy="6961943"/>
          </a:xfrm>
          <a:solidFill>
            <a:schemeClr val="accent3"/>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25936059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Header (Aquamarine)">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13201178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Gray)">
    <p:spTree>
      <p:nvGrpSpPr>
        <p:cNvPr id="1" name=""/>
        <p:cNvGrpSpPr/>
        <p:nvPr/>
      </p:nvGrpSpPr>
      <p:grpSpPr>
        <a:xfrm>
          <a:off x="0" y="0"/>
          <a:ext cx="0" cy="0"/>
          <a:chOff x="0" y="0"/>
          <a:chExt cx="0" cy="0"/>
        </a:xfrm>
      </p:grpSpPr>
      <p:sp>
        <p:nvSpPr>
          <p:cNvPr id="8" name="Rectangle 7"/>
          <p:cNvSpPr/>
          <p:nvPr userDrawn="1"/>
        </p:nvSpPr>
        <p:spPr>
          <a:xfrm>
            <a:off x="11106150" y="6272213"/>
            <a:ext cx="1085850" cy="5857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a:extLst>
              <a:ext uri="{FF2B5EF4-FFF2-40B4-BE49-F238E27FC236}">
                <a16:creationId xmlns:a16="http://schemas.microsoft.com/office/drawing/2014/main" id="{95875EC2-73DC-4ADE-800B-1FB9E0C0DC01}"/>
              </a:ext>
            </a:extLst>
          </p:cNvPr>
          <p:cNvGrpSpPr/>
          <p:nvPr userDrawn="1"/>
        </p:nvGrpSpPr>
        <p:grpSpPr>
          <a:xfrm>
            <a:off x="0" y="0"/>
            <a:ext cx="12293598" cy="6961943"/>
            <a:chOff x="0" y="0"/>
            <a:chExt cx="12293598" cy="6961943"/>
          </a:xfrm>
          <a:solidFill>
            <a:schemeClr val="accent6"/>
          </a:solidFill>
        </p:grpSpPr>
        <p:sp>
          <p:nvSpPr>
            <p:cNvPr id="10" name="Rectangle 9"/>
            <p:cNvSpPr/>
            <p:nvPr/>
          </p:nvSpPr>
          <p:spPr>
            <a:xfrm>
              <a:off x="0" y="0"/>
              <a:ext cx="8547100" cy="6858000"/>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GB" dirty="0">
                <a:solidFill>
                  <a:prstClr val="white"/>
                </a:solidFill>
              </a:endParaRPr>
            </a:p>
          </p:txBody>
        </p:sp>
        <p:grpSp>
          <p:nvGrpSpPr>
            <p:cNvPr id="11" name="Group 10"/>
            <p:cNvGrpSpPr/>
            <p:nvPr/>
          </p:nvGrpSpPr>
          <p:grpSpPr>
            <a:xfrm>
              <a:off x="10353498" y="5021881"/>
              <a:ext cx="1940100" cy="1940062"/>
              <a:chOff x="9313687" y="3627192"/>
              <a:chExt cx="1940100" cy="1940062"/>
            </a:xfrm>
            <a:grpFill/>
          </p:grpSpPr>
          <p:sp>
            <p:nvSpPr>
              <p:cNvPr id="12" name="Oval 11"/>
              <p:cNvSpPr/>
              <p:nvPr/>
            </p:nvSpPr>
            <p:spPr>
              <a:xfrm>
                <a:off x="10188575"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3" name="Oval 12"/>
              <p:cNvSpPr/>
              <p:nvPr/>
            </p:nvSpPr>
            <p:spPr>
              <a:xfrm>
                <a:off x="10617200" y="4492625"/>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4" name="Oval 13"/>
              <p:cNvSpPr/>
              <p:nvPr/>
            </p:nvSpPr>
            <p:spPr>
              <a:xfrm>
                <a:off x="10617200" y="4064000"/>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5" name="Oval 14"/>
              <p:cNvSpPr/>
              <p:nvPr/>
            </p:nvSpPr>
            <p:spPr>
              <a:xfrm>
                <a:off x="10626726"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6" name="Oval 15"/>
              <p:cNvSpPr/>
              <p:nvPr/>
            </p:nvSpPr>
            <p:spPr>
              <a:xfrm>
                <a:off x="10193338"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7" name="Oval 16"/>
              <p:cNvSpPr/>
              <p:nvPr/>
            </p:nvSpPr>
            <p:spPr>
              <a:xfrm>
                <a:off x="9759950" y="4925943"/>
                <a:ext cx="184150" cy="184150"/>
              </a:xfrm>
              <a:prstGeom prst="ellipse">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18" name="Pie 17"/>
              <p:cNvSpPr/>
              <p:nvPr/>
            </p:nvSpPr>
            <p:spPr>
              <a:xfrm rot="5400000">
                <a:off x="9750425"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19" name="Pie 18"/>
              <p:cNvSpPr/>
              <p:nvPr/>
            </p:nvSpPr>
            <p:spPr>
              <a:xfrm rot="5400000">
                <a:off x="10174113"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0" name="Pie 19"/>
              <p:cNvSpPr/>
              <p:nvPr/>
            </p:nvSpPr>
            <p:spPr>
              <a:xfrm rot="5400000">
                <a:off x="10607676"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1" name="Pie 20"/>
              <p:cNvSpPr/>
              <p:nvPr/>
            </p:nvSpPr>
            <p:spPr>
              <a:xfrm rot="5400000">
                <a:off x="11060113" y="5373580"/>
                <a:ext cx="193674" cy="193674"/>
              </a:xfrm>
              <a:prstGeom prst="pie">
                <a:avLst>
                  <a:gd name="adj1" fmla="val 5400000"/>
                  <a:gd name="adj2" fmla="val 10750877"/>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2" name="Pie 21"/>
              <p:cNvSpPr/>
              <p:nvPr/>
            </p:nvSpPr>
            <p:spPr>
              <a:xfrm rot="5400000">
                <a:off x="9313687" y="5373580"/>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3" name="Pie 22"/>
              <p:cNvSpPr/>
              <p:nvPr/>
            </p:nvSpPr>
            <p:spPr>
              <a:xfrm>
                <a:off x="11060113" y="4484443"/>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4" name="Pie 23"/>
              <p:cNvSpPr/>
              <p:nvPr/>
            </p:nvSpPr>
            <p:spPr>
              <a:xfrm>
                <a:off x="11060113" y="4060755"/>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5" name="Pie 24"/>
              <p:cNvSpPr/>
              <p:nvPr/>
            </p:nvSpPr>
            <p:spPr>
              <a:xfrm>
                <a:off x="11060113" y="3627192"/>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sp>
            <p:nvSpPr>
              <p:cNvPr id="26" name="Pie 25"/>
              <p:cNvSpPr/>
              <p:nvPr/>
            </p:nvSpPr>
            <p:spPr>
              <a:xfrm>
                <a:off x="11060113" y="4921181"/>
                <a:ext cx="193674" cy="193674"/>
              </a:xfrm>
              <a:prstGeom prst="pie">
                <a:avLst>
                  <a:gd name="adj1" fmla="val 5400000"/>
                  <a:gd name="adj2" fmla="val 16200000"/>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srgbClr val="212E35"/>
                  </a:solidFill>
                </a:endParaRPr>
              </a:p>
            </p:txBody>
          </p:sp>
        </p:grpSp>
      </p:grpSp>
      <p:sp>
        <p:nvSpPr>
          <p:cNvPr id="2" name="Title 1"/>
          <p:cNvSpPr>
            <a:spLocks noGrp="1"/>
          </p:cNvSpPr>
          <p:nvPr>
            <p:ph type="title"/>
          </p:nvPr>
        </p:nvSpPr>
        <p:spPr>
          <a:xfrm>
            <a:off x="365760" y="4733926"/>
            <a:ext cx="7897814" cy="1471786"/>
          </a:xfrm>
        </p:spPr>
        <p:txBody>
          <a:bodyPr anchor="ctr">
            <a:normAutofit/>
          </a:bodyPr>
          <a:lstStyle>
            <a:lvl1pPr>
              <a:defRPr sz="4800">
                <a:solidFill>
                  <a:schemeClr val="bg1"/>
                </a:solidFill>
              </a:defRPr>
            </a:lvl1pPr>
          </a:lstStyle>
          <a:p>
            <a:r>
              <a:rPr lang="en-US"/>
              <a:t>Click to edit Master title style</a:t>
            </a:r>
            <a:endParaRPr lang="en-US" dirty="0"/>
          </a:p>
        </p:txBody>
      </p:sp>
      <p:sp>
        <p:nvSpPr>
          <p:cNvPr id="27" name="Rectangle 26"/>
          <p:cNvSpPr/>
          <p:nvPr userDrawn="1"/>
        </p:nvSpPr>
        <p:spPr>
          <a:xfrm rot="16200000">
            <a:off x="-506427" y="5418151"/>
            <a:ext cx="1115449" cy="1025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Tree>
    <p:extLst>
      <p:ext uri="{BB962C8B-B14F-4D97-AF65-F5344CB8AC3E}">
        <p14:creationId xmlns:p14="http://schemas.microsoft.com/office/powerpoint/2010/main" val="1298284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46784" y="428625"/>
            <a:ext cx="10408603" cy="1262063"/>
          </a:xfrm>
        </p:spPr>
        <p:txBody>
          <a:bodyPr/>
          <a:lstStyle/>
          <a:p>
            <a:r>
              <a:rPr lang="en-US"/>
              <a:t>Click to edit Master title style</a:t>
            </a:r>
          </a:p>
        </p:txBody>
      </p:sp>
      <p:sp>
        <p:nvSpPr>
          <p:cNvPr id="3" name="Text Placeholder 2"/>
          <p:cNvSpPr>
            <a:spLocks noGrp="1"/>
          </p:cNvSpPr>
          <p:nvPr>
            <p:ph type="body" idx="1"/>
          </p:nvPr>
        </p:nvSpPr>
        <p:spPr>
          <a:xfrm>
            <a:off x="946784" y="1828800"/>
            <a:ext cx="5081161"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2975" y="2447925"/>
            <a:ext cx="5084970" cy="3741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828800"/>
            <a:ext cx="5086350" cy="548640"/>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447925"/>
            <a:ext cx="5086350" cy="3741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5"/>
          <p:cNvSpPr>
            <a:spLocks noGrp="1"/>
          </p:cNvSpPr>
          <p:nvPr>
            <p:ph type="sldNum" sz="quarter" idx="10"/>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1382221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42974" y="1825625"/>
            <a:ext cx="508497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7390" y="1825625"/>
            <a:ext cx="5081159"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03482096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Content Placeholder 2"/>
          <p:cNvSpPr>
            <a:spLocks noGrp="1"/>
          </p:cNvSpPr>
          <p:nvPr>
            <p:ph sz="half" idx="1"/>
          </p:nvPr>
        </p:nvSpPr>
        <p:spPr>
          <a:xfrm>
            <a:off x="946785" y="1825625"/>
            <a:ext cx="3268376" cy="4351338"/>
          </a:xfrm>
        </p:spPr>
        <p:txBody>
          <a:bodyPr/>
          <a:lstStyle>
            <a:lvl1pPr marL="228600" indent="-22860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3"/>
          <p:cNvSpPr>
            <a:spLocks noGrp="1"/>
          </p:cNvSpPr>
          <p:nvPr>
            <p:ph sz="half" idx="2"/>
          </p:nvPr>
        </p:nvSpPr>
        <p:spPr>
          <a:xfrm>
            <a:off x="4427034" y="1825625"/>
            <a:ext cx="3229804"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0"/>
          </p:nvPr>
        </p:nvSpPr>
        <p:spPr>
          <a:xfrm>
            <a:off x="7868712" y="1825625"/>
            <a:ext cx="336753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69575578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2"/>
          <p:cNvSpPr>
            <a:spLocks noGrp="1"/>
          </p:cNvSpPr>
          <p:nvPr>
            <p:ph type="pic" idx="11"/>
          </p:nvPr>
        </p:nvSpPr>
        <p:spPr bwMode="ltGray">
          <a:xfrm>
            <a:off x="1047749" y="1825626"/>
            <a:ext cx="6145191"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dirty="0"/>
          </a:p>
        </p:txBody>
      </p:sp>
      <p:sp>
        <p:nvSpPr>
          <p:cNvPr id="5" name="Text Placeholder 4"/>
          <p:cNvSpPr>
            <a:spLocks noGrp="1"/>
          </p:cNvSpPr>
          <p:nvPr>
            <p:ph type="body" sz="quarter" idx="12"/>
          </p:nvPr>
        </p:nvSpPr>
        <p:spPr>
          <a:xfrm>
            <a:off x="7400925" y="1816100"/>
            <a:ext cx="3857625"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a:t>Click to edit Master text styles</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22876431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Picture Placeholder 2"/>
          <p:cNvSpPr>
            <a:spLocks noGrp="1"/>
          </p:cNvSpPr>
          <p:nvPr>
            <p:ph type="pic" idx="11"/>
          </p:nvPr>
        </p:nvSpPr>
        <p:spPr bwMode="ltGray">
          <a:xfrm>
            <a:off x="6266985" y="1825626"/>
            <a:ext cx="4991565" cy="4226169"/>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dirty="0"/>
          </a:p>
        </p:txBody>
      </p:sp>
      <p:sp>
        <p:nvSpPr>
          <p:cNvPr id="5" name="Text Placeholder 4"/>
          <p:cNvSpPr>
            <a:spLocks noGrp="1"/>
          </p:cNvSpPr>
          <p:nvPr>
            <p:ph type="body" sz="quarter" idx="12"/>
          </p:nvPr>
        </p:nvSpPr>
        <p:spPr>
          <a:xfrm>
            <a:off x="946785" y="1825626"/>
            <a:ext cx="5063722" cy="4238625"/>
          </a:xfrm>
        </p:spPr>
        <p:txBody>
          <a:bodyPr/>
          <a:lstStyle>
            <a:lvl1pPr marL="0" indent="0">
              <a:buNone/>
              <a:defRPr/>
            </a:lvl1pPr>
            <a:lvl2pPr marL="285750" indent="0">
              <a:buNone/>
              <a:defRPr/>
            </a:lvl2pPr>
            <a:lvl3pPr marL="577850" indent="0">
              <a:buNone/>
              <a:defRPr/>
            </a:lvl3pPr>
            <a:lvl4pPr marL="742950" indent="0">
              <a:buNone/>
              <a:defRPr/>
            </a:lvl4pPr>
            <a:lvl5pPr marL="914400" indent="0">
              <a:buNone/>
              <a:defRPr/>
            </a:lvl5pPr>
          </a:lstStyle>
          <a:p>
            <a:pPr lvl="0"/>
            <a:r>
              <a:rPr lang="en-US"/>
              <a:t>Click to edit Master text styles</a:t>
            </a:r>
          </a:p>
        </p:txBody>
      </p:sp>
      <p:sp>
        <p:nvSpPr>
          <p:cNvPr id="10"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50213924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Half-Screen Image Right">
    <p:spTree>
      <p:nvGrpSpPr>
        <p:cNvPr id="1" name=""/>
        <p:cNvGrpSpPr/>
        <p:nvPr/>
      </p:nvGrpSpPr>
      <p:grpSpPr>
        <a:xfrm>
          <a:off x="0" y="0"/>
          <a:ext cx="0" cy="0"/>
          <a:chOff x="0" y="0"/>
          <a:chExt cx="0" cy="0"/>
        </a:xfrm>
      </p:grpSpPr>
      <p:sp>
        <p:nvSpPr>
          <p:cNvPr id="2" name="Title 1"/>
          <p:cNvSpPr>
            <a:spLocks noGrp="1"/>
          </p:cNvSpPr>
          <p:nvPr>
            <p:ph type="title"/>
          </p:nvPr>
        </p:nvSpPr>
        <p:spPr>
          <a:xfrm>
            <a:off x="1137424" y="1951464"/>
            <a:ext cx="4383498" cy="3936380"/>
          </a:xfrm>
        </p:spPr>
        <p:txBody>
          <a:bodyPr/>
          <a:lstStyle/>
          <a:p>
            <a:r>
              <a:rPr lang="en-US"/>
              <a:t>Click to edit Master title style</a:t>
            </a:r>
          </a:p>
        </p:txBody>
      </p:sp>
      <p:sp>
        <p:nvSpPr>
          <p:cNvPr id="4" name="Picture Placeholder 2"/>
          <p:cNvSpPr>
            <a:spLocks noGrp="1"/>
          </p:cNvSpPr>
          <p:nvPr>
            <p:ph type="pic" idx="11"/>
          </p:nvPr>
        </p:nvSpPr>
        <p:spPr bwMode="ltGray">
          <a:xfrm>
            <a:off x="619125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dirty="0"/>
          </a:p>
        </p:txBody>
      </p:sp>
      <p:sp>
        <p:nvSpPr>
          <p:cNvPr id="8" name="Rectangle 7"/>
          <p:cNvSpPr/>
          <p:nvPr userDrawn="1"/>
        </p:nvSpPr>
        <p:spPr>
          <a:xfrm>
            <a:off x="0" y="0"/>
            <a:ext cx="1137424" cy="2007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02878438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alf-Screen Image Left">
    <p:spTree>
      <p:nvGrpSpPr>
        <p:cNvPr id="1" name=""/>
        <p:cNvGrpSpPr/>
        <p:nvPr/>
      </p:nvGrpSpPr>
      <p:grpSpPr>
        <a:xfrm>
          <a:off x="0" y="0"/>
          <a:ext cx="0" cy="0"/>
          <a:chOff x="0" y="0"/>
          <a:chExt cx="0" cy="0"/>
        </a:xfrm>
      </p:grpSpPr>
      <p:sp>
        <p:nvSpPr>
          <p:cNvPr id="2" name="Title 1"/>
          <p:cNvSpPr>
            <a:spLocks noGrp="1"/>
          </p:cNvSpPr>
          <p:nvPr>
            <p:ph type="title"/>
          </p:nvPr>
        </p:nvSpPr>
        <p:spPr>
          <a:xfrm>
            <a:off x="6999876" y="1951464"/>
            <a:ext cx="4383498" cy="3936380"/>
          </a:xfrm>
        </p:spPr>
        <p:txBody>
          <a:bodyPr/>
          <a:lstStyle/>
          <a:p>
            <a:r>
              <a:rPr lang="en-US"/>
              <a:t>Click to edit Master title style</a:t>
            </a:r>
          </a:p>
        </p:txBody>
      </p:sp>
      <p:sp>
        <p:nvSpPr>
          <p:cNvPr id="4" name="Picture Placeholder 2"/>
          <p:cNvSpPr>
            <a:spLocks noGrp="1"/>
          </p:cNvSpPr>
          <p:nvPr>
            <p:ph type="pic" idx="11"/>
          </p:nvPr>
        </p:nvSpPr>
        <p:spPr bwMode="ltGray">
          <a:xfrm>
            <a:off x="0" y="1"/>
            <a:ext cx="6000750" cy="6958360"/>
          </a:xfrm>
          <a:prstGeom prst="rect">
            <a:avLst/>
          </a:prstGeom>
          <a:solidFill>
            <a:schemeClr val="bg1">
              <a:lumMod val="95000"/>
            </a:schemeClr>
          </a:solidFill>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dirty="0"/>
          </a:p>
        </p:txBody>
      </p:sp>
    </p:spTree>
    <p:extLst>
      <p:ext uri="{BB962C8B-B14F-4D97-AF65-F5344CB8AC3E}">
        <p14:creationId xmlns:p14="http://schemas.microsoft.com/office/powerpoint/2010/main" val="327021822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337591077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156929327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a:t>Drag picture to placeholder or click icon to add</a:t>
            </a:r>
            <a:endParaRPr lang="en-US" dirty="0"/>
          </a:p>
        </p:txBody>
      </p:sp>
    </p:spTree>
    <p:extLst>
      <p:ext uri="{BB962C8B-B14F-4D97-AF65-F5344CB8AC3E}">
        <p14:creationId xmlns:p14="http://schemas.microsoft.com/office/powerpoint/2010/main" val="34044623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 preserve="1">
  <p:cSld name="13_Blue Title Slide">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lang="en-US" dirty="0">
              <a:solidFill>
                <a:prstClr val="white"/>
              </a:solidFill>
            </a:endParaRPr>
          </a:p>
        </p:txBody>
      </p:sp>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 name="Title 1"/>
          <p:cNvSpPr>
            <a:spLocks noGrp="1"/>
          </p:cNvSpPr>
          <p:nvPr>
            <p:ph type="ctrTitle" hasCustomPrompt="1"/>
          </p:nvPr>
        </p:nvSpPr>
        <p:spPr>
          <a:xfrm>
            <a:off x="914400" y="3614237"/>
            <a:ext cx="10579608" cy="1645920"/>
          </a:xfrm>
        </p:spPr>
        <p:txBody>
          <a:bodyPr anchor="t">
            <a:normAutofit/>
          </a:bodyPr>
          <a:lstStyle>
            <a:lvl1pPr algn="l">
              <a:defRPr sz="5400">
                <a:solidFill>
                  <a:schemeClr val="bg1"/>
                </a:solidFill>
              </a:defRPr>
            </a:lvl1pPr>
          </a:lstStyle>
          <a:p>
            <a:r>
              <a:rPr lang="en-US" dirty="0"/>
              <a:t>Thank you.</a:t>
            </a:r>
          </a:p>
        </p:txBody>
      </p:sp>
      <p:sp>
        <p:nvSpPr>
          <p:cNvPr id="3" name="Subtitle 2"/>
          <p:cNvSpPr>
            <a:spLocks noGrp="1"/>
          </p:cNvSpPr>
          <p:nvPr>
            <p:ph type="subTitle" idx="1" hasCustomPrompt="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www.microfocus.com</a:t>
            </a:r>
            <a:endParaRPr lang="en-US" dirty="0"/>
          </a:p>
        </p:txBody>
      </p:sp>
    </p:spTree>
    <p:extLst>
      <p:ext uri="{BB962C8B-B14F-4D97-AF65-F5344CB8AC3E}">
        <p14:creationId xmlns:p14="http://schemas.microsoft.com/office/powerpoint/2010/main" val="425581917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 (28pt)</a:t>
            </a:r>
          </a:p>
        </p:txBody>
      </p:sp>
      <p:sp>
        <p:nvSpPr>
          <p:cNvPr id="9" name="Text Placeholder 8"/>
          <p:cNvSpPr>
            <a:spLocks noGrp="1"/>
          </p:cNvSpPr>
          <p:nvPr>
            <p:ph type="body" sz="quarter" idx="13" hasCustomPrompt="1"/>
          </p:nvPr>
        </p:nvSpPr>
        <p:spPr>
          <a:xfrm>
            <a:off x="1166287" y="1249433"/>
            <a:ext cx="10092264" cy="588892"/>
          </a:xfrm>
        </p:spPr>
        <p:txBody>
          <a:bodyPr anchor="t"/>
          <a:lstStyle>
            <a:lvl1pPr marL="0" indent="0">
              <a:lnSpc>
                <a:spcPct val="90000"/>
              </a:lnSpc>
              <a:spcBef>
                <a:spcPts val="0"/>
              </a:spcBef>
              <a:buNone/>
              <a:defRPr lang="en-US" sz="2000" b="1" kern="1200" baseline="0" smtClean="0">
                <a:solidFill>
                  <a:schemeClr val="accent1"/>
                </a:solidFill>
                <a:latin typeface="+mj-lt"/>
                <a:ea typeface="+mn-ea"/>
                <a:cs typeface="Arial" panose="020B060402020202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Click to edit subhead text (15pt)</a:t>
            </a:r>
          </a:p>
        </p:txBody>
      </p:sp>
      <p:sp>
        <p:nvSpPr>
          <p:cNvPr id="10" name="Content Placeholder 2"/>
          <p:cNvSpPr>
            <a:spLocks noGrp="1"/>
          </p:cNvSpPr>
          <p:nvPr>
            <p:ph idx="1" hasCustomPrompt="1"/>
          </p:nvPr>
        </p:nvSpPr>
        <p:spPr>
          <a:xfrm>
            <a:off x="954133" y="1819275"/>
            <a:ext cx="10304417" cy="4245885"/>
          </a:xfrm>
        </p:spPr>
        <p:txBody>
          <a:bodyPr/>
          <a:lstStyle>
            <a:lvl3pPr marL="304792" indent="-152396">
              <a:defRPr/>
            </a:lvl3pPr>
          </a:lstStyle>
          <a:p>
            <a:pPr lvl="0"/>
            <a:r>
              <a:rPr lang="en-US" dirty="0"/>
              <a:t>First level bullet (18pt)</a:t>
            </a:r>
          </a:p>
          <a:p>
            <a:pPr lvl="1"/>
            <a:r>
              <a:rPr lang="en-US" dirty="0"/>
              <a:t>Second level bullet (14pt)</a:t>
            </a:r>
          </a:p>
          <a:p>
            <a:pPr lvl="2"/>
            <a:r>
              <a:rPr lang="en-US" dirty="0"/>
              <a:t>Third level bullet (12pt)</a:t>
            </a:r>
          </a:p>
          <a:p>
            <a:pPr lvl="3"/>
            <a:r>
              <a:rPr lang="en-US" dirty="0"/>
              <a:t>Fourth level (11pt)</a:t>
            </a:r>
          </a:p>
          <a:p>
            <a:pPr lvl="4"/>
            <a:r>
              <a:rPr lang="en-US" dirty="0"/>
              <a:t>Fifth level (10pt)</a:t>
            </a:r>
          </a:p>
        </p:txBody>
      </p:sp>
      <p:sp>
        <p:nvSpPr>
          <p:cNvPr id="8"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Tree>
    <p:extLst>
      <p:ext uri="{BB962C8B-B14F-4D97-AF65-F5344CB8AC3E}">
        <p14:creationId xmlns:p14="http://schemas.microsoft.com/office/powerpoint/2010/main" val="8896864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Tree>
    <p:extLst>
      <p:ext uri="{BB962C8B-B14F-4D97-AF65-F5344CB8AC3E}">
        <p14:creationId xmlns:p14="http://schemas.microsoft.com/office/powerpoint/2010/main" val="86813074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rmAutofit/>
          </a:bodyPr>
          <a:lstStyle>
            <a:lvl1pPr>
              <a:defRPr/>
            </a:lvl1pPr>
          </a:lstStyle>
          <a:p>
            <a:r>
              <a:rPr lang="en-US" dirty="0"/>
              <a:t>Content + Subtitle</a:t>
            </a:r>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8" name="Text Placeholder 2"/>
          <p:cNvSpPr>
            <a:spLocks noGrp="1"/>
          </p:cNvSpPr>
          <p:nvPr>
            <p:ph idx="1"/>
          </p:nvPr>
        </p:nvSpPr>
        <p:spPr>
          <a:xfrm>
            <a:off x="946786" y="1728000"/>
            <a:ext cx="10311765" cy="44521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226263309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cSld name="Title Slide with Name">
    <p:bg>
      <p:bgPr>
        <a:gradFill>
          <a:gsLst>
            <a:gs pos="0">
              <a:schemeClr val="tx2">
                <a:lumMod val="80000"/>
                <a:lumOff val="20000"/>
              </a:schemeClr>
            </a:gs>
            <a:gs pos="37000">
              <a:schemeClr val="tx2">
                <a:lumMod val="90000"/>
                <a:lumOff val="10000"/>
              </a:schemeClr>
            </a:gs>
            <a:gs pos="100000">
              <a:srgbClr val="0056EF"/>
            </a:gs>
          </a:gsLst>
          <a:lin ang="2700000" scaled="0"/>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10000"/>
          </a:blip>
          <a:stretch>
            <a:fillRect/>
          </a:stretch>
        </p:blipFill>
        <p:spPr>
          <a:xfrm>
            <a:off x="-87780" y="0"/>
            <a:ext cx="11920244" cy="6858000"/>
          </a:xfrm>
          <a:prstGeom prst="rect">
            <a:avLst/>
          </a:prstGeom>
        </p:spPr>
      </p:pic>
      <p:sp>
        <p:nvSpPr>
          <p:cNvPr id="4" name="Rectangle 3"/>
          <p:cNvSpPr/>
          <p:nvPr userDrawn="1"/>
        </p:nvSpPr>
        <p:spPr>
          <a:xfrm>
            <a:off x="0" y="0"/>
            <a:ext cx="12204191" cy="6858000"/>
          </a:xfrm>
          <a:prstGeom prst="rect">
            <a:avLst/>
          </a:prstGeom>
          <a:gradFill flip="none" rotWithShape="1">
            <a:gsLst>
              <a:gs pos="0">
                <a:schemeClr val="accent4">
                  <a:alpha val="86000"/>
                </a:schemeClr>
              </a:gs>
              <a:gs pos="45000">
                <a:schemeClr val="tx2">
                  <a:alpha val="50000"/>
                </a:schemeClr>
              </a:gs>
              <a:gs pos="100000">
                <a:srgbClr val="0155E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defTabSz="914400">
              <a:defRPr>
                <a:solidFill>
                  <a:srgbClr val="FFFFFF"/>
                </a:solidFill>
              </a:defRPr>
            </a:pPr>
            <a:endParaRPr>
              <a:solidFill>
                <a:srgbClr val="FFFFFF"/>
              </a:solidFill>
            </a:endParaRPr>
          </a:p>
        </p:txBody>
      </p:sp>
    </p:spTree>
    <p:extLst>
      <p:ext uri="{BB962C8B-B14F-4D97-AF65-F5344CB8AC3E}">
        <p14:creationId xmlns:p14="http://schemas.microsoft.com/office/powerpoint/2010/main" val="5561645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dirty="0">
              <a:solidFill>
                <a:prstClr val="white">
                  <a:lumMod val="75000"/>
                </a:prstClr>
              </a:solidFill>
            </a:endParaRPr>
          </a:p>
        </p:txBody>
      </p:sp>
      <p:sp>
        <p:nvSpPr>
          <p:cNvPr id="7"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dirty="0">
              <a:solidFill>
                <a:srgbClr val="212E35">
                  <a:tint val="75000"/>
                </a:srgbClr>
              </a:solidFill>
            </a:endParaRPr>
          </a:p>
        </p:txBody>
      </p:sp>
    </p:spTree>
    <p:extLst>
      <p:ext uri="{BB962C8B-B14F-4D97-AF65-F5344CB8AC3E}">
        <p14:creationId xmlns:p14="http://schemas.microsoft.com/office/powerpoint/2010/main" val="90995593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cSld name="Logo Slide">
    <p:bg>
      <p:bgPr>
        <a:gradFill flip="none" rotWithShape="1">
          <a:gsLst>
            <a:gs pos="0">
              <a:schemeClr val="accent5"/>
            </a:gs>
            <a:gs pos="47000">
              <a:schemeClr val="tx2">
                <a:lumMod val="85000"/>
                <a:lumOff val="15000"/>
              </a:schemeClr>
            </a:gs>
            <a:gs pos="100000">
              <a:schemeClr val="accent2"/>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pPr defTabSz="914400"/>
              <a:endParaRPr lang="en-US" sz="2400">
                <a:solidFill>
                  <a:srgbClr val="212E35"/>
                </a:solidFill>
              </a:endParaRPr>
            </a:p>
          </p:txBody>
        </p:sp>
      </p:grpSp>
    </p:spTree>
    <p:extLst>
      <p:ext uri="{BB962C8B-B14F-4D97-AF65-F5344CB8AC3E}">
        <p14:creationId xmlns:p14="http://schemas.microsoft.com/office/powerpoint/2010/main" val="23150410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a:xfrm>
            <a:off x="838200" y="6356350"/>
            <a:ext cx="2743200" cy="365125"/>
          </a:xfrm>
          <a:prstGeom prst="rect">
            <a:avLst/>
          </a:prstGeom>
        </p:spPr>
        <p:txBody>
          <a:bodyPr/>
          <a:lstStyle/>
          <a:p>
            <a:pPr defTabSz="914400"/>
            <a:fld id="{8F030E74-B79E-47A7-AA1C-BA3D00CC0B4A}" type="datetime4">
              <a:rPr lang="en-US">
                <a:solidFill>
                  <a:prstClr val="black"/>
                </a:solidFill>
              </a:rPr>
              <a:pPr defTabSz="914400"/>
              <a:t>January 30, 2019</a:t>
            </a:fld>
            <a:endParaRPr>
              <a:solidFill>
                <a:prstClr val="black"/>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79921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Two Content and Headings">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rm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Column Title 20 </a:t>
            </a:r>
            <a:r>
              <a:rPr lang="en-US" err="1"/>
              <a:t>pt</a:t>
            </a:r>
            <a:r>
              <a:rPr lang="en-US"/>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a:t>First level 20 </a:t>
            </a:r>
            <a:r>
              <a:rPr lang="en-US" err="1"/>
              <a:t>pt</a:t>
            </a:r>
            <a:endParaRPr lang="en-US"/>
          </a:p>
          <a:p>
            <a:pPr lvl="1"/>
            <a:r>
              <a:rPr lang="en-US"/>
              <a:t>Second level 18 </a:t>
            </a:r>
            <a:r>
              <a:rPr lang="en-US" err="1"/>
              <a:t>pt</a:t>
            </a:r>
            <a:endParaRPr lang="en-US"/>
          </a:p>
          <a:p>
            <a:pPr lvl="2"/>
            <a:r>
              <a:rPr lang="en-US"/>
              <a:t>Third level 16 </a:t>
            </a:r>
            <a:r>
              <a:rPr lang="en-US" err="1"/>
              <a:t>pt</a:t>
            </a:r>
            <a:endParaRPr lang="en-US"/>
          </a:p>
          <a:p>
            <a:pPr lvl="3"/>
            <a:r>
              <a:rPr lang="en-US"/>
              <a:t>Fourth level - avoid</a:t>
            </a:r>
          </a:p>
          <a:p>
            <a:pPr lvl="4"/>
            <a:r>
              <a:rPr lang="en-US"/>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solidFill>
                  <a:prstClr val="white">
                    <a:lumMod val="75000"/>
                  </a:prstClr>
                </a:solidFill>
              </a:rPr>
              <a:pPr/>
              <a:t>‹#›</a:t>
            </a:fld>
            <a:endParaRPr lang="en-US">
              <a:solidFill>
                <a:prstClr val="white">
                  <a:lumMod val="75000"/>
                </a:prstClr>
              </a:solidFill>
            </a:endParaRPr>
          </a:p>
        </p:txBody>
      </p:sp>
      <p:sp>
        <p:nvSpPr>
          <p:cNvPr id="10"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a:t>Click to edit Master title style</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914400"/>
            <a:endParaRPr lang="en-GB">
              <a:solidFill>
                <a:srgbClr val="212E35">
                  <a:tint val="75000"/>
                </a:srgbClr>
              </a:solidFill>
            </a:endParaRPr>
          </a:p>
        </p:txBody>
      </p:sp>
    </p:spTree>
    <p:extLst>
      <p:ext uri="{BB962C8B-B14F-4D97-AF65-F5344CB8AC3E}">
        <p14:creationId xmlns:p14="http://schemas.microsoft.com/office/powerpoint/2010/main" val="3768671280"/>
      </p:ext>
    </p:extLst>
  </p:cSld>
  <p:clrMapOvr>
    <a:masterClrMapping/>
  </p:clrMapOvr>
  <p:extLst mod="1">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bwMode="black">
          <a:xfrm>
            <a:off x="441961" y="1001854"/>
            <a:ext cx="10822941" cy="369332"/>
          </a:xfrm>
          <a:prstGeom prst="rect">
            <a:avLst/>
          </a:prstGeom>
        </p:spPr>
        <p:txBody>
          <a:bodyPr>
            <a:noAutofit/>
          </a:bodyPr>
          <a:lstStyle>
            <a:lvl1pPr marL="0" indent="0" algn="l">
              <a:lnSpc>
                <a:spcPct val="100000"/>
              </a:lnSpc>
              <a:buNone/>
              <a:defRPr sz="2399" b="0" i="0">
                <a:solidFill>
                  <a:srgbClr val="000000"/>
                </a:solidFill>
                <a:latin typeface="HP Simplified" pitchFamily="34" charset="0"/>
                <a:cs typeface="HP Simplified" pitchFamily="34" charset="0"/>
              </a:defRPr>
            </a:lvl1pPr>
            <a:lvl2pPr marL="609448" indent="0" algn="ctr">
              <a:buNone/>
              <a:defRPr>
                <a:solidFill>
                  <a:schemeClr val="tx1">
                    <a:tint val="75000"/>
                  </a:schemeClr>
                </a:solidFill>
              </a:defRPr>
            </a:lvl2pPr>
            <a:lvl3pPr marL="1218895" indent="0" algn="ctr">
              <a:buNone/>
              <a:defRPr>
                <a:solidFill>
                  <a:schemeClr val="tx1">
                    <a:tint val="75000"/>
                  </a:schemeClr>
                </a:solidFill>
              </a:defRPr>
            </a:lvl3pPr>
            <a:lvl4pPr marL="1828343" indent="0" algn="ctr">
              <a:buNone/>
              <a:defRPr>
                <a:solidFill>
                  <a:schemeClr val="tx1">
                    <a:tint val="75000"/>
                  </a:schemeClr>
                </a:solidFill>
              </a:defRPr>
            </a:lvl4pPr>
            <a:lvl5pPr marL="2437790" indent="0" algn="ctr">
              <a:buNone/>
              <a:defRPr>
                <a:solidFill>
                  <a:schemeClr val="tx1">
                    <a:tint val="75000"/>
                  </a:schemeClr>
                </a:solidFill>
              </a:defRPr>
            </a:lvl5pPr>
            <a:lvl6pPr marL="3047238" indent="0" algn="ctr">
              <a:buNone/>
              <a:defRPr>
                <a:solidFill>
                  <a:schemeClr val="tx1">
                    <a:tint val="75000"/>
                  </a:schemeClr>
                </a:solidFill>
              </a:defRPr>
            </a:lvl6pPr>
            <a:lvl7pPr marL="3656686" indent="0" algn="ctr">
              <a:buNone/>
              <a:defRPr>
                <a:solidFill>
                  <a:schemeClr val="tx1">
                    <a:tint val="75000"/>
                  </a:schemeClr>
                </a:solidFill>
              </a:defRPr>
            </a:lvl7pPr>
            <a:lvl8pPr marL="4266133" indent="0" algn="ctr">
              <a:buNone/>
              <a:defRPr>
                <a:solidFill>
                  <a:schemeClr val="tx1">
                    <a:tint val="75000"/>
                  </a:schemeClr>
                </a:solidFill>
              </a:defRPr>
            </a:lvl8pPr>
            <a:lvl9pPr marL="4875581" indent="0" algn="ctr">
              <a:buNone/>
              <a:defRPr>
                <a:solidFill>
                  <a:schemeClr val="tx1">
                    <a:tint val="75000"/>
                  </a:schemeClr>
                </a:solidFill>
              </a:defRPr>
            </a:lvl9pPr>
          </a:lstStyle>
          <a:p>
            <a:r>
              <a:rPr lang="en-US" noProof="0"/>
              <a:t>Click to edit Master subtitle style</a:t>
            </a:r>
            <a:endParaRPr lang="en-US" noProof="0" dirty="0"/>
          </a:p>
        </p:txBody>
      </p:sp>
      <p:sp>
        <p:nvSpPr>
          <p:cNvPr id="7" name="Title 6"/>
          <p:cNvSpPr>
            <a:spLocks noGrp="1"/>
          </p:cNvSpPr>
          <p:nvPr>
            <p:ph type="title"/>
          </p:nvPr>
        </p:nvSpPr>
        <p:spPr bwMode="black">
          <a:xfrm>
            <a:off x="441961" y="313419"/>
            <a:ext cx="10822941" cy="574516"/>
          </a:xfrm>
        </p:spPr>
        <p:txBody>
          <a:bodyPr>
            <a:noAutofit/>
          </a:bodyPr>
          <a:lstStyle>
            <a:lvl1pPr>
              <a:defRPr b="1" i="0">
                <a:solidFill>
                  <a:srgbClr val="000000"/>
                </a:solidFill>
                <a:latin typeface="HP Simplified" pitchFamily="34" charset="0"/>
                <a:cs typeface="HP Simplified" pitchFamily="34" charset="0"/>
              </a:defRPr>
            </a:lvl1pPr>
          </a:lstStyle>
          <a:p>
            <a:r>
              <a:rPr lang="en-US" noProof="0"/>
              <a:t>Click to edit Master title style</a:t>
            </a:r>
            <a:endParaRPr lang="en-US" noProof="0" dirty="0"/>
          </a:p>
        </p:txBody>
      </p:sp>
      <p:sp>
        <p:nvSpPr>
          <p:cNvPr id="6" name="Content Placeholder 5"/>
          <p:cNvSpPr>
            <a:spLocks noGrp="1"/>
          </p:cNvSpPr>
          <p:nvPr>
            <p:ph sz="quarter" idx="10"/>
          </p:nvPr>
        </p:nvSpPr>
        <p:spPr>
          <a:xfrm>
            <a:off x="438913" y="1584962"/>
            <a:ext cx="10826496" cy="4305300"/>
          </a:xfrm>
        </p:spPr>
        <p:txBody>
          <a:bodyPr>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00075443"/>
      </p:ext>
    </p:extLst>
  </p:cSld>
  <p:clrMapOvr>
    <a:masterClrMapping/>
  </p:clrMapOvr>
  <p:hf hdr="0" ftr="0" dt="0"/>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pPr defTabSz="914400"/>
            <a:fld id="{1D654495-4BF5-4727-99D4-DFD1D0597350}" type="datetime4">
              <a:rPr lang="en-US" smtClean="0">
                <a:solidFill>
                  <a:prstClr val="black"/>
                </a:solidFill>
              </a:rPr>
              <a:pPr defTabSz="914400"/>
              <a:t>January 30, 2019</a:t>
            </a:fld>
            <a:endParaRPr>
              <a:solidFill>
                <a:prstClr val="black"/>
              </a:solidFill>
            </a:endParaRPr>
          </a:p>
        </p:txBody>
      </p:sp>
      <p:sp>
        <p:nvSpPr>
          <p:cNvPr id="5" name="Footer Placeholder 4"/>
          <p:cNvSpPr>
            <a:spLocks noGrp="1"/>
          </p:cNvSpPr>
          <p:nvPr>
            <p:ph type="ftr" sz="quarter" idx="11"/>
          </p:nvPr>
        </p:nvSpPr>
        <p:spPr>
          <a:xfrm>
            <a:off x="6934200" y="6426104"/>
            <a:ext cx="4025198" cy="210312"/>
          </a:xfrm>
          <a:prstGeom prst="rect">
            <a:avLst/>
          </a:prstGeom>
        </p:spPr>
        <p:txBody>
          <a:bodyPr/>
          <a:lstStyle/>
          <a:p>
            <a:pPr defTabSz="914400"/>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73536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x">
  <p:cSld name="3_Title Only - Strategy">
    <p:bg>
      <p:bgPr>
        <a:solidFill>
          <a:srgbClr val="FFFFFF"/>
        </a:solidFill>
        <a:effectLst/>
      </p:bgPr>
    </p:bg>
    <p:spTree>
      <p:nvGrpSpPr>
        <p:cNvPr id="1" name=""/>
        <p:cNvGrpSpPr/>
        <p:nvPr/>
      </p:nvGrpSpPr>
      <p:grpSpPr>
        <a:xfrm>
          <a:off x="0" y="0"/>
          <a:ext cx="0" cy="0"/>
          <a:chOff x="0" y="0"/>
          <a:chExt cx="0" cy="0"/>
        </a:xfrm>
      </p:grpSpPr>
      <p:pic>
        <p:nvPicPr>
          <p:cNvPr id="741" name="Picture 3" descr="Picture 3"/>
          <p:cNvPicPr>
            <a:picLocks noChangeAspect="1"/>
          </p:cNvPicPr>
          <p:nvPr/>
        </p:nvPicPr>
        <p:blipFill>
          <a:blip r:embed="rId2">
            <a:alphaModFix amt="28000"/>
            <a:extLst/>
          </a:blip>
          <a:srcRect r="224" b="416"/>
          <a:stretch>
            <a:fillRect/>
          </a:stretch>
        </p:blipFill>
        <p:spPr>
          <a:xfrm rot="10800000">
            <a:off x="-25400" y="-1"/>
            <a:ext cx="12217401" cy="6858001"/>
          </a:xfrm>
          <a:prstGeom prst="rect">
            <a:avLst/>
          </a:prstGeom>
          <a:ln w="12700">
            <a:miter lim="400000"/>
          </a:ln>
        </p:spPr>
      </p:pic>
      <p:sp>
        <p:nvSpPr>
          <p:cNvPr id="742" name="Rectangle 4"/>
          <p:cNvSpPr/>
          <p:nvPr/>
        </p:nvSpPr>
        <p:spPr>
          <a:xfrm>
            <a:off x="-25400" y="-2"/>
            <a:ext cx="12217400" cy="6858001"/>
          </a:xfrm>
          <a:prstGeom prst="rect">
            <a:avLst/>
          </a:prstGeom>
          <a:gradFill>
            <a:gsLst>
              <a:gs pos="42000">
                <a:srgbClr val="FFFFFF">
                  <a:alpha val="98000"/>
                </a:srgbClr>
              </a:gs>
              <a:gs pos="84000">
                <a:srgbClr val="FFFFFF">
                  <a:alpha val="43000"/>
                </a:srgbClr>
              </a:gs>
            </a:gsLst>
            <a:lin ang="2639999"/>
          </a:gradFill>
          <a:ln w="12700">
            <a:miter lim="400000"/>
          </a:ln>
        </p:spPr>
        <p:txBody>
          <a:bodyPr lIns="45719" rIns="45719" anchor="ctr"/>
          <a:lstStyle/>
          <a:p>
            <a:pPr algn="ctr">
              <a:defRPr>
                <a:solidFill>
                  <a:srgbClr val="FFFFFF"/>
                </a:solidFill>
              </a:defRPr>
            </a:pPr>
            <a:endParaRPr>
              <a:solidFill>
                <a:srgbClr val="FFFFFF"/>
              </a:solidFill>
            </a:endParaRPr>
          </a:p>
        </p:txBody>
      </p:sp>
      <p:sp>
        <p:nvSpPr>
          <p:cNvPr id="743" name="Title Text"/>
          <p:cNvSpPr txBox="1">
            <a:spLocks noGrp="1"/>
          </p:cNvSpPr>
          <p:nvPr>
            <p:ph type="title"/>
          </p:nvPr>
        </p:nvSpPr>
        <p:spPr>
          <a:xfrm>
            <a:off x="946785" y="429272"/>
            <a:ext cx="10311766" cy="974663"/>
          </a:xfrm>
          <a:prstGeom prst="rect">
            <a:avLst/>
          </a:prstGeom>
        </p:spPr>
        <p:txBody>
          <a:bodyPr/>
          <a:lstStyle/>
          <a:p>
            <a:r>
              <a:rPr lang="en-US"/>
              <a:t>Click to edit Master title style</a:t>
            </a:r>
            <a:endParaRPr/>
          </a:p>
        </p:txBody>
      </p:sp>
      <p:sp>
        <p:nvSpPr>
          <p:cNvPr id="744" name="Slide Number"/>
          <p:cNvSpPr txBox="1">
            <a:spLocks noGrp="1"/>
          </p:cNvSpPr>
          <p:nvPr>
            <p:ph type="sldNum" sz="quarter" idx="2"/>
          </p:nvPr>
        </p:nvSpPr>
        <p:spPr>
          <a:xfrm>
            <a:off x="231632" y="6406532"/>
            <a:ext cx="245750" cy="256541"/>
          </a:xfrm>
          <a:prstGeom prst="rect">
            <a:avLst/>
          </a:prstGeom>
        </p:spPr>
        <p:txBody>
          <a:bodyPr/>
          <a:lstStyle/>
          <a:p>
            <a:fld id="{86CB4B4D-7CA3-9044-876B-883B54F8677D}" type="slidenum">
              <a:rPr>
                <a:solidFill>
                  <a:prstClr val="white">
                    <a:lumMod val="75000"/>
                  </a:prstClr>
                </a:solidFill>
              </a:rPr>
              <a:pPr/>
              <a:t>‹#›</a:t>
            </a:fld>
            <a:endParaRPr>
              <a:solidFill>
                <a:prstClr val="white">
                  <a:lumMod val="75000"/>
                </a:prstClr>
              </a:solidFill>
            </a:endParaRPr>
          </a:p>
        </p:txBody>
      </p:sp>
      <p:grpSp>
        <p:nvGrpSpPr>
          <p:cNvPr id="758" name="Group 5"/>
          <p:cNvGrpSpPr/>
          <p:nvPr/>
        </p:nvGrpSpPr>
        <p:grpSpPr>
          <a:xfrm>
            <a:off x="11311010" y="6527385"/>
            <a:ext cx="740367" cy="179272"/>
            <a:chOff x="0" y="0"/>
            <a:chExt cx="740366" cy="179271"/>
          </a:xfrm>
        </p:grpSpPr>
        <p:sp>
          <p:nvSpPr>
            <p:cNvPr id="745" name="Freeform 5"/>
            <p:cNvSpPr/>
            <p:nvPr/>
          </p:nvSpPr>
          <p:spPr>
            <a:xfrm>
              <a:off x="-1" y="37251"/>
              <a:ext cx="142021" cy="1420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5311" y="0"/>
                  </a:lnTo>
                  <a:lnTo>
                    <a:pt x="5311" y="16289"/>
                  </a:lnTo>
                  <a:lnTo>
                    <a:pt x="21600" y="16289"/>
                  </a:lnTo>
                  <a:lnTo>
                    <a:pt x="21600" y="21600"/>
                  </a:lnTo>
                  <a:lnTo>
                    <a:pt x="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6" name="Freeform 6"/>
            <p:cNvSpPr/>
            <p:nvPr/>
          </p:nvSpPr>
          <p:spPr>
            <a:xfrm>
              <a:off x="34922" y="4656"/>
              <a:ext cx="142021" cy="139693"/>
            </a:xfrm>
            <a:custGeom>
              <a:avLst/>
              <a:gdLst/>
              <a:ahLst/>
              <a:cxnLst>
                <a:cxn ang="0">
                  <a:pos x="wd2" y="hd2"/>
                </a:cxn>
                <a:cxn ang="5400000">
                  <a:pos x="wd2" y="hd2"/>
                </a:cxn>
                <a:cxn ang="10800000">
                  <a:pos x="wd2" y="hd2"/>
                </a:cxn>
                <a:cxn ang="16200000">
                  <a:pos x="wd2" y="hd2"/>
                </a:cxn>
              </a:cxnLst>
              <a:rect l="0" t="0" r="r" b="b"/>
              <a:pathLst>
                <a:path w="21600" h="21600" extrusionOk="0">
                  <a:moveTo>
                    <a:pt x="0" y="5040"/>
                  </a:moveTo>
                  <a:lnTo>
                    <a:pt x="0" y="0"/>
                  </a:lnTo>
                  <a:lnTo>
                    <a:pt x="21600" y="0"/>
                  </a:lnTo>
                  <a:lnTo>
                    <a:pt x="21600" y="21600"/>
                  </a:lnTo>
                  <a:lnTo>
                    <a:pt x="16289" y="21600"/>
                  </a:lnTo>
                  <a:lnTo>
                    <a:pt x="16289" y="5040"/>
                  </a:lnTo>
                  <a:lnTo>
                    <a:pt x="0" y="504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7" name="Freeform 7"/>
            <p:cNvSpPr/>
            <p:nvPr/>
          </p:nvSpPr>
          <p:spPr>
            <a:xfrm>
              <a:off x="216522" y="4656"/>
              <a:ext cx="81487"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7897" y="0"/>
                  </a:lnTo>
                  <a:lnTo>
                    <a:pt x="11109" y="10800"/>
                  </a:lnTo>
                  <a:lnTo>
                    <a:pt x="4320" y="0"/>
                  </a:lnTo>
                  <a:lnTo>
                    <a:pt x="0" y="0"/>
                  </a:lnTo>
                  <a:lnTo>
                    <a:pt x="0" y="21600"/>
                  </a:lnTo>
                  <a:lnTo>
                    <a:pt x="4320" y="21600"/>
                  </a:lnTo>
                  <a:lnTo>
                    <a:pt x="4320" y="7425"/>
                  </a:lnTo>
                  <a:lnTo>
                    <a:pt x="9874" y="16200"/>
                  </a:lnTo>
                  <a:lnTo>
                    <a:pt x="12343" y="16200"/>
                  </a:lnTo>
                  <a:lnTo>
                    <a:pt x="17897" y="7425"/>
                  </a:lnTo>
                  <a:lnTo>
                    <a:pt x="17897" y="21600"/>
                  </a:lnTo>
                  <a:lnTo>
                    <a:pt x="21600" y="2160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8" name="Freeform 8"/>
            <p:cNvSpPr/>
            <p:nvPr/>
          </p:nvSpPr>
          <p:spPr>
            <a:xfrm>
              <a:off x="337588" y="4656"/>
              <a:ext cx="13970" cy="74503"/>
            </a:xfrm>
            <a:prstGeom prst="rect">
              <a:avLst/>
            </a:pr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49" name="Freeform 9"/>
            <p:cNvSpPr/>
            <p:nvPr/>
          </p:nvSpPr>
          <p:spPr>
            <a:xfrm>
              <a:off x="391136" y="4656"/>
              <a:ext cx="72175"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14850"/>
                  </a:lnTo>
                  <a:lnTo>
                    <a:pt x="17419" y="14850"/>
                  </a:lnTo>
                  <a:lnTo>
                    <a:pt x="17419" y="17550"/>
                  </a:lnTo>
                  <a:lnTo>
                    <a:pt x="4181" y="17550"/>
                  </a:lnTo>
                  <a:lnTo>
                    <a:pt x="4181" y="4050"/>
                  </a:lnTo>
                  <a:lnTo>
                    <a:pt x="17419" y="4050"/>
                  </a:lnTo>
                  <a:lnTo>
                    <a:pt x="17419" y="6075"/>
                  </a:lnTo>
                  <a:lnTo>
                    <a:pt x="21600" y="6750"/>
                  </a:lnTo>
                  <a:lnTo>
                    <a:pt x="21600" y="0"/>
                  </a:lnTo>
                  <a:lnTo>
                    <a:pt x="0" y="0"/>
                  </a:lnTo>
                  <a:lnTo>
                    <a:pt x="0" y="20925"/>
                  </a:lnTo>
                  <a:lnTo>
                    <a:pt x="2090" y="21600"/>
                  </a:lnTo>
                  <a:lnTo>
                    <a:pt x="19510" y="21600"/>
                  </a:lnTo>
                  <a:lnTo>
                    <a:pt x="21600" y="20925"/>
                  </a:lnTo>
                  <a:lnTo>
                    <a:pt x="21600" y="19575"/>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0" name="Freeform 10"/>
            <p:cNvSpPr/>
            <p:nvPr/>
          </p:nvSpPr>
          <p:spPr>
            <a:xfrm>
              <a:off x="502890"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4850" y="12825"/>
                  </a:lnTo>
                  <a:lnTo>
                    <a:pt x="19575" y="12825"/>
                  </a:lnTo>
                  <a:lnTo>
                    <a:pt x="20925" y="12150"/>
                  </a:lnTo>
                  <a:lnTo>
                    <a:pt x="21600" y="10800"/>
                  </a:lnTo>
                  <a:lnTo>
                    <a:pt x="21600" y="2025"/>
                  </a:lnTo>
                  <a:lnTo>
                    <a:pt x="20925" y="0"/>
                  </a:lnTo>
                  <a:lnTo>
                    <a:pt x="0" y="0"/>
                  </a:lnTo>
                  <a:lnTo>
                    <a:pt x="0" y="21600"/>
                  </a:lnTo>
                  <a:lnTo>
                    <a:pt x="4050" y="21600"/>
                  </a:lnTo>
                  <a:lnTo>
                    <a:pt x="4050" y="12825"/>
                  </a:lnTo>
                  <a:lnTo>
                    <a:pt x="9450" y="12825"/>
                  </a:lnTo>
                  <a:lnTo>
                    <a:pt x="16200" y="21600"/>
                  </a:lnTo>
                  <a:lnTo>
                    <a:pt x="21600" y="21600"/>
                  </a:lnTo>
                  <a:close/>
                  <a:moveTo>
                    <a:pt x="4050" y="4050"/>
                  </a:moveTo>
                  <a:lnTo>
                    <a:pt x="16875" y="4050"/>
                  </a:lnTo>
                  <a:lnTo>
                    <a:pt x="16875" y="8775"/>
                  </a:lnTo>
                  <a:lnTo>
                    <a:pt x="4050" y="8775"/>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1" name="Freeform 11"/>
            <p:cNvSpPr/>
            <p:nvPr/>
          </p:nvSpPr>
          <p:spPr>
            <a:xfrm>
              <a:off x="614643" y="4656"/>
              <a:ext cx="74503" cy="74503"/>
            </a:xfrm>
            <a:custGeom>
              <a:avLst/>
              <a:gdLst/>
              <a:ahLst/>
              <a:cxnLst>
                <a:cxn ang="0">
                  <a:pos x="wd2" y="hd2"/>
                </a:cxn>
                <a:cxn ang="5400000">
                  <a:pos x="wd2" y="hd2"/>
                </a:cxn>
                <a:cxn ang="10800000">
                  <a:pos x="wd2" y="hd2"/>
                </a:cxn>
                <a:cxn ang="16200000">
                  <a:pos x="wd2" y="hd2"/>
                </a:cxn>
              </a:cxnLst>
              <a:rect l="0" t="0" r="r" b="b"/>
              <a:pathLst>
                <a:path w="21600" h="21600" extrusionOk="0">
                  <a:moveTo>
                    <a:pt x="21600" y="19575"/>
                  </a:moveTo>
                  <a:lnTo>
                    <a:pt x="21600" y="2025"/>
                  </a:lnTo>
                  <a:lnTo>
                    <a:pt x="20925" y="0"/>
                  </a:lnTo>
                  <a:lnTo>
                    <a:pt x="675" y="0"/>
                  </a:lnTo>
                  <a:lnTo>
                    <a:pt x="0" y="2025"/>
                  </a:lnTo>
                  <a:lnTo>
                    <a:pt x="0" y="19575"/>
                  </a:lnTo>
                  <a:lnTo>
                    <a:pt x="675" y="20925"/>
                  </a:lnTo>
                  <a:lnTo>
                    <a:pt x="2025" y="21600"/>
                  </a:lnTo>
                  <a:lnTo>
                    <a:pt x="19575" y="21600"/>
                  </a:lnTo>
                  <a:lnTo>
                    <a:pt x="20925" y="20925"/>
                  </a:lnTo>
                  <a:lnTo>
                    <a:pt x="21600" y="19575"/>
                  </a:lnTo>
                  <a:close/>
                  <a:moveTo>
                    <a:pt x="4050" y="4050"/>
                  </a:moveTo>
                  <a:lnTo>
                    <a:pt x="17550" y="4050"/>
                  </a:lnTo>
                  <a:lnTo>
                    <a:pt x="17550" y="17550"/>
                  </a:lnTo>
                  <a:lnTo>
                    <a:pt x="4050" y="17550"/>
                  </a:lnTo>
                  <a:lnTo>
                    <a:pt x="4050" y="4050"/>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2" name="Freeform 12"/>
            <p:cNvSpPr/>
            <p:nvPr/>
          </p:nvSpPr>
          <p:spPr>
            <a:xfrm>
              <a:off x="216522"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4582"/>
                  </a:moveTo>
                  <a:lnTo>
                    <a:pt x="21600" y="0"/>
                  </a:lnTo>
                  <a:lnTo>
                    <a:pt x="0" y="0"/>
                  </a:lnTo>
                  <a:lnTo>
                    <a:pt x="0" y="21600"/>
                  </a:lnTo>
                  <a:lnTo>
                    <a:pt x="4725" y="21600"/>
                  </a:lnTo>
                  <a:lnTo>
                    <a:pt x="4725" y="13091"/>
                  </a:lnTo>
                  <a:lnTo>
                    <a:pt x="17550" y="13091"/>
                  </a:lnTo>
                  <a:lnTo>
                    <a:pt x="17550" y="8509"/>
                  </a:lnTo>
                  <a:lnTo>
                    <a:pt x="4725" y="8509"/>
                  </a:lnTo>
                  <a:lnTo>
                    <a:pt x="4725" y="4582"/>
                  </a:lnTo>
                  <a:lnTo>
                    <a:pt x="2160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3" name="Freeform 13"/>
            <p:cNvSpPr/>
            <p:nvPr/>
          </p:nvSpPr>
          <p:spPr>
            <a:xfrm>
              <a:off x="311978"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2618"/>
                  </a:lnTo>
                  <a:lnTo>
                    <a:pt x="20925" y="655"/>
                  </a:lnTo>
                  <a:lnTo>
                    <a:pt x="19575" y="0"/>
                  </a:lnTo>
                  <a:lnTo>
                    <a:pt x="2025" y="0"/>
                  </a:lnTo>
                  <a:lnTo>
                    <a:pt x="675" y="655"/>
                  </a:lnTo>
                  <a:lnTo>
                    <a:pt x="0" y="2618"/>
                  </a:lnTo>
                  <a:lnTo>
                    <a:pt x="0" y="19636"/>
                  </a:lnTo>
                  <a:lnTo>
                    <a:pt x="675" y="20945"/>
                  </a:lnTo>
                  <a:lnTo>
                    <a:pt x="2025" y="21600"/>
                  </a:lnTo>
                  <a:lnTo>
                    <a:pt x="19575" y="21600"/>
                  </a:lnTo>
                  <a:lnTo>
                    <a:pt x="20925" y="20945"/>
                  </a:lnTo>
                  <a:lnTo>
                    <a:pt x="21600" y="19636"/>
                  </a:lnTo>
                  <a:close/>
                  <a:moveTo>
                    <a:pt x="4050" y="4582"/>
                  </a:moveTo>
                  <a:lnTo>
                    <a:pt x="17550" y="4582"/>
                  </a:lnTo>
                  <a:lnTo>
                    <a:pt x="17550" y="17018"/>
                  </a:lnTo>
                  <a:lnTo>
                    <a:pt x="4050" y="17018"/>
                  </a:lnTo>
                  <a:lnTo>
                    <a:pt x="4050" y="4582"/>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4" name="Freeform 14"/>
            <p:cNvSpPr/>
            <p:nvPr/>
          </p:nvSpPr>
          <p:spPr>
            <a:xfrm>
              <a:off x="412090"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4400"/>
                  </a:lnTo>
                  <a:lnTo>
                    <a:pt x="17550" y="15055"/>
                  </a:lnTo>
                  <a:lnTo>
                    <a:pt x="17550" y="17018"/>
                  </a:lnTo>
                  <a:lnTo>
                    <a:pt x="4725" y="17018"/>
                  </a:lnTo>
                  <a:lnTo>
                    <a:pt x="4725" y="4582"/>
                  </a:lnTo>
                  <a:lnTo>
                    <a:pt x="17550" y="4582"/>
                  </a:lnTo>
                  <a:lnTo>
                    <a:pt x="17550" y="6545"/>
                  </a:lnTo>
                  <a:lnTo>
                    <a:pt x="21600" y="7200"/>
                  </a:lnTo>
                  <a:lnTo>
                    <a:pt x="21600" y="2618"/>
                  </a:lnTo>
                  <a:lnTo>
                    <a:pt x="20925" y="655"/>
                  </a:lnTo>
                  <a:lnTo>
                    <a:pt x="19575" y="0"/>
                  </a:lnTo>
                  <a:lnTo>
                    <a:pt x="2700" y="0"/>
                  </a:lnTo>
                  <a:lnTo>
                    <a:pt x="675" y="655"/>
                  </a:lnTo>
                  <a:lnTo>
                    <a:pt x="0" y="2618"/>
                  </a:lnTo>
                  <a:lnTo>
                    <a:pt x="0" y="19636"/>
                  </a:lnTo>
                  <a:lnTo>
                    <a:pt x="675" y="20945"/>
                  </a:lnTo>
                  <a:lnTo>
                    <a:pt x="2700"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5" name="Freeform 15"/>
            <p:cNvSpPr/>
            <p:nvPr/>
          </p:nvSpPr>
          <p:spPr>
            <a:xfrm>
              <a:off x="514531"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0"/>
                  </a:lnTo>
                  <a:lnTo>
                    <a:pt x="16875" y="0"/>
                  </a:lnTo>
                  <a:lnTo>
                    <a:pt x="16875" y="17018"/>
                  </a:lnTo>
                  <a:lnTo>
                    <a:pt x="4050" y="17018"/>
                  </a:lnTo>
                  <a:lnTo>
                    <a:pt x="4050" y="0"/>
                  </a:lnTo>
                  <a:lnTo>
                    <a:pt x="0" y="0"/>
                  </a:lnTo>
                  <a:lnTo>
                    <a:pt x="0" y="19636"/>
                  </a:lnTo>
                  <a:lnTo>
                    <a:pt x="675" y="20945"/>
                  </a:lnTo>
                  <a:lnTo>
                    <a:pt x="2025" y="21600"/>
                  </a:lnTo>
                  <a:lnTo>
                    <a:pt x="18900"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6" name="Freeform 16"/>
            <p:cNvSpPr/>
            <p:nvPr/>
          </p:nvSpPr>
          <p:spPr>
            <a:xfrm>
              <a:off x="614643" y="102440"/>
              <a:ext cx="74503" cy="76832"/>
            </a:xfrm>
            <a:custGeom>
              <a:avLst/>
              <a:gdLst/>
              <a:ahLst/>
              <a:cxnLst>
                <a:cxn ang="0">
                  <a:pos x="wd2" y="hd2"/>
                </a:cxn>
                <a:cxn ang="5400000">
                  <a:pos x="wd2" y="hd2"/>
                </a:cxn>
                <a:cxn ang="10800000">
                  <a:pos x="wd2" y="hd2"/>
                </a:cxn>
                <a:cxn ang="16200000">
                  <a:pos x="wd2" y="hd2"/>
                </a:cxn>
              </a:cxnLst>
              <a:rect l="0" t="0" r="r" b="b"/>
              <a:pathLst>
                <a:path w="21600" h="21600" extrusionOk="0">
                  <a:moveTo>
                    <a:pt x="21600" y="19636"/>
                  </a:moveTo>
                  <a:lnTo>
                    <a:pt x="21600" y="11127"/>
                  </a:lnTo>
                  <a:lnTo>
                    <a:pt x="20925" y="9164"/>
                  </a:lnTo>
                  <a:lnTo>
                    <a:pt x="19575" y="8509"/>
                  </a:lnTo>
                  <a:lnTo>
                    <a:pt x="4050" y="8509"/>
                  </a:lnTo>
                  <a:lnTo>
                    <a:pt x="4050" y="4582"/>
                  </a:lnTo>
                  <a:lnTo>
                    <a:pt x="17550" y="4582"/>
                  </a:lnTo>
                  <a:lnTo>
                    <a:pt x="17550" y="6545"/>
                  </a:lnTo>
                  <a:lnTo>
                    <a:pt x="21600" y="7200"/>
                  </a:lnTo>
                  <a:lnTo>
                    <a:pt x="21600" y="2618"/>
                  </a:lnTo>
                  <a:lnTo>
                    <a:pt x="20925" y="655"/>
                  </a:lnTo>
                  <a:lnTo>
                    <a:pt x="19575" y="0"/>
                  </a:lnTo>
                  <a:lnTo>
                    <a:pt x="2025" y="0"/>
                  </a:lnTo>
                  <a:lnTo>
                    <a:pt x="675" y="655"/>
                  </a:lnTo>
                  <a:lnTo>
                    <a:pt x="0" y="2618"/>
                  </a:lnTo>
                  <a:lnTo>
                    <a:pt x="0" y="10473"/>
                  </a:lnTo>
                  <a:lnTo>
                    <a:pt x="675" y="12436"/>
                  </a:lnTo>
                  <a:lnTo>
                    <a:pt x="2025" y="13091"/>
                  </a:lnTo>
                  <a:lnTo>
                    <a:pt x="17550" y="13091"/>
                  </a:lnTo>
                  <a:lnTo>
                    <a:pt x="17550" y="17018"/>
                  </a:lnTo>
                  <a:lnTo>
                    <a:pt x="4050" y="17018"/>
                  </a:lnTo>
                  <a:lnTo>
                    <a:pt x="4050" y="15055"/>
                  </a:lnTo>
                  <a:lnTo>
                    <a:pt x="0" y="14400"/>
                  </a:lnTo>
                  <a:lnTo>
                    <a:pt x="0" y="19636"/>
                  </a:lnTo>
                  <a:lnTo>
                    <a:pt x="675" y="20945"/>
                  </a:lnTo>
                  <a:lnTo>
                    <a:pt x="2025" y="21600"/>
                  </a:lnTo>
                  <a:lnTo>
                    <a:pt x="19575" y="21600"/>
                  </a:lnTo>
                  <a:lnTo>
                    <a:pt x="20925" y="20945"/>
                  </a:lnTo>
                  <a:lnTo>
                    <a:pt x="21600" y="19636"/>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sp>
          <p:nvSpPr>
            <p:cNvPr id="757" name="Freeform 17"/>
            <p:cNvSpPr/>
            <p:nvPr/>
          </p:nvSpPr>
          <p:spPr>
            <a:xfrm>
              <a:off x="707771" y="-1"/>
              <a:ext cx="32596" cy="3259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6171" y="20057"/>
                  </a:lnTo>
                  <a:lnTo>
                    <a:pt x="3086" y="18514"/>
                  </a:lnTo>
                  <a:lnTo>
                    <a:pt x="0" y="13886"/>
                  </a:lnTo>
                  <a:lnTo>
                    <a:pt x="0" y="6171"/>
                  </a:lnTo>
                  <a:lnTo>
                    <a:pt x="6171" y="0"/>
                  </a:lnTo>
                  <a:lnTo>
                    <a:pt x="13886" y="0"/>
                  </a:lnTo>
                  <a:lnTo>
                    <a:pt x="18514" y="3086"/>
                  </a:lnTo>
                  <a:lnTo>
                    <a:pt x="20057" y="6171"/>
                  </a:lnTo>
                  <a:lnTo>
                    <a:pt x="21600" y="10800"/>
                  </a:lnTo>
                  <a:lnTo>
                    <a:pt x="20057" y="13886"/>
                  </a:lnTo>
                  <a:lnTo>
                    <a:pt x="18514" y="18514"/>
                  </a:lnTo>
                  <a:lnTo>
                    <a:pt x="13886" y="20057"/>
                  </a:lnTo>
                  <a:lnTo>
                    <a:pt x="10800" y="21600"/>
                  </a:lnTo>
                  <a:close/>
                  <a:moveTo>
                    <a:pt x="10800" y="0"/>
                  </a:moveTo>
                  <a:lnTo>
                    <a:pt x="6171" y="1543"/>
                  </a:lnTo>
                  <a:lnTo>
                    <a:pt x="3086" y="3086"/>
                  </a:lnTo>
                  <a:lnTo>
                    <a:pt x="1543" y="6171"/>
                  </a:lnTo>
                  <a:lnTo>
                    <a:pt x="0" y="10800"/>
                  </a:lnTo>
                  <a:lnTo>
                    <a:pt x="3086" y="16971"/>
                  </a:lnTo>
                  <a:lnTo>
                    <a:pt x="6171" y="18514"/>
                  </a:lnTo>
                  <a:lnTo>
                    <a:pt x="10800" y="20057"/>
                  </a:lnTo>
                  <a:lnTo>
                    <a:pt x="16971" y="16971"/>
                  </a:lnTo>
                  <a:lnTo>
                    <a:pt x="20057" y="10800"/>
                  </a:lnTo>
                  <a:lnTo>
                    <a:pt x="18514" y="6171"/>
                  </a:lnTo>
                  <a:lnTo>
                    <a:pt x="16971" y="3086"/>
                  </a:lnTo>
                  <a:lnTo>
                    <a:pt x="10800" y="0"/>
                  </a:lnTo>
                  <a:close/>
                  <a:moveTo>
                    <a:pt x="12343" y="16971"/>
                  </a:moveTo>
                  <a:lnTo>
                    <a:pt x="10800" y="10800"/>
                  </a:lnTo>
                  <a:lnTo>
                    <a:pt x="7714" y="10800"/>
                  </a:lnTo>
                  <a:lnTo>
                    <a:pt x="7714" y="16971"/>
                  </a:lnTo>
                  <a:lnTo>
                    <a:pt x="6171" y="16971"/>
                  </a:lnTo>
                  <a:lnTo>
                    <a:pt x="6171" y="3086"/>
                  </a:lnTo>
                  <a:lnTo>
                    <a:pt x="10800" y="3086"/>
                  </a:lnTo>
                  <a:lnTo>
                    <a:pt x="13886" y="4629"/>
                  </a:lnTo>
                  <a:lnTo>
                    <a:pt x="13886" y="9257"/>
                  </a:lnTo>
                  <a:lnTo>
                    <a:pt x="12343" y="10800"/>
                  </a:lnTo>
                  <a:lnTo>
                    <a:pt x="13886" y="16971"/>
                  </a:lnTo>
                  <a:lnTo>
                    <a:pt x="12343" y="16971"/>
                  </a:lnTo>
                  <a:close/>
                  <a:moveTo>
                    <a:pt x="7714" y="9257"/>
                  </a:moveTo>
                  <a:lnTo>
                    <a:pt x="12343" y="9257"/>
                  </a:lnTo>
                  <a:lnTo>
                    <a:pt x="12343" y="6171"/>
                  </a:lnTo>
                  <a:lnTo>
                    <a:pt x="9257" y="4629"/>
                  </a:lnTo>
                  <a:lnTo>
                    <a:pt x="7714" y="4629"/>
                  </a:lnTo>
                  <a:lnTo>
                    <a:pt x="7714" y="9257"/>
                  </a:lnTo>
                  <a:close/>
                </a:path>
              </a:pathLst>
            </a:custGeom>
            <a:solidFill>
              <a:srgbClr val="BFBFBF"/>
            </a:solidFill>
            <a:ln w="12700" cap="flat">
              <a:noFill/>
              <a:miter lim="400000"/>
            </a:ln>
            <a:effectLst/>
          </p:spPr>
          <p:txBody>
            <a:bodyPr wrap="square" lIns="45719" tIns="45719" rIns="45719" bIns="45719" numCol="1" anchor="t">
              <a:noAutofit/>
            </a:bodyPr>
            <a:lstStyle/>
            <a:p>
              <a:endParaRPr>
                <a:solidFill>
                  <a:srgbClr val="000000"/>
                </a:solidFill>
              </a:endParaRPr>
            </a:p>
          </p:txBody>
        </p:sp>
      </p:grpSp>
      <p:sp>
        <p:nvSpPr>
          <p:cNvPr id="759" name="Rectangle 20"/>
          <p:cNvSpPr/>
          <p:nvPr/>
        </p:nvSpPr>
        <p:spPr>
          <a:xfrm>
            <a:off x="1048005" y="0"/>
            <a:ext cx="1799696" cy="151844"/>
          </a:xfrm>
          <a:prstGeom prst="rect">
            <a:avLst/>
          </a:prstGeom>
          <a:solidFill>
            <a:srgbClr val="231CA5"/>
          </a:solidFill>
          <a:ln w="12700">
            <a:miter lim="400000"/>
          </a:ln>
        </p:spPr>
        <p:txBody>
          <a:bodyPr lIns="45719" rIns="45719" anchor="ctr"/>
          <a:lstStyle/>
          <a:p>
            <a:pPr algn="ctr">
              <a:defRPr>
                <a:solidFill>
                  <a:srgbClr val="FFFFFF"/>
                </a:solidFill>
              </a:defRPr>
            </a:pPr>
            <a:endParaRPr>
              <a:solidFill>
                <a:srgbClr val="FFFFFF"/>
              </a:solidFill>
            </a:endParaRPr>
          </a:p>
        </p:txBody>
      </p:sp>
    </p:spTree>
    <p:extLst>
      <p:ext uri="{BB962C8B-B14F-4D97-AF65-F5344CB8AC3E}">
        <p14:creationId xmlns:p14="http://schemas.microsoft.com/office/powerpoint/2010/main" val="1158669753"/>
      </p:ext>
    </p:extLst>
  </p:cSld>
  <p:clrMapOvr>
    <a:masterClrMapping/>
  </p:clrMapOvr>
  <p:transition spd="med"/>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97637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3312024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91388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811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2053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98217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995876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173262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863010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9808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4263503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262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2389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6937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11829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6497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January 30, 2019</a:t>
            </a:fld>
            <a:endParaRPr>
              <a:solidFill>
                <a:prstClr val="black"/>
              </a:solidFill>
            </a:endParaRPr>
          </a:p>
        </p:txBody>
      </p:sp>
      <p:sp>
        <p:nvSpPr>
          <p:cNvPr id="3" name="Footer Placeholder 2"/>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0996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0713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3394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08216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12796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37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6787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2475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274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812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1608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95642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3963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January 30, 2019</a:t>
            </a:fld>
            <a:endParaRPr>
              <a:solidFill>
                <a:prstClr val="black"/>
              </a:solidFill>
            </a:endParaRPr>
          </a:p>
        </p:txBody>
      </p:sp>
      <p:sp>
        <p:nvSpPr>
          <p:cNvPr id="12" name="Footer Placeholder 11"/>
          <p:cNvSpPr>
            <a:spLocks noGrp="1"/>
          </p:cNvSpPr>
          <p:nvPr>
            <p:ph type="ftr" sz="quarter" idx="16"/>
          </p:nvPr>
        </p:nvSpPr>
        <p:spPr/>
        <p:txBody>
          <a:bodyPr/>
          <a:lstStyle/>
          <a:p>
            <a:r>
              <a:rPr lang="en-US">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67881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54935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56738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905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a:t>Click to edit master title style</a:t>
            </a:r>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3043757"/>
      </p:ext>
    </p:extLst>
  </p:cSld>
  <p:clrMapOvr>
    <a:masterClrMapping/>
  </p:clrMapOvr>
  <p:hf hdr="0" ftr="0" dt="0"/>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605049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4444990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t>Click to edit Master title style</a:t>
            </a: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3407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56804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t>Click to edit Master title style</a:t>
            </a: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4377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2462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355829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1988288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7818642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7868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150012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904519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909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746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3711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074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January 30, 2019</a:t>
            </a:fld>
            <a:endParaRPr>
              <a:solidFill>
                <a:prstClr val="black"/>
              </a:solidFill>
            </a:endParaRPr>
          </a:p>
        </p:txBody>
      </p:sp>
      <p:sp>
        <p:nvSpPr>
          <p:cNvPr id="3" name="Footer Placeholder 2"/>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07023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762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1362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146411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4552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6614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03721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dirty="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0223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0573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0695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t>Click to edit Master title style</a:t>
            </a: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166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t>Click to edit Master title style</a:t>
            </a: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4240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t>Click to edit Master title style</a:t>
            </a: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77113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t>Click to edit Master title style</a:t>
            </a: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January 30, 2019</a:t>
            </a:fld>
            <a:endParaRPr>
              <a:solidFill>
                <a:prstClr val="black"/>
              </a:solidFill>
            </a:endParaRPr>
          </a:p>
        </p:txBody>
      </p:sp>
      <p:sp>
        <p:nvSpPr>
          <p:cNvPr id="12" name="Footer Placeholder 11"/>
          <p:cNvSpPr>
            <a:spLocks noGrp="1"/>
          </p:cNvSpPr>
          <p:nvPr>
            <p:ph type="ftr" sz="quarter" idx="16"/>
          </p:nvPr>
        </p:nvSpPr>
        <p:spPr/>
        <p:txBody>
          <a:bodyPr/>
          <a:lstStyle/>
          <a:p>
            <a:r>
              <a:rPr lang="en-US">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9092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039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2559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t>Click to edit Master title style</a:t>
            </a:r>
          </a:p>
        </p:txBody>
      </p:sp>
      <p:sp>
        <p:nvSpPr>
          <p:cNvPr id="3" name="Vertical Text Placeholder 2"/>
          <p:cNvSpPr>
            <a:spLocks noGrp="1"/>
          </p:cNvSpPr>
          <p:nvPr>
            <p:ph type="body" orient="vert" idx="1"/>
          </p:nvPr>
        </p:nvSpPr>
        <p:spPr>
          <a:xfrm>
            <a:off x="609600" y="519235"/>
            <a:ext cx="9677400" cy="5576765"/>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6220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TA Wheel White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A8908-8F7D-4671-9CE7-F4C8C33CF3B7}" type="datetime4">
              <a:rPr lang="en-US" smtClean="0">
                <a:solidFill>
                  <a:prstClr val="black"/>
                </a:solidFill>
              </a:rPr>
              <a:pPr/>
              <a:t>January 30, 2019</a:t>
            </a:fld>
            <a:endParaRPr lang="en-US">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p>
        </p:txBody>
      </p:sp>
      <p:sp>
        <p:nvSpPr>
          <p:cNvPr id="5" name="Slide Number Placeholder 4"/>
          <p:cNvSpPr>
            <a:spLocks noGrp="1"/>
          </p:cNvSpPr>
          <p:nvPr>
            <p:ph type="sldNum" sz="quarter" idx="12"/>
          </p:nvPr>
        </p:nvSpPr>
        <p:spPr/>
        <p:txBody>
          <a:bodyPr/>
          <a:lstStyle/>
          <a:p>
            <a:fld id="{B016F8AB-BCEA-4347-8BA6-BE776009BC89}" type="slidenum">
              <a:rPr lang="en-US" smtClean="0">
                <a:solidFill>
                  <a:srgbClr val="617D78"/>
                </a:solidFill>
              </a:rPr>
              <a:pPr/>
              <a:t>‹#›</a:t>
            </a:fld>
            <a:endParaRPr lang="en-US" dirty="0">
              <a:solidFill>
                <a:srgbClr val="617D78"/>
              </a:solidFill>
            </a:endParaRP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21"/>
            <a:ext cx="12199172" cy="6906430"/>
          </a:xfrm>
          <a:prstGeom prst="rect">
            <a:avLst/>
          </a:prstGeom>
        </p:spPr>
      </p:pic>
      <p:grpSp>
        <p:nvGrpSpPr>
          <p:cNvPr id="13" name="Group 12"/>
          <p:cNvGrpSpPr/>
          <p:nvPr userDrawn="1"/>
        </p:nvGrpSpPr>
        <p:grpSpPr>
          <a:xfrm>
            <a:off x="613319" y="6246757"/>
            <a:ext cx="969471" cy="390524"/>
            <a:chOff x="3578225" y="1146175"/>
            <a:chExt cx="5038725" cy="2111375"/>
          </a:xfrm>
        </p:grpSpPr>
        <p:sp>
          <p:nvSpPr>
            <p:cNvPr id="14" name="Freeform 13"/>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sp>
          <p:nvSpPr>
            <p:cNvPr id="15" name="Freeform 14"/>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grpSp>
    </p:spTree>
    <p:extLst>
      <p:ext uri="{BB962C8B-B14F-4D97-AF65-F5344CB8AC3E}">
        <p14:creationId xmlns:p14="http://schemas.microsoft.com/office/powerpoint/2010/main" val="364761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588819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26" Type="http://schemas.openxmlformats.org/officeDocument/2006/relationships/slideLayout" Target="../slideLayouts/slideLayout80.xml"/><Relationship Id="rId3" Type="http://schemas.openxmlformats.org/officeDocument/2006/relationships/slideLayout" Target="../slideLayouts/slideLayout57.xml"/><Relationship Id="rId21" Type="http://schemas.openxmlformats.org/officeDocument/2006/relationships/slideLayout" Target="../slideLayouts/slideLayout75.xml"/><Relationship Id="rId34" Type="http://schemas.openxmlformats.org/officeDocument/2006/relationships/slideLayout" Target="../slideLayouts/slideLayout88.xml"/><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5" Type="http://schemas.openxmlformats.org/officeDocument/2006/relationships/slideLayout" Target="../slideLayouts/slideLayout79.xml"/><Relationship Id="rId33" Type="http://schemas.openxmlformats.org/officeDocument/2006/relationships/slideLayout" Target="../slideLayouts/slideLayout87.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slideLayout" Target="../slideLayouts/slideLayout74.xml"/><Relationship Id="rId29" Type="http://schemas.openxmlformats.org/officeDocument/2006/relationships/slideLayout" Target="../slideLayouts/slideLayout83.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24" Type="http://schemas.openxmlformats.org/officeDocument/2006/relationships/slideLayout" Target="../slideLayouts/slideLayout78.xml"/><Relationship Id="rId32" Type="http://schemas.openxmlformats.org/officeDocument/2006/relationships/slideLayout" Target="../slideLayouts/slideLayout86.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23" Type="http://schemas.openxmlformats.org/officeDocument/2006/relationships/slideLayout" Target="../slideLayouts/slideLayout77.xml"/><Relationship Id="rId28" Type="http://schemas.openxmlformats.org/officeDocument/2006/relationships/slideLayout" Target="../slideLayouts/slideLayout82.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31" Type="http://schemas.openxmlformats.org/officeDocument/2006/relationships/slideLayout" Target="../slideLayouts/slideLayout85.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 Id="rId22" Type="http://schemas.openxmlformats.org/officeDocument/2006/relationships/slideLayout" Target="../slideLayouts/slideLayout76.xml"/><Relationship Id="rId27" Type="http://schemas.openxmlformats.org/officeDocument/2006/relationships/slideLayout" Target="../slideLayouts/slideLayout81.xml"/><Relationship Id="rId30" Type="http://schemas.openxmlformats.org/officeDocument/2006/relationships/slideLayout" Target="../slideLayouts/slideLayout84.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26" Type="http://schemas.openxmlformats.org/officeDocument/2006/relationships/slideLayout" Target="../slideLayouts/slideLayout114.xml"/><Relationship Id="rId3" Type="http://schemas.openxmlformats.org/officeDocument/2006/relationships/slideLayout" Target="../slideLayouts/slideLayout91.xml"/><Relationship Id="rId21" Type="http://schemas.openxmlformats.org/officeDocument/2006/relationships/slideLayout" Target="../slideLayouts/slideLayout109.xml"/><Relationship Id="rId34" Type="http://schemas.openxmlformats.org/officeDocument/2006/relationships/slideLayout" Target="../slideLayouts/slideLayout122.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20" Type="http://schemas.openxmlformats.org/officeDocument/2006/relationships/slideLayout" Target="../slideLayouts/slideLayout108.xml"/><Relationship Id="rId29" Type="http://schemas.openxmlformats.org/officeDocument/2006/relationships/slideLayout" Target="../slideLayouts/slideLayout117.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24" Type="http://schemas.openxmlformats.org/officeDocument/2006/relationships/slideLayout" Target="../slideLayouts/slideLayout112.xml"/><Relationship Id="rId32" Type="http://schemas.openxmlformats.org/officeDocument/2006/relationships/slideLayout" Target="../slideLayouts/slideLayout120.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10" Type="http://schemas.openxmlformats.org/officeDocument/2006/relationships/slideLayout" Target="../slideLayouts/slideLayout98.xml"/><Relationship Id="rId19" Type="http://schemas.openxmlformats.org/officeDocument/2006/relationships/slideLayout" Target="../slideLayouts/slideLayout107.xml"/><Relationship Id="rId31" Type="http://schemas.openxmlformats.org/officeDocument/2006/relationships/slideLayout" Target="../slideLayouts/slideLayout119.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slideLayout" Target="../slideLayouts/slideLayout135.xml"/><Relationship Id="rId18" Type="http://schemas.openxmlformats.org/officeDocument/2006/relationships/slideLayout" Target="../slideLayouts/slideLayout140.xml"/><Relationship Id="rId26" Type="http://schemas.openxmlformats.org/officeDocument/2006/relationships/slideLayout" Target="../slideLayouts/slideLayout148.xml"/><Relationship Id="rId3" Type="http://schemas.openxmlformats.org/officeDocument/2006/relationships/slideLayout" Target="../slideLayouts/slideLayout125.xml"/><Relationship Id="rId21" Type="http://schemas.openxmlformats.org/officeDocument/2006/relationships/slideLayout" Target="../slideLayouts/slideLayout143.xml"/><Relationship Id="rId34" Type="http://schemas.openxmlformats.org/officeDocument/2006/relationships/slideLayout" Target="../slideLayouts/slideLayout156.xml"/><Relationship Id="rId7" Type="http://schemas.openxmlformats.org/officeDocument/2006/relationships/slideLayout" Target="../slideLayouts/slideLayout129.xml"/><Relationship Id="rId12" Type="http://schemas.openxmlformats.org/officeDocument/2006/relationships/slideLayout" Target="../slideLayouts/slideLayout134.xml"/><Relationship Id="rId17" Type="http://schemas.openxmlformats.org/officeDocument/2006/relationships/slideLayout" Target="../slideLayouts/slideLayout139.xml"/><Relationship Id="rId25" Type="http://schemas.openxmlformats.org/officeDocument/2006/relationships/slideLayout" Target="../slideLayouts/slideLayout147.xml"/><Relationship Id="rId33" Type="http://schemas.openxmlformats.org/officeDocument/2006/relationships/slideLayout" Target="../slideLayouts/slideLayout155.xml"/><Relationship Id="rId2" Type="http://schemas.openxmlformats.org/officeDocument/2006/relationships/slideLayout" Target="../slideLayouts/slideLayout124.xml"/><Relationship Id="rId16" Type="http://schemas.openxmlformats.org/officeDocument/2006/relationships/slideLayout" Target="../slideLayouts/slideLayout138.xml"/><Relationship Id="rId20" Type="http://schemas.openxmlformats.org/officeDocument/2006/relationships/slideLayout" Target="../slideLayouts/slideLayout142.xml"/><Relationship Id="rId29" Type="http://schemas.openxmlformats.org/officeDocument/2006/relationships/slideLayout" Target="../slideLayouts/slideLayout151.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24" Type="http://schemas.openxmlformats.org/officeDocument/2006/relationships/slideLayout" Target="../slideLayouts/slideLayout146.xml"/><Relationship Id="rId32" Type="http://schemas.openxmlformats.org/officeDocument/2006/relationships/slideLayout" Target="../slideLayouts/slideLayout154.xml"/><Relationship Id="rId5" Type="http://schemas.openxmlformats.org/officeDocument/2006/relationships/slideLayout" Target="../slideLayouts/slideLayout127.xml"/><Relationship Id="rId15" Type="http://schemas.openxmlformats.org/officeDocument/2006/relationships/slideLayout" Target="../slideLayouts/slideLayout137.xml"/><Relationship Id="rId23" Type="http://schemas.openxmlformats.org/officeDocument/2006/relationships/slideLayout" Target="../slideLayouts/slideLayout145.xml"/><Relationship Id="rId28" Type="http://schemas.openxmlformats.org/officeDocument/2006/relationships/slideLayout" Target="../slideLayouts/slideLayout150.xml"/><Relationship Id="rId36" Type="http://schemas.openxmlformats.org/officeDocument/2006/relationships/theme" Target="../theme/theme4.xml"/><Relationship Id="rId10" Type="http://schemas.openxmlformats.org/officeDocument/2006/relationships/slideLayout" Target="../slideLayouts/slideLayout132.xml"/><Relationship Id="rId19" Type="http://schemas.openxmlformats.org/officeDocument/2006/relationships/slideLayout" Target="../slideLayouts/slideLayout141.xml"/><Relationship Id="rId31" Type="http://schemas.openxmlformats.org/officeDocument/2006/relationships/slideLayout" Target="../slideLayouts/slideLayout153.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slideLayout" Target="../slideLayouts/slideLayout136.xml"/><Relationship Id="rId22" Type="http://schemas.openxmlformats.org/officeDocument/2006/relationships/slideLayout" Target="../slideLayouts/slideLayout144.xml"/><Relationship Id="rId27" Type="http://schemas.openxmlformats.org/officeDocument/2006/relationships/slideLayout" Target="../slideLayouts/slideLayout149.xml"/><Relationship Id="rId30" Type="http://schemas.openxmlformats.org/officeDocument/2006/relationships/slideLayout" Target="../slideLayouts/slideLayout152.xml"/><Relationship Id="rId35" Type="http://schemas.openxmlformats.org/officeDocument/2006/relationships/slideLayout" Target="../slideLayouts/slideLayout1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dirty="0"/>
              <a:t>Title Text</a:t>
            </a:r>
            <a:br>
              <a:rPr lang="en-US" dirty="0"/>
            </a:br>
            <a:r>
              <a:rPr lang="en-US" dirty="0"/>
              <a:t>with up to two lines</a:t>
            </a:r>
          </a:p>
        </p:txBody>
      </p:sp>
      <p:sp>
        <p:nvSpPr>
          <p:cNvPr id="3" name="Text Placeholder"/>
          <p:cNvSpPr>
            <a:spLocks noGrp="1"/>
          </p:cNvSpPr>
          <p:nvPr>
            <p:ph type="body" idx="1"/>
          </p:nvPr>
        </p:nvSpPr>
        <p:spPr>
          <a:xfrm>
            <a:off x="946786" y="1728000"/>
            <a:ext cx="10311765" cy="4452138"/>
          </a:xfrm>
          <a:prstGeom prst="rect">
            <a:avLst/>
          </a:prstGeom>
        </p:spPr>
        <p:txBody>
          <a:bodyPr vert="horz" lIns="0" tIns="45720" rIns="91440" bIns="45720" rtlCol="0">
            <a:noAutofit/>
          </a:body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24"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grpSp>
        <p:nvGrpSpPr>
          <p:cNvPr id="54" name="Logo"/>
          <p:cNvGrpSpPr>
            <a:grpSpLocks noChangeAspect="1"/>
          </p:cNvGrpSpPr>
          <p:nvPr userDrawn="1"/>
        </p:nvGrpSpPr>
        <p:grpSpPr>
          <a:xfrm>
            <a:off x="11051812" y="6398865"/>
            <a:ext cx="875755" cy="212246"/>
            <a:chOff x="941528" y="4056809"/>
            <a:chExt cx="1454151" cy="352425"/>
          </a:xfrm>
          <a:solidFill>
            <a:schemeClr val="bg1">
              <a:lumMod val="75000"/>
            </a:schemeClr>
          </a:solidFill>
        </p:grpSpPr>
        <p:sp>
          <p:nvSpPr>
            <p:cNvPr id="55" name="Freeform 5"/>
            <p:cNvSpPr>
              <a:spLocks/>
            </p:cNvSpPr>
            <p:nvPr/>
          </p:nvSpPr>
          <p:spPr bwMode="auto">
            <a:xfrm>
              <a:off x="1009791" y="4056809"/>
              <a:ext cx="282575" cy="282575"/>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6" name="Freeform 6"/>
            <p:cNvSpPr>
              <a:spLocks/>
            </p:cNvSpPr>
            <p:nvPr/>
          </p:nvSpPr>
          <p:spPr bwMode="auto">
            <a:xfrm>
              <a:off x="941528" y="4125071"/>
              <a:ext cx="282575" cy="284163"/>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7" name="Freeform 7"/>
            <p:cNvSpPr>
              <a:spLocks/>
            </p:cNvSpPr>
            <p:nvPr/>
          </p:nvSpPr>
          <p:spPr bwMode="auto">
            <a:xfrm>
              <a:off x="1374916" y="4056809"/>
              <a:ext cx="163513" cy="152400"/>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8" name="Rectangle 8"/>
            <p:cNvSpPr>
              <a:spLocks noChangeArrowheads="1"/>
            </p:cNvSpPr>
            <p:nvPr/>
          </p:nvSpPr>
          <p:spPr bwMode="auto">
            <a:xfrm>
              <a:off x="1614628" y="4056809"/>
              <a:ext cx="28575" cy="152400"/>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9" name="Freeform 9"/>
            <p:cNvSpPr>
              <a:spLocks/>
            </p:cNvSpPr>
            <p:nvPr/>
          </p:nvSpPr>
          <p:spPr bwMode="auto">
            <a:xfrm>
              <a:off x="1720991" y="4056809"/>
              <a:ext cx="147638" cy="152400"/>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0" name="Freeform 10"/>
            <p:cNvSpPr>
              <a:spLocks noEditPoints="1"/>
            </p:cNvSpPr>
            <p:nvPr/>
          </p:nvSpPr>
          <p:spPr bwMode="auto">
            <a:xfrm>
              <a:off x="1944828" y="4056809"/>
              <a:ext cx="149225" cy="152400"/>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1" name="Freeform 11"/>
            <p:cNvSpPr>
              <a:spLocks noEditPoints="1"/>
            </p:cNvSpPr>
            <p:nvPr/>
          </p:nvSpPr>
          <p:spPr bwMode="auto">
            <a:xfrm>
              <a:off x="2170253" y="4056809"/>
              <a:ext cx="147638" cy="152400"/>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2" name="Freeform 12"/>
            <p:cNvSpPr>
              <a:spLocks/>
            </p:cNvSpPr>
            <p:nvPr/>
          </p:nvSpPr>
          <p:spPr bwMode="auto">
            <a:xfrm>
              <a:off x="1374916" y="4256834"/>
              <a:ext cx="149225" cy="150813"/>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3" name="Freeform 13"/>
            <p:cNvSpPr>
              <a:spLocks noEditPoints="1"/>
            </p:cNvSpPr>
            <p:nvPr/>
          </p:nvSpPr>
          <p:spPr bwMode="auto">
            <a:xfrm>
              <a:off x="1565416" y="4256834"/>
              <a:ext cx="147638" cy="150813"/>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4" name="Freeform 14"/>
            <p:cNvSpPr>
              <a:spLocks/>
            </p:cNvSpPr>
            <p:nvPr/>
          </p:nvSpPr>
          <p:spPr bwMode="auto">
            <a:xfrm>
              <a:off x="1767028" y="4256834"/>
              <a:ext cx="147638" cy="152400"/>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5" name="Freeform 15"/>
            <p:cNvSpPr>
              <a:spLocks/>
            </p:cNvSpPr>
            <p:nvPr/>
          </p:nvSpPr>
          <p:spPr bwMode="auto">
            <a:xfrm>
              <a:off x="1968641" y="4256834"/>
              <a:ext cx="147638" cy="150813"/>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6" name="Freeform 16"/>
            <p:cNvSpPr>
              <a:spLocks/>
            </p:cNvSpPr>
            <p:nvPr/>
          </p:nvSpPr>
          <p:spPr bwMode="auto">
            <a:xfrm>
              <a:off x="2168666" y="4256834"/>
              <a:ext cx="149225" cy="152400"/>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7" name="Freeform 17"/>
            <p:cNvSpPr>
              <a:spLocks noEditPoints="1"/>
            </p:cNvSpPr>
            <p:nvPr/>
          </p:nvSpPr>
          <p:spPr bwMode="auto">
            <a:xfrm>
              <a:off x="2340116" y="4058396"/>
              <a:ext cx="55563" cy="55563"/>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rgbClr val="0079EF"/>
          </a:solidFill>
          <a:ln w="12700">
            <a:miter lim="400000"/>
          </a:ln>
        </p:spPr>
        <p:txBody>
          <a:bodyPr lIns="45719" rIns="45719" anchor="ctr"/>
          <a:lstStyle/>
          <a:p>
            <a:pPr algn="ctr">
              <a:defRPr>
                <a:solidFill>
                  <a:srgbClr val="FFFFFF"/>
                </a:solidFill>
              </a:defRPr>
            </a:pPr>
            <a:endParaRPr/>
          </a:p>
        </p:txBody>
      </p:sp>
      <p:sp>
        <p:nvSpPr>
          <p:cNvPr id="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38940517"/>
      </p:ext>
    </p:extLst>
  </p:cSld>
  <p:clrMap bg1="lt1" tx1="dk1" bg2="lt2" tx2="dk2" accent1="accent1" accent2="accent2" accent3="accent3" accent4="accent4" accent5="accent5" accent6="accent6" hlink="hlink" folHlink="folHlink"/>
  <p:sldLayoutIdLst>
    <p:sldLayoutId id="2147483920" r:id="rId1"/>
    <p:sldLayoutId id="2147483894" r:id="rId2"/>
    <p:sldLayoutId id="2147483910" r:id="rId3"/>
    <p:sldLayoutId id="2147483896" r:id="rId4"/>
    <p:sldLayoutId id="2147483895" r:id="rId5"/>
    <p:sldLayoutId id="2147483860" r:id="rId6"/>
    <p:sldLayoutId id="2147483886" r:id="rId7"/>
    <p:sldLayoutId id="2147483861" r:id="rId8"/>
    <p:sldLayoutId id="2147483890" r:id="rId9"/>
    <p:sldLayoutId id="2147483863" r:id="rId10"/>
    <p:sldLayoutId id="2147483885" r:id="rId11"/>
    <p:sldLayoutId id="2147483864" r:id="rId12"/>
    <p:sldLayoutId id="2147483866" r:id="rId13"/>
    <p:sldLayoutId id="2147483884" r:id="rId14"/>
    <p:sldLayoutId id="2147483865" r:id="rId15"/>
    <p:sldLayoutId id="2147483897" r:id="rId16"/>
    <p:sldLayoutId id="2147483867" r:id="rId17"/>
    <p:sldLayoutId id="2147483883" r:id="rId18"/>
    <p:sldLayoutId id="2147483893" r:id="rId19"/>
    <p:sldLayoutId id="2147483898" r:id="rId20"/>
    <p:sldLayoutId id="2147483868" r:id="rId21"/>
    <p:sldLayoutId id="2147483888" r:id="rId22"/>
    <p:sldLayoutId id="2147483891" r:id="rId23"/>
    <p:sldLayoutId id="2147483869" r:id="rId24"/>
    <p:sldLayoutId id="2147483889" r:id="rId25"/>
    <p:sldLayoutId id="2147483892" r:id="rId26"/>
    <p:sldLayoutId id="2147483870" r:id="rId27"/>
    <p:sldLayoutId id="2147483871" r:id="rId28"/>
    <p:sldLayoutId id="2147483872" r:id="rId29"/>
    <p:sldLayoutId id="2147483873" r:id="rId30"/>
    <p:sldLayoutId id="2147483874" r:id="rId31"/>
    <p:sldLayoutId id="2147483908" r:id="rId32"/>
    <p:sldLayoutId id="2147483876" r:id="rId33"/>
    <p:sldLayoutId id="2147483875" r:id="rId34"/>
    <p:sldLayoutId id="2147483899" r:id="rId35"/>
    <p:sldLayoutId id="2147483900" r:id="rId36"/>
    <p:sldLayoutId id="2147483901" r:id="rId37"/>
    <p:sldLayoutId id="2147483902" r:id="rId38"/>
    <p:sldLayoutId id="2147483909" r:id="rId39"/>
    <p:sldLayoutId id="2147483906" r:id="rId40"/>
    <p:sldLayoutId id="2147483904" r:id="rId41"/>
    <p:sldLayoutId id="2147483905" r:id="rId42"/>
    <p:sldLayoutId id="2147483907" r:id="rId43"/>
    <p:sldLayoutId id="2147483916" r:id="rId44"/>
    <p:sldLayoutId id="2147483903" r:id="rId45"/>
    <p:sldLayoutId id="2147483915" r:id="rId46"/>
    <p:sldLayoutId id="2147483914" r:id="rId47"/>
    <p:sldLayoutId id="2147483913" r:id="rId48"/>
    <p:sldLayoutId id="2147483912" r:id="rId49"/>
    <p:sldLayoutId id="2147483911" r:id="rId50"/>
    <p:sldLayoutId id="2147483917" r:id="rId51"/>
    <p:sldLayoutId id="2147483881" r:id="rId52"/>
    <p:sldLayoutId id="2147484191" r:id="rId53"/>
    <p:sldLayoutId id="2147484192" r:id="rId5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lnSpc>
          <a:spcPct val="90000"/>
        </a:lnSpc>
        <a:spcBef>
          <a:spcPct val="0"/>
        </a:spcBef>
        <a:buNone/>
        <a:defRPr sz="3600" b="1" kern="1200" baseline="0">
          <a:solidFill>
            <a:schemeClr val="tx1"/>
          </a:solidFill>
          <a:latin typeface="+mj-lt"/>
          <a:ea typeface="+mj-ea"/>
          <a:cs typeface="+mj-cs"/>
        </a:defRPr>
      </a:lvl1pPr>
    </p:titleStyle>
    <p:body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3" pos="7092">
          <p15:clr>
            <a:srgbClr val="F26B43"/>
          </p15:clr>
        </p15:guide>
        <p15:guide id="4" pos="595">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094" userDrawn="1">
          <p15:clr>
            <a:srgbClr val="F26B43"/>
          </p15:clr>
        </p15:guide>
        <p15:guide id="0" pos="3840" userDrawn="1">
          <p15:clr>
            <a:srgbClr val="F26B43"/>
          </p15:clr>
        </p15:guide>
        <p15:guide id="9" orient="horz" pos="3893" userDrawn="1">
          <p15:clr>
            <a:srgbClr val="F26B43"/>
          </p15:clr>
        </p15:guide>
        <p15:guide id="10" orient="horz" pos="1389"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6785" y="429272"/>
            <a:ext cx="10311765" cy="974663"/>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946785" y="1825625"/>
            <a:ext cx="1031176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p:cNvSpPr/>
          <p:nvPr userDrawn="1"/>
        </p:nvSpPr>
        <p:spPr>
          <a:xfrm rot="10800000">
            <a:off x="-3" y="-4"/>
            <a:ext cx="1050134" cy="156755"/>
          </a:xfrm>
          <a:prstGeom prst="rect">
            <a:avLst/>
          </a:prstGeom>
          <a:solidFill>
            <a:srgbClr val="0078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grpSp>
        <p:nvGrpSpPr>
          <p:cNvPr id="9" name="Group 8"/>
          <p:cNvGrpSpPr/>
          <p:nvPr userDrawn="1"/>
        </p:nvGrpSpPr>
        <p:grpSpPr>
          <a:xfrm>
            <a:off x="11311010" y="6527385"/>
            <a:ext cx="740366" cy="179271"/>
            <a:chOff x="-504825" y="3757613"/>
            <a:chExt cx="1009650" cy="244475"/>
          </a:xfrm>
          <a:solidFill>
            <a:schemeClr val="bg1">
              <a:lumMod val="85000"/>
            </a:schemeClr>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lang="en-US">
                <a:solidFill>
                  <a:srgbClr val="212E35"/>
                </a:solidFill>
              </a:endParaRPr>
            </a:p>
          </p:txBody>
        </p:sp>
      </p:grpSp>
      <p:sp>
        <p:nvSpPr>
          <p:cNvPr id="23" name="Rectangle 22"/>
          <p:cNvSpPr/>
          <p:nvPr userDrawn="1"/>
        </p:nvSpPr>
        <p:spPr>
          <a:xfrm>
            <a:off x="0" y="6498236"/>
            <a:ext cx="231632" cy="8244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a:solidFill>
                <a:prstClr val="white"/>
              </a:solidFill>
            </a:endParaRPr>
          </a:p>
        </p:txBody>
      </p:sp>
      <p:sp>
        <p:nvSpPr>
          <p:cNvPr id="24" name="Slide Number Placeholder 5"/>
          <p:cNvSpPr>
            <a:spLocks noGrp="1"/>
          </p:cNvSpPr>
          <p:nvPr>
            <p:ph type="sldNum" sz="quarter" idx="4"/>
          </p:nvPr>
        </p:nvSpPr>
        <p:spPr>
          <a:xfrm>
            <a:off x="231632" y="6352240"/>
            <a:ext cx="365760" cy="365125"/>
          </a:xfrm>
          <a:prstGeom prst="rect">
            <a:avLst/>
          </a:prstGeom>
        </p:spPr>
        <p:txBody>
          <a:bodyPr anchor="ctr"/>
          <a:lstStyle>
            <a:lvl1pPr>
              <a:defRPr sz="1100">
                <a:solidFill>
                  <a:schemeClr val="bg1">
                    <a:lumMod val="75000"/>
                  </a:schemeClr>
                </a:solidFill>
              </a:defRPr>
            </a:lvl1pPr>
          </a:lstStyle>
          <a:p>
            <a:pPr defTabSz="914400"/>
            <a:fld id="{0FB999A9-77CE-4AD1-9911-24A29F08BC34}" type="slidenum">
              <a:rPr lang="en-US" smtClean="0">
                <a:solidFill>
                  <a:prstClr val="white">
                    <a:lumMod val="75000"/>
                  </a:prstClr>
                </a:solidFill>
              </a:rPr>
              <a:pPr defTabSz="914400"/>
              <a:t>‹#›</a:t>
            </a:fld>
            <a:endParaRPr lang="en-US" dirty="0">
              <a:solidFill>
                <a:prstClr val="white">
                  <a:lumMod val="75000"/>
                </a:prstClr>
              </a:solidFill>
            </a:endParaRPr>
          </a:p>
        </p:txBody>
      </p:sp>
    </p:spTree>
    <p:extLst>
      <p:ext uri="{BB962C8B-B14F-4D97-AF65-F5344CB8AC3E}">
        <p14:creationId xmlns:p14="http://schemas.microsoft.com/office/powerpoint/2010/main" val="4068346060"/>
      </p:ext>
    </p:extLst>
  </p:cSld>
  <p:clrMap bg1="lt1" tx1="dk1" bg2="lt2" tx2="dk2" accent1="accent1" accent2="accent2" accent3="accent3" accent4="accent4" accent5="accent5" accent6="accent6" hlink="hlink" folHlink="folHlink"/>
  <p:sldLayoutIdLst>
    <p:sldLayoutId id="2147483934" r:id="rId1"/>
    <p:sldLayoutId id="2147483935" r:id="rId2"/>
    <p:sldLayoutId id="2147483936" r:id="rId3"/>
    <p:sldLayoutId id="2147483937" r:id="rId4"/>
    <p:sldLayoutId id="2147483938" r:id="rId5"/>
    <p:sldLayoutId id="2147483939" r:id="rId6"/>
    <p:sldLayoutId id="2147483940" r:id="rId7"/>
    <p:sldLayoutId id="2147483941" r:id="rId8"/>
    <p:sldLayoutId id="2147483942" r:id="rId9"/>
    <p:sldLayoutId id="2147483943" r:id="rId10"/>
    <p:sldLayoutId id="2147483944" r:id="rId11"/>
    <p:sldLayoutId id="2147483945" r:id="rId12"/>
    <p:sldLayoutId id="2147483946" r:id="rId13"/>
    <p:sldLayoutId id="2147483947" r:id="rId14"/>
    <p:sldLayoutId id="2147483948" r:id="rId15"/>
    <p:sldLayoutId id="2147483949" r:id="rId16"/>
    <p:sldLayoutId id="2147483950" r:id="rId17"/>
    <p:sldLayoutId id="2147483951" r:id="rId18"/>
    <p:sldLayoutId id="2147483952" r:id="rId19"/>
    <p:sldLayoutId id="2147483953" r:id="rId20"/>
    <p:sldLayoutId id="2147483954" r:id="rId21"/>
    <p:sldLayoutId id="2147483955" r:id="rId22"/>
    <p:sldLayoutId id="2147483956" r:id="rId23"/>
    <p:sldLayoutId id="2147483957" r:id="rId24"/>
    <p:sldLayoutId id="2147483958" r:id="rId25"/>
    <p:sldLayoutId id="2147483959" r:id="rId26"/>
    <p:sldLayoutId id="2147483960" r:id="rId27"/>
    <p:sldLayoutId id="2147483961" r:id="rId28"/>
    <p:sldLayoutId id="2147483962" r:id="rId29"/>
    <p:sldLayoutId id="2147483963" r:id="rId30"/>
    <p:sldLayoutId id="2147483964" r:id="rId31"/>
    <p:sldLayoutId id="2147483965" r:id="rId32"/>
    <p:sldLayoutId id="2147483966" r:id="rId33"/>
    <p:sldLayoutId id="2147483967" r:id="rId34"/>
  </p:sldLayoutIdLst>
  <p:hf hd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0"/>
        </a:spcBef>
        <a:spcAft>
          <a:spcPts val="1200"/>
        </a:spcAft>
        <a:buFont typeface="Wingdings" panose="05000000000000000000" pitchFamily="2" charset="2"/>
        <a:buChar char="§"/>
        <a:defRPr sz="2000" kern="1200">
          <a:solidFill>
            <a:schemeClr val="tx1"/>
          </a:solidFill>
          <a:latin typeface="+mn-lt"/>
          <a:ea typeface="+mn-ea"/>
          <a:cs typeface="+mn-cs"/>
        </a:defRPr>
      </a:lvl1pPr>
      <a:lvl2pPr marL="400050" indent="-171450" algn="l" defTabSz="914400" rtl="0" eaLnBrk="1" latinLnBrk="0" hangingPunct="1">
        <a:lnSpc>
          <a:spcPct val="90000"/>
        </a:lnSpc>
        <a:spcBef>
          <a:spcPts val="0"/>
        </a:spcBef>
        <a:spcAft>
          <a:spcPts val="1200"/>
        </a:spcAft>
        <a:buFont typeface="Calibri" panose="020F0502020204030204" pitchFamily="34" charset="0"/>
        <a:buChar char="-"/>
        <a:defRPr sz="1800" kern="1200">
          <a:solidFill>
            <a:schemeClr val="tx1"/>
          </a:solidFill>
          <a:latin typeface="+mn-lt"/>
          <a:ea typeface="+mn-ea"/>
          <a:cs typeface="+mn-cs"/>
        </a:defRPr>
      </a:lvl2pPr>
      <a:lvl3pPr marL="571500" indent="-171450" algn="l" defTabSz="914400" rtl="0" eaLnBrk="1" latinLnBrk="0" hangingPunct="1">
        <a:lnSpc>
          <a:spcPct val="90000"/>
        </a:lnSpc>
        <a:spcBef>
          <a:spcPts val="0"/>
        </a:spcBef>
        <a:spcAft>
          <a:spcPts val="1200"/>
        </a:spcAft>
        <a:buFont typeface="Calibri" panose="020F0502020204030204" pitchFamily="34" charset="0"/>
        <a:buChar char="-"/>
        <a:defRPr sz="1600" kern="1200">
          <a:solidFill>
            <a:schemeClr val="tx1"/>
          </a:solidFill>
          <a:latin typeface="+mn-lt"/>
          <a:ea typeface="+mn-ea"/>
          <a:cs typeface="+mn-cs"/>
        </a:defRPr>
      </a:lvl3pPr>
      <a:lvl4pPr marL="74295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4pPr>
      <a:lvl5pPr marL="914400" indent="-171450" algn="l" defTabSz="914400" rtl="0" eaLnBrk="1" latinLnBrk="0" hangingPunct="1">
        <a:lnSpc>
          <a:spcPct val="90000"/>
        </a:lnSpc>
        <a:spcBef>
          <a:spcPts val="0"/>
        </a:spcBef>
        <a:spcAft>
          <a:spcPts val="12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660">
          <p15:clr>
            <a:srgbClr val="F26B43"/>
          </p15:clr>
        </p15:guide>
        <p15:guide id="3" pos="7092">
          <p15:clr>
            <a:srgbClr val="F26B43"/>
          </p15:clr>
        </p15:guide>
        <p15:guide id="4" pos="594">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1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January 30, 2019</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266676139"/>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4001" r:id="rId21"/>
    <p:sldLayoutId id="2147484002" r:id="rId22"/>
    <p:sldLayoutId id="2147484003" r:id="rId23"/>
    <p:sldLayoutId id="2147484004" r:id="rId24"/>
    <p:sldLayoutId id="2147484005" r:id="rId25"/>
    <p:sldLayoutId id="2147484006" r:id="rId26"/>
    <p:sldLayoutId id="2147484007" r:id="rId27"/>
    <p:sldLayoutId id="2147484008" r:id="rId28"/>
    <p:sldLayoutId id="2147484009" r:id="rId29"/>
    <p:sldLayoutId id="2147484010" r:id="rId30"/>
    <p:sldLayoutId id="2147484011" r:id="rId31"/>
    <p:sldLayoutId id="2147484012" r:id="rId32"/>
    <p:sldLayoutId id="2147484013" r:id="rId33"/>
    <p:sldLayoutId id="2147484014"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t>Click to edit Master title style</a:t>
            </a: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January 30, 2019</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3360446362"/>
      </p:ext>
    </p:extLst>
  </p:cSld>
  <p:clrMap bg1="lt1" tx1="dk1" bg2="lt2" tx2="dk2" accent1="accent1" accent2="accent2" accent3="accent3" accent4="accent4" accent5="accent5" accent6="accent6" hlink="hlink" folHlink="folHlink"/>
  <p:sldLayoutIdLst>
    <p:sldLayoutId id="2147484050" r:id="rId1"/>
    <p:sldLayoutId id="2147484051" r:id="rId2"/>
    <p:sldLayoutId id="2147484052" r:id="rId3"/>
    <p:sldLayoutId id="2147484053" r:id="rId4"/>
    <p:sldLayoutId id="2147484054" r:id="rId5"/>
    <p:sldLayoutId id="2147484055" r:id="rId6"/>
    <p:sldLayoutId id="2147484056" r:id="rId7"/>
    <p:sldLayoutId id="2147484057" r:id="rId8"/>
    <p:sldLayoutId id="2147484058" r:id="rId9"/>
    <p:sldLayoutId id="2147484059" r:id="rId10"/>
    <p:sldLayoutId id="2147484060" r:id="rId11"/>
    <p:sldLayoutId id="2147484061" r:id="rId12"/>
    <p:sldLayoutId id="2147484062" r:id="rId13"/>
    <p:sldLayoutId id="2147484063" r:id="rId14"/>
    <p:sldLayoutId id="2147484064" r:id="rId15"/>
    <p:sldLayoutId id="2147484065" r:id="rId16"/>
    <p:sldLayoutId id="2147484066" r:id="rId17"/>
    <p:sldLayoutId id="2147484067" r:id="rId18"/>
    <p:sldLayoutId id="2147484068" r:id="rId19"/>
    <p:sldLayoutId id="2147484069" r:id="rId20"/>
    <p:sldLayoutId id="2147484070" r:id="rId21"/>
    <p:sldLayoutId id="2147484071" r:id="rId22"/>
    <p:sldLayoutId id="2147484072" r:id="rId23"/>
    <p:sldLayoutId id="2147484073" r:id="rId24"/>
    <p:sldLayoutId id="2147484074" r:id="rId25"/>
    <p:sldLayoutId id="2147484075" r:id="rId26"/>
    <p:sldLayoutId id="2147484076" r:id="rId27"/>
    <p:sldLayoutId id="2147484077" r:id="rId28"/>
    <p:sldLayoutId id="2147484078" r:id="rId29"/>
    <p:sldLayoutId id="2147484079" r:id="rId30"/>
    <p:sldLayoutId id="2147484080" r:id="rId31"/>
    <p:sldLayoutId id="2147484081" r:id="rId32"/>
    <p:sldLayoutId id="2147484082" r:id="rId33"/>
    <p:sldLayoutId id="2147484083" r:id="rId34"/>
    <p:sldLayoutId id="2147484084"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8.xml"/><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Content Manager Essentials Overview</a:t>
            </a:r>
            <a:br>
              <a:rPr lang="en-US" dirty="0"/>
            </a:br>
            <a:endParaRPr lang="en-US" dirty="0"/>
          </a:p>
        </p:txBody>
      </p:sp>
      <p:sp>
        <p:nvSpPr>
          <p:cNvPr id="3" name="Subtitle 2"/>
          <p:cNvSpPr>
            <a:spLocks noGrp="1"/>
          </p:cNvSpPr>
          <p:nvPr>
            <p:ph type="subTitle" idx="1"/>
          </p:nvPr>
        </p:nvSpPr>
        <p:spPr/>
        <p:txBody>
          <a:bodyPr>
            <a:normAutofit fontScale="85000" lnSpcReduction="10000"/>
          </a:bodyPr>
          <a:lstStyle/>
          <a:p>
            <a:r>
              <a:rPr lang="en-US" sz="3200" dirty="0"/>
              <a:t>Secure Content Management</a:t>
            </a:r>
            <a:br>
              <a:rPr lang="en-US" dirty="0"/>
            </a:br>
            <a:endParaRPr lang="en-US" dirty="0"/>
          </a:p>
        </p:txBody>
      </p:sp>
    </p:spTree>
    <p:extLst>
      <p:ext uri="{BB962C8B-B14F-4D97-AF65-F5344CB8AC3E}">
        <p14:creationId xmlns:p14="http://schemas.microsoft.com/office/powerpoint/2010/main" val="1917953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US" dirty="0"/>
              <a:t>Trends</a:t>
            </a:r>
          </a:p>
          <a:p>
            <a:r>
              <a:rPr lang="en-US" dirty="0"/>
              <a:t>Customer Challenges </a:t>
            </a:r>
          </a:p>
          <a:p>
            <a:r>
              <a:rPr lang="en-US" dirty="0"/>
              <a:t>Solution Capabilities </a:t>
            </a:r>
          </a:p>
          <a:p>
            <a:r>
              <a:rPr lang="en-US" dirty="0"/>
              <a:t>Value to Change </a:t>
            </a:r>
          </a:p>
          <a:p>
            <a:r>
              <a:rPr lang="en-US" dirty="0"/>
              <a:t>Customer Success</a:t>
            </a:r>
          </a:p>
          <a:p>
            <a:r>
              <a:rPr lang="en-US" dirty="0"/>
              <a:t>Competition </a:t>
            </a:r>
          </a:p>
          <a:p>
            <a:r>
              <a:rPr lang="en-US" dirty="0"/>
              <a:t>Summary </a:t>
            </a:r>
          </a:p>
          <a:p>
            <a:endParaRPr lang="en-US" dirty="0"/>
          </a:p>
          <a:p>
            <a:endParaRPr lang="en-US" dirty="0"/>
          </a:p>
        </p:txBody>
      </p:sp>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229350" y="2280444"/>
            <a:ext cx="5029200" cy="3352800"/>
          </a:xfrm>
        </p:spPr>
      </p:pic>
      <p:sp>
        <p:nvSpPr>
          <p:cNvPr id="5" name="Slide Number Placeholder 4"/>
          <p:cNvSpPr>
            <a:spLocks noGrp="1"/>
          </p:cNvSpPr>
          <p:nvPr>
            <p:ph type="sldNum" sz="quarter" idx="4"/>
          </p:nvPr>
        </p:nvSpPr>
        <p:spPr/>
        <p:txBody>
          <a:bodyPr/>
          <a:lstStyle/>
          <a:p>
            <a:fld id="{0FB999A9-77CE-4AD1-9911-24A29F08BC34}" type="slidenum">
              <a:rPr lang="en-US" smtClean="0">
                <a:solidFill>
                  <a:prstClr val="white">
                    <a:lumMod val="75000"/>
                  </a:prstClr>
                </a:solidFill>
              </a:rPr>
              <a:pPr/>
              <a:t>2</a:t>
            </a:fld>
            <a:endParaRPr lang="en-US" dirty="0">
              <a:solidFill>
                <a:prstClr val="white">
                  <a:lumMod val="75000"/>
                </a:prstClr>
              </a:solidFill>
            </a:endParaRPr>
          </a:p>
        </p:txBody>
      </p:sp>
      <p:sp>
        <p:nvSpPr>
          <p:cNvPr id="2" name="Title 1"/>
          <p:cNvSpPr>
            <a:spLocks noGrp="1"/>
          </p:cNvSpPr>
          <p:nvPr>
            <p:ph type="title"/>
          </p:nvPr>
        </p:nvSpPr>
        <p:spPr/>
        <p:txBody>
          <a:bodyPr/>
          <a:lstStyle/>
          <a:p>
            <a:r>
              <a:rPr lang="en-US" dirty="0"/>
              <a:t>Agenda </a:t>
            </a:r>
          </a:p>
        </p:txBody>
      </p:sp>
    </p:spTree>
    <p:extLst>
      <p:ext uri="{BB962C8B-B14F-4D97-AF65-F5344CB8AC3E}">
        <p14:creationId xmlns:p14="http://schemas.microsoft.com/office/powerpoint/2010/main" val="410481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Trends  </a:t>
            </a:r>
          </a:p>
        </p:txBody>
      </p:sp>
    </p:spTree>
    <p:extLst>
      <p:ext uri="{BB962C8B-B14F-4D97-AF65-F5344CB8AC3E}">
        <p14:creationId xmlns:p14="http://schemas.microsoft.com/office/powerpoint/2010/main" val="362755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528055"/>
            <a:ext cx="10822941" cy="574516"/>
          </a:xfrm>
        </p:spPr>
        <p:txBody>
          <a:bodyPr/>
          <a:lstStyle/>
          <a:p>
            <a:r>
              <a:rPr lang="en-US" dirty="0">
                <a:solidFill>
                  <a:schemeClr val="tx1"/>
                </a:solidFill>
                <a:latin typeface="+mj-lt"/>
                <a:cs typeface="+mj-cs"/>
              </a:rPr>
              <a:t>Information Management inflection points</a:t>
            </a:r>
            <a:endParaRPr lang="en-US" sz="2000" dirty="0">
              <a:latin typeface="+mj-lt"/>
            </a:endParaRPr>
          </a:p>
        </p:txBody>
      </p:sp>
      <p:sp>
        <p:nvSpPr>
          <p:cNvPr id="81" name="Rectangle 80"/>
          <p:cNvSpPr/>
          <p:nvPr/>
        </p:nvSpPr>
        <p:spPr>
          <a:xfrm>
            <a:off x="639486" y="1307405"/>
            <a:ext cx="11435863" cy="369332"/>
          </a:xfrm>
          <a:prstGeom prst="rect">
            <a:avLst/>
          </a:prstGeom>
        </p:spPr>
        <p:txBody>
          <a:bodyPr wrap="square">
            <a:spAutoFit/>
          </a:bodyPr>
          <a:lstStyle/>
          <a:p>
            <a:pPr defTabSz="914400"/>
            <a:r>
              <a:rPr lang="en-US" dirty="0">
                <a:solidFill>
                  <a:srgbClr val="212E35"/>
                </a:solidFill>
              </a:rPr>
              <a:t>How big data is changing information value</a:t>
            </a:r>
          </a:p>
        </p:txBody>
      </p:sp>
      <p:grpSp>
        <p:nvGrpSpPr>
          <p:cNvPr id="41" name="Group 40"/>
          <p:cNvGrpSpPr/>
          <p:nvPr/>
        </p:nvGrpSpPr>
        <p:grpSpPr>
          <a:xfrm>
            <a:off x="658536" y="2257261"/>
            <a:ext cx="4829463" cy="1104900"/>
            <a:chOff x="658536" y="2077965"/>
            <a:chExt cx="4829463" cy="1104900"/>
          </a:xfrm>
        </p:grpSpPr>
        <p:sp>
          <p:nvSpPr>
            <p:cNvPr id="75" name="Rectangle 74"/>
            <p:cNvSpPr/>
            <p:nvPr/>
          </p:nvSpPr>
          <p:spPr>
            <a:xfrm>
              <a:off x="1946123" y="2085651"/>
              <a:ext cx="3541876" cy="1089529"/>
            </a:xfrm>
            <a:prstGeom prst="rect">
              <a:avLst/>
            </a:prstGeom>
            <a:ln w="19050">
              <a:solidFill>
                <a:srgbClr val="3896F3"/>
              </a:solidFill>
            </a:ln>
          </p:spPr>
          <p:txBody>
            <a:bodyPr wrap="square">
              <a:spAutoFit/>
            </a:bodyPr>
            <a:lstStyle/>
            <a:p>
              <a:pPr lvl="0" defTabSz="711200">
                <a:lnSpc>
                  <a:spcPct val="90000"/>
                </a:lnSpc>
                <a:spcBef>
                  <a:spcPct val="0"/>
                </a:spcBef>
                <a:spcAft>
                  <a:spcPct val="35000"/>
                </a:spcAft>
              </a:pPr>
              <a:r>
                <a:rPr lang="en-US" dirty="0"/>
                <a:t>Information Value is changing – organizations don’t understand what they have, where it lives, who owns it or its business context</a:t>
              </a:r>
              <a:r>
                <a:rPr lang="en-US" dirty="0">
                  <a:solidFill>
                    <a:schemeClr val="bg1"/>
                  </a:solidFill>
                </a:rPr>
                <a:t> </a:t>
              </a:r>
            </a:p>
          </p:txBody>
        </p:sp>
        <p:grpSp>
          <p:nvGrpSpPr>
            <p:cNvPr id="31" name="Group 30"/>
            <p:cNvGrpSpPr/>
            <p:nvPr/>
          </p:nvGrpSpPr>
          <p:grpSpPr>
            <a:xfrm>
              <a:off x="658536" y="2077965"/>
              <a:ext cx="1265514" cy="1104900"/>
              <a:chOff x="639486" y="4876800"/>
              <a:chExt cx="1265514" cy="1104900"/>
            </a:xfrm>
          </p:grpSpPr>
          <p:sp>
            <p:nvSpPr>
              <p:cNvPr id="30" name="Rectangle 29"/>
              <p:cNvSpPr/>
              <p:nvPr/>
            </p:nvSpPr>
            <p:spPr>
              <a:xfrm>
                <a:off x="639486" y="4876800"/>
                <a:ext cx="1265514" cy="1104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 name="Group 4"/>
              <p:cNvGrpSpPr/>
              <p:nvPr/>
            </p:nvGrpSpPr>
            <p:grpSpPr>
              <a:xfrm>
                <a:off x="700245" y="5016779"/>
                <a:ext cx="1135904" cy="450571"/>
                <a:chOff x="700245" y="5016779"/>
                <a:chExt cx="1135904" cy="450571"/>
              </a:xfrm>
            </p:grpSpPr>
            <p:grpSp>
              <p:nvGrpSpPr>
                <p:cNvPr id="14" name="Group 13"/>
                <p:cNvGrpSpPr>
                  <a:grpSpLocks noChangeAspect="1"/>
                </p:cNvGrpSpPr>
                <p:nvPr/>
              </p:nvGrpSpPr>
              <p:grpSpPr>
                <a:xfrm>
                  <a:off x="1494541" y="5084962"/>
                  <a:ext cx="341608" cy="341608"/>
                  <a:chOff x="7492279" y="3854203"/>
                  <a:chExt cx="235654" cy="235654"/>
                </a:xfrm>
                <a:solidFill>
                  <a:schemeClr val="tx2"/>
                </a:solidFill>
              </p:grpSpPr>
              <p:sp>
                <p:nvSpPr>
                  <p:cNvPr id="15" name="Freeform 258"/>
                  <p:cNvSpPr>
                    <a:spLocks noChangeArrowheads="1"/>
                  </p:cNvSpPr>
                  <p:nvPr/>
                </p:nvSpPr>
                <p:spPr bwMode="auto">
                  <a:xfrm>
                    <a:off x="7671051" y="4043133"/>
                    <a:ext cx="18283" cy="20315"/>
                  </a:xfrm>
                  <a:custGeom>
                    <a:avLst/>
                    <a:gdLst>
                      <a:gd name="T0" fmla="*/ 21 w 41"/>
                      <a:gd name="T1" fmla="*/ 41 h 42"/>
                      <a:gd name="T2" fmla="*/ 21 w 41"/>
                      <a:gd name="T3" fmla="*/ 41 h 42"/>
                      <a:gd name="T4" fmla="*/ 40 w 41"/>
                      <a:gd name="T5" fmla="*/ 21 h 42"/>
                      <a:gd name="T6" fmla="*/ 21 w 41"/>
                      <a:gd name="T7" fmla="*/ 0 h 42"/>
                      <a:gd name="T8" fmla="*/ 0 w 41"/>
                      <a:gd name="T9" fmla="*/ 21 h 42"/>
                      <a:gd name="T10" fmla="*/ 21 w 41"/>
                      <a:gd name="T11" fmla="*/ 41 h 42"/>
                    </a:gdLst>
                    <a:ahLst/>
                    <a:cxnLst>
                      <a:cxn ang="0">
                        <a:pos x="T0" y="T1"/>
                      </a:cxn>
                      <a:cxn ang="0">
                        <a:pos x="T2" y="T3"/>
                      </a:cxn>
                      <a:cxn ang="0">
                        <a:pos x="T4" y="T5"/>
                      </a:cxn>
                      <a:cxn ang="0">
                        <a:pos x="T6" y="T7"/>
                      </a:cxn>
                      <a:cxn ang="0">
                        <a:pos x="T8" y="T9"/>
                      </a:cxn>
                      <a:cxn ang="0">
                        <a:pos x="T10" y="T11"/>
                      </a:cxn>
                    </a:cxnLst>
                    <a:rect l="0" t="0" r="r" b="b"/>
                    <a:pathLst>
                      <a:path w="41" h="42">
                        <a:moveTo>
                          <a:pt x="21" y="41"/>
                        </a:moveTo>
                        <a:lnTo>
                          <a:pt x="21" y="41"/>
                        </a:lnTo>
                        <a:cubicBezTo>
                          <a:pt x="31" y="41"/>
                          <a:pt x="40" y="31"/>
                          <a:pt x="40" y="21"/>
                        </a:cubicBezTo>
                        <a:cubicBezTo>
                          <a:pt x="40" y="9"/>
                          <a:pt x="31" y="0"/>
                          <a:pt x="21" y="0"/>
                        </a:cubicBezTo>
                        <a:cubicBezTo>
                          <a:pt x="9" y="0"/>
                          <a:pt x="0" y="9"/>
                          <a:pt x="0" y="21"/>
                        </a:cubicBezTo>
                        <a:cubicBezTo>
                          <a:pt x="0" y="31"/>
                          <a:pt x="9" y="41"/>
                          <a:pt x="21" y="4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6" name="Freeform 259"/>
                  <p:cNvSpPr>
                    <a:spLocks noChangeArrowheads="1"/>
                  </p:cNvSpPr>
                  <p:nvPr/>
                </p:nvSpPr>
                <p:spPr bwMode="auto">
                  <a:xfrm>
                    <a:off x="7492279" y="3854203"/>
                    <a:ext cx="235654" cy="235654"/>
                  </a:xfrm>
                  <a:custGeom>
                    <a:avLst/>
                    <a:gdLst>
                      <a:gd name="T0" fmla="*/ 0 w 510"/>
                      <a:gd name="T1" fmla="*/ 488 h 510"/>
                      <a:gd name="T2" fmla="*/ 0 w 510"/>
                      <a:gd name="T3" fmla="*/ 488 h 510"/>
                      <a:gd name="T4" fmla="*/ 21 w 510"/>
                      <a:gd name="T5" fmla="*/ 509 h 510"/>
                      <a:gd name="T6" fmla="*/ 488 w 510"/>
                      <a:gd name="T7" fmla="*/ 509 h 510"/>
                      <a:gd name="T8" fmla="*/ 509 w 510"/>
                      <a:gd name="T9" fmla="*/ 488 h 510"/>
                      <a:gd name="T10" fmla="*/ 509 w 510"/>
                      <a:gd name="T11" fmla="*/ 366 h 510"/>
                      <a:gd name="T12" fmla="*/ 508 w 510"/>
                      <a:gd name="T13" fmla="*/ 358 h 510"/>
                      <a:gd name="T14" fmla="*/ 450 w 510"/>
                      <a:gd name="T15" fmla="*/ 17 h 510"/>
                      <a:gd name="T16" fmla="*/ 431 w 510"/>
                      <a:gd name="T17" fmla="*/ 0 h 510"/>
                      <a:gd name="T18" fmla="*/ 79 w 510"/>
                      <a:gd name="T19" fmla="*/ 0 h 510"/>
                      <a:gd name="T20" fmla="*/ 58 w 510"/>
                      <a:gd name="T21" fmla="*/ 17 h 510"/>
                      <a:gd name="T22" fmla="*/ 2 w 510"/>
                      <a:gd name="T23" fmla="*/ 361 h 510"/>
                      <a:gd name="T24" fmla="*/ 2 w 510"/>
                      <a:gd name="T25" fmla="*/ 361 h 510"/>
                      <a:gd name="T26" fmla="*/ 0 w 510"/>
                      <a:gd name="T27" fmla="*/ 366 h 510"/>
                      <a:gd name="T28" fmla="*/ 0 w 510"/>
                      <a:gd name="T29" fmla="*/ 488 h 510"/>
                      <a:gd name="T30" fmla="*/ 79 w 510"/>
                      <a:gd name="T31" fmla="*/ 21 h 510"/>
                      <a:gd name="T32" fmla="*/ 79 w 510"/>
                      <a:gd name="T33" fmla="*/ 21 h 510"/>
                      <a:gd name="T34" fmla="*/ 429 w 510"/>
                      <a:gd name="T35" fmla="*/ 20 h 510"/>
                      <a:gd name="T36" fmla="*/ 484 w 510"/>
                      <a:gd name="T37" fmla="*/ 345 h 510"/>
                      <a:gd name="T38" fmla="*/ 26 w 510"/>
                      <a:gd name="T39" fmla="*/ 345 h 510"/>
                      <a:gd name="T40" fmla="*/ 79 w 510"/>
                      <a:gd name="T41" fmla="*/ 21 h 510"/>
                      <a:gd name="T42" fmla="*/ 488 w 510"/>
                      <a:gd name="T43" fmla="*/ 366 h 510"/>
                      <a:gd name="T44" fmla="*/ 488 w 510"/>
                      <a:gd name="T45" fmla="*/ 366 h 510"/>
                      <a:gd name="T46" fmla="*/ 488 w 510"/>
                      <a:gd name="T47" fmla="*/ 488 h 510"/>
                      <a:gd name="T48" fmla="*/ 22 w 510"/>
                      <a:gd name="T49" fmla="*/ 488 h 510"/>
                      <a:gd name="T50" fmla="*/ 21 w 510"/>
                      <a:gd name="T51" fmla="*/ 366 h 510"/>
                      <a:gd name="T52" fmla="*/ 488 w 510"/>
                      <a:gd name="T53" fmla="*/ 366 h 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10" h="510">
                        <a:moveTo>
                          <a:pt x="0" y="488"/>
                        </a:moveTo>
                        <a:lnTo>
                          <a:pt x="0" y="488"/>
                        </a:lnTo>
                        <a:cubicBezTo>
                          <a:pt x="0" y="500"/>
                          <a:pt x="9" y="509"/>
                          <a:pt x="21" y="509"/>
                        </a:cubicBezTo>
                        <a:cubicBezTo>
                          <a:pt x="488" y="509"/>
                          <a:pt x="488" y="509"/>
                          <a:pt x="488" y="509"/>
                        </a:cubicBezTo>
                        <a:cubicBezTo>
                          <a:pt x="500" y="509"/>
                          <a:pt x="509" y="500"/>
                          <a:pt x="509" y="488"/>
                        </a:cubicBezTo>
                        <a:cubicBezTo>
                          <a:pt x="509" y="366"/>
                          <a:pt x="509" y="366"/>
                          <a:pt x="509" y="366"/>
                        </a:cubicBezTo>
                        <a:cubicBezTo>
                          <a:pt x="509" y="364"/>
                          <a:pt x="509" y="361"/>
                          <a:pt x="508" y="358"/>
                        </a:cubicBezTo>
                        <a:cubicBezTo>
                          <a:pt x="450" y="17"/>
                          <a:pt x="450" y="17"/>
                          <a:pt x="450" y="17"/>
                        </a:cubicBezTo>
                        <a:cubicBezTo>
                          <a:pt x="448" y="8"/>
                          <a:pt x="440" y="0"/>
                          <a:pt x="431" y="0"/>
                        </a:cubicBezTo>
                        <a:cubicBezTo>
                          <a:pt x="79" y="0"/>
                          <a:pt x="79" y="0"/>
                          <a:pt x="79" y="0"/>
                        </a:cubicBezTo>
                        <a:cubicBezTo>
                          <a:pt x="69" y="0"/>
                          <a:pt x="61" y="8"/>
                          <a:pt x="58" y="17"/>
                        </a:cubicBezTo>
                        <a:cubicBezTo>
                          <a:pt x="2" y="361"/>
                          <a:pt x="2" y="361"/>
                          <a:pt x="2" y="361"/>
                        </a:cubicBezTo>
                        <a:lnTo>
                          <a:pt x="2" y="361"/>
                        </a:lnTo>
                        <a:cubicBezTo>
                          <a:pt x="1" y="363"/>
                          <a:pt x="0" y="365"/>
                          <a:pt x="0" y="366"/>
                        </a:cubicBezTo>
                        <a:lnTo>
                          <a:pt x="0" y="488"/>
                        </a:lnTo>
                        <a:close/>
                        <a:moveTo>
                          <a:pt x="79" y="21"/>
                        </a:moveTo>
                        <a:lnTo>
                          <a:pt x="79" y="21"/>
                        </a:lnTo>
                        <a:cubicBezTo>
                          <a:pt x="429" y="20"/>
                          <a:pt x="429" y="20"/>
                          <a:pt x="429" y="20"/>
                        </a:cubicBezTo>
                        <a:cubicBezTo>
                          <a:pt x="484" y="345"/>
                          <a:pt x="484" y="345"/>
                          <a:pt x="484" y="345"/>
                        </a:cubicBezTo>
                        <a:cubicBezTo>
                          <a:pt x="26" y="345"/>
                          <a:pt x="26" y="345"/>
                          <a:pt x="26" y="345"/>
                        </a:cubicBezTo>
                        <a:lnTo>
                          <a:pt x="79" y="21"/>
                        </a:lnTo>
                        <a:close/>
                        <a:moveTo>
                          <a:pt x="488" y="366"/>
                        </a:moveTo>
                        <a:lnTo>
                          <a:pt x="488" y="366"/>
                        </a:lnTo>
                        <a:cubicBezTo>
                          <a:pt x="488" y="488"/>
                          <a:pt x="488" y="488"/>
                          <a:pt x="488" y="488"/>
                        </a:cubicBezTo>
                        <a:cubicBezTo>
                          <a:pt x="22" y="488"/>
                          <a:pt x="22" y="488"/>
                          <a:pt x="22" y="488"/>
                        </a:cubicBezTo>
                        <a:cubicBezTo>
                          <a:pt x="21" y="366"/>
                          <a:pt x="21" y="366"/>
                          <a:pt x="21" y="366"/>
                        </a:cubicBezTo>
                        <a:lnTo>
                          <a:pt x="488" y="366"/>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7" name="Freeform 260"/>
                  <p:cNvSpPr>
                    <a:spLocks noChangeArrowheads="1"/>
                  </p:cNvSpPr>
                  <p:nvPr/>
                </p:nvSpPr>
                <p:spPr bwMode="auto">
                  <a:xfrm>
                    <a:off x="7595885" y="3925306"/>
                    <a:ext cx="28441" cy="20315"/>
                  </a:xfrm>
                  <a:custGeom>
                    <a:avLst/>
                    <a:gdLst>
                      <a:gd name="T0" fmla="*/ 30 w 61"/>
                      <a:gd name="T1" fmla="*/ 0 h 42"/>
                      <a:gd name="T2" fmla="*/ 30 w 61"/>
                      <a:gd name="T3" fmla="*/ 0 h 42"/>
                      <a:gd name="T4" fmla="*/ 0 w 61"/>
                      <a:gd name="T5" fmla="*/ 21 h 42"/>
                      <a:gd name="T6" fmla="*/ 30 w 61"/>
                      <a:gd name="T7" fmla="*/ 41 h 42"/>
                      <a:gd name="T8" fmla="*/ 60 w 61"/>
                      <a:gd name="T9" fmla="*/ 21 h 42"/>
                      <a:gd name="T10" fmla="*/ 30 w 61"/>
                      <a:gd name="T11" fmla="*/ 0 h 42"/>
                    </a:gdLst>
                    <a:ahLst/>
                    <a:cxnLst>
                      <a:cxn ang="0">
                        <a:pos x="T0" y="T1"/>
                      </a:cxn>
                      <a:cxn ang="0">
                        <a:pos x="T2" y="T3"/>
                      </a:cxn>
                      <a:cxn ang="0">
                        <a:pos x="T4" y="T5"/>
                      </a:cxn>
                      <a:cxn ang="0">
                        <a:pos x="T6" y="T7"/>
                      </a:cxn>
                      <a:cxn ang="0">
                        <a:pos x="T8" y="T9"/>
                      </a:cxn>
                      <a:cxn ang="0">
                        <a:pos x="T10" y="T11"/>
                      </a:cxn>
                    </a:cxnLst>
                    <a:rect l="0" t="0" r="r" b="b"/>
                    <a:pathLst>
                      <a:path w="61" h="42">
                        <a:moveTo>
                          <a:pt x="30" y="0"/>
                        </a:moveTo>
                        <a:lnTo>
                          <a:pt x="30" y="0"/>
                        </a:lnTo>
                        <a:cubicBezTo>
                          <a:pt x="12" y="0"/>
                          <a:pt x="0" y="9"/>
                          <a:pt x="0" y="21"/>
                        </a:cubicBezTo>
                        <a:cubicBezTo>
                          <a:pt x="0" y="32"/>
                          <a:pt x="12" y="41"/>
                          <a:pt x="30" y="41"/>
                        </a:cubicBezTo>
                        <a:cubicBezTo>
                          <a:pt x="47" y="41"/>
                          <a:pt x="60" y="32"/>
                          <a:pt x="60" y="21"/>
                        </a:cubicBezTo>
                        <a:cubicBezTo>
                          <a:pt x="60" y="9"/>
                          <a:pt x="47" y="0"/>
                          <a:pt x="30"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8" name="Freeform 261"/>
                  <p:cNvSpPr>
                    <a:spLocks noChangeArrowheads="1"/>
                  </p:cNvSpPr>
                  <p:nvPr/>
                </p:nvSpPr>
                <p:spPr bwMode="auto">
                  <a:xfrm>
                    <a:off x="7539003" y="3888739"/>
                    <a:ext cx="142205" cy="103606"/>
                  </a:xfrm>
                  <a:custGeom>
                    <a:avLst/>
                    <a:gdLst>
                      <a:gd name="T0" fmla="*/ 154 w 308"/>
                      <a:gd name="T1" fmla="*/ 0 h 226"/>
                      <a:gd name="T2" fmla="*/ 154 w 308"/>
                      <a:gd name="T3" fmla="*/ 0 h 226"/>
                      <a:gd name="T4" fmla="*/ 0 w 308"/>
                      <a:gd name="T5" fmla="*/ 113 h 226"/>
                      <a:gd name="T6" fmla="*/ 154 w 308"/>
                      <a:gd name="T7" fmla="*/ 225 h 226"/>
                      <a:gd name="T8" fmla="*/ 307 w 308"/>
                      <a:gd name="T9" fmla="*/ 113 h 226"/>
                      <a:gd name="T10" fmla="*/ 154 w 308"/>
                      <a:gd name="T11" fmla="*/ 0 h 226"/>
                      <a:gd name="T12" fmla="*/ 154 w 308"/>
                      <a:gd name="T13" fmla="*/ 203 h 226"/>
                      <a:gd name="T14" fmla="*/ 154 w 308"/>
                      <a:gd name="T15" fmla="*/ 203 h 226"/>
                      <a:gd name="T16" fmla="*/ 22 w 308"/>
                      <a:gd name="T17" fmla="*/ 113 h 226"/>
                      <a:gd name="T18" fmla="*/ 154 w 308"/>
                      <a:gd name="T19" fmla="*/ 21 h 226"/>
                      <a:gd name="T20" fmla="*/ 286 w 308"/>
                      <a:gd name="T21" fmla="*/ 113 h 226"/>
                      <a:gd name="T22" fmla="*/ 154 w 308"/>
                      <a:gd name="T23" fmla="*/ 203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8" h="226">
                        <a:moveTo>
                          <a:pt x="154" y="0"/>
                        </a:moveTo>
                        <a:lnTo>
                          <a:pt x="154" y="0"/>
                        </a:lnTo>
                        <a:cubicBezTo>
                          <a:pt x="69" y="0"/>
                          <a:pt x="0" y="51"/>
                          <a:pt x="0" y="113"/>
                        </a:cubicBezTo>
                        <a:cubicBezTo>
                          <a:pt x="0" y="175"/>
                          <a:pt x="69" y="225"/>
                          <a:pt x="154" y="225"/>
                        </a:cubicBezTo>
                        <a:cubicBezTo>
                          <a:pt x="239" y="225"/>
                          <a:pt x="307" y="175"/>
                          <a:pt x="307" y="113"/>
                        </a:cubicBezTo>
                        <a:cubicBezTo>
                          <a:pt x="307" y="51"/>
                          <a:pt x="239" y="0"/>
                          <a:pt x="154" y="0"/>
                        </a:cubicBezTo>
                        <a:close/>
                        <a:moveTo>
                          <a:pt x="154" y="203"/>
                        </a:moveTo>
                        <a:lnTo>
                          <a:pt x="154" y="203"/>
                        </a:lnTo>
                        <a:cubicBezTo>
                          <a:pt x="82" y="203"/>
                          <a:pt x="22" y="162"/>
                          <a:pt x="22" y="113"/>
                        </a:cubicBezTo>
                        <a:cubicBezTo>
                          <a:pt x="22" y="63"/>
                          <a:pt x="82" y="21"/>
                          <a:pt x="154" y="21"/>
                        </a:cubicBezTo>
                        <a:cubicBezTo>
                          <a:pt x="227" y="21"/>
                          <a:pt x="286" y="63"/>
                          <a:pt x="286" y="113"/>
                        </a:cubicBezTo>
                        <a:cubicBezTo>
                          <a:pt x="286" y="162"/>
                          <a:pt x="227" y="203"/>
                          <a:pt x="154" y="20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19" name="Group 18"/>
                <p:cNvGrpSpPr>
                  <a:grpSpLocks noChangeAspect="1"/>
                </p:cNvGrpSpPr>
                <p:nvPr/>
              </p:nvGrpSpPr>
              <p:grpSpPr>
                <a:xfrm>
                  <a:off x="700245" y="5016779"/>
                  <a:ext cx="282710" cy="450571"/>
                  <a:chOff x="4928528" y="1887713"/>
                  <a:chExt cx="195024" cy="310820"/>
                </a:xfrm>
                <a:solidFill>
                  <a:schemeClr val="tx2"/>
                </a:solidFill>
              </p:grpSpPr>
              <p:sp>
                <p:nvSpPr>
                  <p:cNvPr id="20" name="Freeform 318"/>
                  <p:cNvSpPr>
                    <a:spLocks noChangeArrowheads="1"/>
                  </p:cNvSpPr>
                  <p:nvPr/>
                </p:nvSpPr>
                <p:spPr bwMode="auto">
                  <a:xfrm>
                    <a:off x="4928528" y="1887713"/>
                    <a:ext cx="195024" cy="286442"/>
                  </a:xfrm>
                  <a:custGeom>
                    <a:avLst/>
                    <a:gdLst>
                      <a:gd name="T0" fmla="*/ 43 w 425"/>
                      <a:gd name="T1" fmla="*/ 622 h 623"/>
                      <a:gd name="T2" fmla="*/ 43 w 425"/>
                      <a:gd name="T3" fmla="*/ 622 h 623"/>
                      <a:gd name="T4" fmla="*/ 382 w 425"/>
                      <a:gd name="T5" fmla="*/ 622 h 623"/>
                      <a:gd name="T6" fmla="*/ 424 w 425"/>
                      <a:gd name="T7" fmla="*/ 579 h 623"/>
                      <a:gd name="T8" fmla="*/ 424 w 425"/>
                      <a:gd name="T9" fmla="*/ 443 h 623"/>
                      <a:gd name="T10" fmla="*/ 409 w 425"/>
                      <a:gd name="T11" fmla="*/ 410 h 623"/>
                      <a:gd name="T12" fmla="*/ 424 w 425"/>
                      <a:gd name="T13" fmla="*/ 379 h 623"/>
                      <a:gd name="T14" fmla="*/ 424 w 425"/>
                      <a:gd name="T15" fmla="*/ 242 h 623"/>
                      <a:gd name="T16" fmla="*/ 410 w 425"/>
                      <a:gd name="T17" fmla="*/ 211 h 623"/>
                      <a:gd name="T18" fmla="*/ 424 w 425"/>
                      <a:gd name="T19" fmla="*/ 178 h 623"/>
                      <a:gd name="T20" fmla="*/ 424 w 425"/>
                      <a:gd name="T21" fmla="*/ 42 h 623"/>
                      <a:gd name="T22" fmla="*/ 382 w 425"/>
                      <a:gd name="T23" fmla="*/ 0 h 623"/>
                      <a:gd name="T24" fmla="*/ 43 w 425"/>
                      <a:gd name="T25" fmla="*/ 0 h 623"/>
                      <a:gd name="T26" fmla="*/ 0 w 425"/>
                      <a:gd name="T27" fmla="*/ 42 h 623"/>
                      <a:gd name="T28" fmla="*/ 0 w 425"/>
                      <a:gd name="T29" fmla="*/ 178 h 623"/>
                      <a:gd name="T30" fmla="*/ 16 w 425"/>
                      <a:gd name="T31" fmla="*/ 211 h 623"/>
                      <a:gd name="T32" fmla="*/ 0 w 425"/>
                      <a:gd name="T33" fmla="*/ 242 h 623"/>
                      <a:gd name="T34" fmla="*/ 0 w 425"/>
                      <a:gd name="T35" fmla="*/ 379 h 623"/>
                      <a:gd name="T36" fmla="*/ 16 w 425"/>
                      <a:gd name="T37" fmla="*/ 410 h 623"/>
                      <a:gd name="T38" fmla="*/ 0 w 425"/>
                      <a:gd name="T39" fmla="*/ 443 h 623"/>
                      <a:gd name="T40" fmla="*/ 0 w 425"/>
                      <a:gd name="T41" fmla="*/ 579 h 623"/>
                      <a:gd name="T42" fmla="*/ 43 w 425"/>
                      <a:gd name="T43" fmla="*/ 622 h 623"/>
                      <a:gd name="T44" fmla="*/ 21 w 425"/>
                      <a:gd name="T45" fmla="*/ 42 h 623"/>
                      <a:gd name="T46" fmla="*/ 21 w 425"/>
                      <a:gd name="T47" fmla="*/ 42 h 623"/>
                      <a:gd name="T48" fmla="*/ 43 w 425"/>
                      <a:gd name="T49" fmla="*/ 21 h 623"/>
                      <a:gd name="T50" fmla="*/ 382 w 425"/>
                      <a:gd name="T51" fmla="*/ 21 h 623"/>
                      <a:gd name="T52" fmla="*/ 403 w 425"/>
                      <a:gd name="T53" fmla="*/ 42 h 623"/>
                      <a:gd name="T54" fmla="*/ 403 w 425"/>
                      <a:gd name="T55" fmla="*/ 178 h 623"/>
                      <a:gd name="T56" fmla="*/ 382 w 425"/>
                      <a:gd name="T57" fmla="*/ 199 h 623"/>
                      <a:gd name="T58" fmla="*/ 43 w 425"/>
                      <a:gd name="T59" fmla="*/ 199 h 623"/>
                      <a:gd name="T60" fmla="*/ 21 w 425"/>
                      <a:gd name="T61" fmla="*/ 178 h 623"/>
                      <a:gd name="T62" fmla="*/ 21 w 425"/>
                      <a:gd name="T63" fmla="*/ 42 h 623"/>
                      <a:gd name="T64" fmla="*/ 21 w 425"/>
                      <a:gd name="T65" fmla="*/ 242 h 623"/>
                      <a:gd name="T66" fmla="*/ 21 w 425"/>
                      <a:gd name="T67" fmla="*/ 242 h 623"/>
                      <a:gd name="T68" fmla="*/ 43 w 425"/>
                      <a:gd name="T69" fmla="*/ 221 h 623"/>
                      <a:gd name="T70" fmla="*/ 382 w 425"/>
                      <a:gd name="T71" fmla="*/ 221 h 623"/>
                      <a:gd name="T72" fmla="*/ 403 w 425"/>
                      <a:gd name="T73" fmla="*/ 242 h 623"/>
                      <a:gd name="T74" fmla="*/ 403 w 425"/>
                      <a:gd name="T75" fmla="*/ 379 h 623"/>
                      <a:gd name="T76" fmla="*/ 382 w 425"/>
                      <a:gd name="T77" fmla="*/ 400 h 623"/>
                      <a:gd name="T78" fmla="*/ 43 w 425"/>
                      <a:gd name="T79" fmla="*/ 400 h 623"/>
                      <a:gd name="T80" fmla="*/ 21 w 425"/>
                      <a:gd name="T81" fmla="*/ 379 h 623"/>
                      <a:gd name="T82" fmla="*/ 21 w 425"/>
                      <a:gd name="T83" fmla="*/ 242 h 623"/>
                      <a:gd name="T84" fmla="*/ 21 w 425"/>
                      <a:gd name="T85" fmla="*/ 443 h 623"/>
                      <a:gd name="T86" fmla="*/ 21 w 425"/>
                      <a:gd name="T87" fmla="*/ 443 h 623"/>
                      <a:gd name="T88" fmla="*/ 43 w 425"/>
                      <a:gd name="T89" fmla="*/ 421 h 623"/>
                      <a:gd name="T90" fmla="*/ 382 w 425"/>
                      <a:gd name="T91" fmla="*/ 421 h 623"/>
                      <a:gd name="T92" fmla="*/ 403 w 425"/>
                      <a:gd name="T93" fmla="*/ 443 h 623"/>
                      <a:gd name="T94" fmla="*/ 403 w 425"/>
                      <a:gd name="T95" fmla="*/ 579 h 623"/>
                      <a:gd name="T96" fmla="*/ 382 w 425"/>
                      <a:gd name="T97" fmla="*/ 600 h 623"/>
                      <a:gd name="T98" fmla="*/ 43 w 425"/>
                      <a:gd name="T99" fmla="*/ 600 h 623"/>
                      <a:gd name="T100" fmla="*/ 21 w 425"/>
                      <a:gd name="T101" fmla="*/ 579 h 623"/>
                      <a:gd name="T102" fmla="*/ 21 w 425"/>
                      <a:gd name="T103" fmla="*/ 443 h 6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5" h="623">
                        <a:moveTo>
                          <a:pt x="43" y="622"/>
                        </a:moveTo>
                        <a:lnTo>
                          <a:pt x="43" y="622"/>
                        </a:lnTo>
                        <a:cubicBezTo>
                          <a:pt x="382" y="622"/>
                          <a:pt x="382" y="622"/>
                          <a:pt x="382" y="622"/>
                        </a:cubicBezTo>
                        <a:cubicBezTo>
                          <a:pt x="405" y="622"/>
                          <a:pt x="424" y="603"/>
                          <a:pt x="424" y="579"/>
                        </a:cubicBezTo>
                        <a:cubicBezTo>
                          <a:pt x="424" y="443"/>
                          <a:pt x="424" y="443"/>
                          <a:pt x="424" y="443"/>
                        </a:cubicBezTo>
                        <a:cubicBezTo>
                          <a:pt x="424" y="430"/>
                          <a:pt x="418" y="419"/>
                          <a:pt x="409" y="410"/>
                        </a:cubicBezTo>
                        <a:cubicBezTo>
                          <a:pt x="418" y="403"/>
                          <a:pt x="424" y="392"/>
                          <a:pt x="424" y="379"/>
                        </a:cubicBezTo>
                        <a:cubicBezTo>
                          <a:pt x="424" y="242"/>
                          <a:pt x="424" y="242"/>
                          <a:pt x="424" y="242"/>
                        </a:cubicBezTo>
                        <a:cubicBezTo>
                          <a:pt x="424" y="230"/>
                          <a:pt x="418" y="219"/>
                          <a:pt x="410" y="211"/>
                        </a:cubicBezTo>
                        <a:cubicBezTo>
                          <a:pt x="418" y="202"/>
                          <a:pt x="424" y="192"/>
                          <a:pt x="424" y="178"/>
                        </a:cubicBezTo>
                        <a:cubicBezTo>
                          <a:pt x="424" y="42"/>
                          <a:pt x="424" y="42"/>
                          <a:pt x="424" y="42"/>
                        </a:cubicBezTo>
                        <a:cubicBezTo>
                          <a:pt x="424" y="20"/>
                          <a:pt x="405" y="0"/>
                          <a:pt x="382" y="0"/>
                        </a:cubicBezTo>
                        <a:cubicBezTo>
                          <a:pt x="43" y="0"/>
                          <a:pt x="43" y="0"/>
                          <a:pt x="43" y="0"/>
                        </a:cubicBezTo>
                        <a:cubicBezTo>
                          <a:pt x="19" y="0"/>
                          <a:pt x="0" y="20"/>
                          <a:pt x="0" y="42"/>
                        </a:cubicBezTo>
                        <a:cubicBezTo>
                          <a:pt x="0" y="178"/>
                          <a:pt x="0" y="178"/>
                          <a:pt x="0" y="178"/>
                        </a:cubicBezTo>
                        <a:cubicBezTo>
                          <a:pt x="0" y="192"/>
                          <a:pt x="6" y="202"/>
                          <a:pt x="16" y="211"/>
                        </a:cubicBezTo>
                        <a:cubicBezTo>
                          <a:pt x="6" y="219"/>
                          <a:pt x="0" y="230"/>
                          <a:pt x="0" y="242"/>
                        </a:cubicBezTo>
                        <a:cubicBezTo>
                          <a:pt x="0" y="379"/>
                          <a:pt x="0" y="379"/>
                          <a:pt x="0" y="379"/>
                        </a:cubicBezTo>
                        <a:cubicBezTo>
                          <a:pt x="0" y="392"/>
                          <a:pt x="7" y="403"/>
                          <a:pt x="16" y="410"/>
                        </a:cubicBezTo>
                        <a:cubicBezTo>
                          <a:pt x="7" y="419"/>
                          <a:pt x="0" y="430"/>
                          <a:pt x="0" y="443"/>
                        </a:cubicBezTo>
                        <a:cubicBezTo>
                          <a:pt x="0" y="579"/>
                          <a:pt x="0" y="579"/>
                          <a:pt x="0" y="579"/>
                        </a:cubicBezTo>
                        <a:cubicBezTo>
                          <a:pt x="0" y="603"/>
                          <a:pt x="19" y="622"/>
                          <a:pt x="43" y="622"/>
                        </a:cubicBezTo>
                        <a:close/>
                        <a:moveTo>
                          <a:pt x="21" y="42"/>
                        </a:moveTo>
                        <a:lnTo>
                          <a:pt x="21" y="42"/>
                        </a:lnTo>
                        <a:cubicBezTo>
                          <a:pt x="21" y="31"/>
                          <a:pt x="30" y="21"/>
                          <a:pt x="43" y="21"/>
                        </a:cubicBezTo>
                        <a:cubicBezTo>
                          <a:pt x="382" y="21"/>
                          <a:pt x="382" y="21"/>
                          <a:pt x="382" y="21"/>
                        </a:cubicBezTo>
                        <a:cubicBezTo>
                          <a:pt x="394" y="21"/>
                          <a:pt x="403" y="31"/>
                          <a:pt x="403" y="42"/>
                        </a:cubicBezTo>
                        <a:cubicBezTo>
                          <a:pt x="403" y="178"/>
                          <a:pt x="403" y="178"/>
                          <a:pt x="403" y="178"/>
                        </a:cubicBezTo>
                        <a:cubicBezTo>
                          <a:pt x="403" y="190"/>
                          <a:pt x="394" y="199"/>
                          <a:pt x="382" y="199"/>
                        </a:cubicBezTo>
                        <a:cubicBezTo>
                          <a:pt x="43" y="199"/>
                          <a:pt x="43" y="199"/>
                          <a:pt x="43" y="199"/>
                        </a:cubicBezTo>
                        <a:cubicBezTo>
                          <a:pt x="30" y="199"/>
                          <a:pt x="21" y="190"/>
                          <a:pt x="21" y="178"/>
                        </a:cubicBezTo>
                        <a:lnTo>
                          <a:pt x="21" y="42"/>
                        </a:lnTo>
                        <a:close/>
                        <a:moveTo>
                          <a:pt x="21" y="242"/>
                        </a:moveTo>
                        <a:lnTo>
                          <a:pt x="21" y="242"/>
                        </a:lnTo>
                        <a:cubicBezTo>
                          <a:pt x="21" y="231"/>
                          <a:pt x="30" y="221"/>
                          <a:pt x="43" y="221"/>
                        </a:cubicBezTo>
                        <a:cubicBezTo>
                          <a:pt x="382" y="221"/>
                          <a:pt x="382" y="221"/>
                          <a:pt x="382" y="221"/>
                        </a:cubicBezTo>
                        <a:cubicBezTo>
                          <a:pt x="394" y="221"/>
                          <a:pt x="403" y="231"/>
                          <a:pt x="403" y="242"/>
                        </a:cubicBezTo>
                        <a:cubicBezTo>
                          <a:pt x="403" y="379"/>
                          <a:pt x="403" y="379"/>
                          <a:pt x="403" y="379"/>
                        </a:cubicBezTo>
                        <a:cubicBezTo>
                          <a:pt x="403" y="391"/>
                          <a:pt x="394" y="400"/>
                          <a:pt x="382" y="400"/>
                        </a:cubicBezTo>
                        <a:cubicBezTo>
                          <a:pt x="43" y="400"/>
                          <a:pt x="43" y="400"/>
                          <a:pt x="43" y="400"/>
                        </a:cubicBezTo>
                        <a:cubicBezTo>
                          <a:pt x="30" y="400"/>
                          <a:pt x="21" y="391"/>
                          <a:pt x="21" y="379"/>
                        </a:cubicBezTo>
                        <a:lnTo>
                          <a:pt x="21" y="242"/>
                        </a:lnTo>
                        <a:close/>
                        <a:moveTo>
                          <a:pt x="21" y="443"/>
                        </a:moveTo>
                        <a:lnTo>
                          <a:pt x="21" y="443"/>
                        </a:lnTo>
                        <a:cubicBezTo>
                          <a:pt x="21" y="430"/>
                          <a:pt x="30" y="421"/>
                          <a:pt x="43" y="421"/>
                        </a:cubicBezTo>
                        <a:cubicBezTo>
                          <a:pt x="382" y="421"/>
                          <a:pt x="382" y="421"/>
                          <a:pt x="382" y="421"/>
                        </a:cubicBezTo>
                        <a:cubicBezTo>
                          <a:pt x="394" y="421"/>
                          <a:pt x="403" y="430"/>
                          <a:pt x="403" y="443"/>
                        </a:cubicBezTo>
                        <a:cubicBezTo>
                          <a:pt x="403" y="579"/>
                          <a:pt x="403" y="579"/>
                          <a:pt x="403" y="579"/>
                        </a:cubicBezTo>
                        <a:cubicBezTo>
                          <a:pt x="403" y="590"/>
                          <a:pt x="394" y="600"/>
                          <a:pt x="382" y="600"/>
                        </a:cubicBezTo>
                        <a:cubicBezTo>
                          <a:pt x="43" y="600"/>
                          <a:pt x="43" y="600"/>
                          <a:pt x="43" y="600"/>
                        </a:cubicBezTo>
                        <a:cubicBezTo>
                          <a:pt x="30" y="600"/>
                          <a:pt x="21" y="590"/>
                          <a:pt x="21" y="579"/>
                        </a:cubicBezTo>
                        <a:lnTo>
                          <a:pt x="21" y="44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1" name="Freeform 319"/>
                  <p:cNvSpPr>
                    <a:spLocks noChangeArrowheads="1"/>
                  </p:cNvSpPr>
                  <p:nvPr/>
                </p:nvSpPr>
                <p:spPr bwMode="auto">
                  <a:xfrm>
                    <a:off x="5056512" y="2107115"/>
                    <a:ext cx="34536" cy="10158"/>
                  </a:xfrm>
                  <a:custGeom>
                    <a:avLst/>
                    <a:gdLst>
                      <a:gd name="T0" fmla="*/ 10 w 77"/>
                      <a:gd name="T1" fmla="*/ 21 h 22"/>
                      <a:gd name="T2" fmla="*/ 10 w 77"/>
                      <a:gd name="T3" fmla="*/ 21 h 22"/>
                      <a:gd name="T4" fmla="*/ 66 w 77"/>
                      <a:gd name="T5" fmla="*/ 21 h 22"/>
                      <a:gd name="T6" fmla="*/ 76 w 77"/>
                      <a:gd name="T7" fmla="*/ 11 h 22"/>
                      <a:gd name="T8" fmla="*/ 66 w 77"/>
                      <a:gd name="T9" fmla="*/ 0 h 22"/>
                      <a:gd name="T10" fmla="*/ 10 w 77"/>
                      <a:gd name="T11" fmla="*/ 0 h 22"/>
                      <a:gd name="T12" fmla="*/ 0 w 77"/>
                      <a:gd name="T13" fmla="*/ 11 h 22"/>
                      <a:gd name="T14" fmla="*/ 10 w 77"/>
                      <a:gd name="T15" fmla="*/ 21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0" y="21"/>
                        </a:moveTo>
                        <a:lnTo>
                          <a:pt x="10" y="21"/>
                        </a:lnTo>
                        <a:cubicBezTo>
                          <a:pt x="66" y="21"/>
                          <a:pt x="66" y="21"/>
                          <a:pt x="66" y="21"/>
                        </a:cubicBezTo>
                        <a:cubicBezTo>
                          <a:pt x="72" y="21"/>
                          <a:pt x="76" y="17"/>
                          <a:pt x="76" y="11"/>
                        </a:cubicBezTo>
                        <a:cubicBezTo>
                          <a:pt x="76" y="5"/>
                          <a:pt x="72" y="0"/>
                          <a:pt x="66" y="0"/>
                        </a:cubicBezTo>
                        <a:cubicBezTo>
                          <a:pt x="10" y="0"/>
                          <a:pt x="10" y="0"/>
                          <a:pt x="10" y="0"/>
                        </a:cubicBezTo>
                        <a:cubicBezTo>
                          <a:pt x="4" y="0"/>
                          <a:pt x="0" y="5"/>
                          <a:pt x="0" y="11"/>
                        </a:cubicBezTo>
                        <a:cubicBezTo>
                          <a:pt x="0" y="17"/>
                          <a:pt x="4" y="21"/>
                          <a:pt x="10" y="2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2" name="Freeform 320"/>
                  <p:cNvSpPr>
                    <a:spLocks noChangeArrowheads="1"/>
                  </p:cNvSpPr>
                  <p:nvPr/>
                </p:nvSpPr>
                <p:spPr bwMode="auto">
                  <a:xfrm>
                    <a:off x="5007756" y="2107115"/>
                    <a:ext cx="34536" cy="10158"/>
                  </a:xfrm>
                  <a:custGeom>
                    <a:avLst/>
                    <a:gdLst>
                      <a:gd name="T0" fmla="*/ 11 w 77"/>
                      <a:gd name="T1" fmla="*/ 21 h 22"/>
                      <a:gd name="T2" fmla="*/ 11 w 77"/>
                      <a:gd name="T3" fmla="*/ 21 h 22"/>
                      <a:gd name="T4" fmla="*/ 65 w 77"/>
                      <a:gd name="T5" fmla="*/ 21 h 22"/>
                      <a:gd name="T6" fmla="*/ 76 w 77"/>
                      <a:gd name="T7" fmla="*/ 11 h 22"/>
                      <a:gd name="T8" fmla="*/ 65 w 77"/>
                      <a:gd name="T9" fmla="*/ 0 h 22"/>
                      <a:gd name="T10" fmla="*/ 11 w 77"/>
                      <a:gd name="T11" fmla="*/ 0 h 22"/>
                      <a:gd name="T12" fmla="*/ 0 w 77"/>
                      <a:gd name="T13" fmla="*/ 11 h 22"/>
                      <a:gd name="T14" fmla="*/ 11 w 77"/>
                      <a:gd name="T15" fmla="*/ 21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1" y="21"/>
                        </a:moveTo>
                        <a:lnTo>
                          <a:pt x="11" y="21"/>
                        </a:lnTo>
                        <a:cubicBezTo>
                          <a:pt x="65" y="21"/>
                          <a:pt x="65" y="21"/>
                          <a:pt x="65" y="21"/>
                        </a:cubicBezTo>
                        <a:cubicBezTo>
                          <a:pt x="72" y="21"/>
                          <a:pt x="76" y="17"/>
                          <a:pt x="76" y="11"/>
                        </a:cubicBezTo>
                        <a:cubicBezTo>
                          <a:pt x="76" y="5"/>
                          <a:pt x="72" y="0"/>
                          <a:pt x="65" y="0"/>
                        </a:cubicBezTo>
                        <a:cubicBezTo>
                          <a:pt x="11" y="0"/>
                          <a:pt x="11" y="0"/>
                          <a:pt x="11" y="0"/>
                        </a:cubicBezTo>
                        <a:cubicBezTo>
                          <a:pt x="5" y="0"/>
                          <a:pt x="0" y="5"/>
                          <a:pt x="0" y="11"/>
                        </a:cubicBezTo>
                        <a:cubicBezTo>
                          <a:pt x="0" y="17"/>
                          <a:pt x="5" y="21"/>
                          <a:pt x="11" y="2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3" name="Freeform 321"/>
                  <p:cNvSpPr>
                    <a:spLocks noChangeArrowheads="1"/>
                  </p:cNvSpPr>
                  <p:nvPr/>
                </p:nvSpPr>
                <p:spPr bwMode="auto">
                  <a:xfrm>
                    <a:off x="4961032" y="2107115"/>
                    <a:ext cx="36567" cy="10158"/>
                  </a:xfrm>
                  <a:custGeom>
                    <a:avLst/>
                    <a:gdLst>
                      <a:gd name="T0" fmla="*/ 10 w 78"/>
                      <a:gd name="T1" fmla="*/ 21 h 22"/>
                      <a:gd name="T2" fmla="*/ 10 w 78"/>
                      <a:gd name="T3" fmla="*/ 21 h 22"/>
                      <a:gd name="T4" fmla="*/ 67 w 78"/>
                      <a:gd name="T5" fmla="*/ 21 h 22"/>
                      <a:gd name="T6" fmla="*/ 77 w 78"/>
                      <a:gd name="T7" fmla="*/ 11 h 22"/>
                      <a:gd name="T8" fmla="*/ 67 w 78"/>
                      <a:gd name="T9" fmla="*/ 0 h 22"/>
                      <a:gd name="T10" fmla="*/ 10 w 78"/>
                      <a:gd name="T11" fmla="*/ 0 h 22"/>
                      <a:gd name="T12" fmla="*/ 0 w 78"/>
                      <a:gd name="T13" fmla="*/ 11 h 22"/>
                      <a:gd name="T14" fmla="*/ 10 w 78"/>
                      <a:gd name="T15" fmla="*/ 21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8" h="22">
                        <a:moveTo>
                          <a:pt x="10" y="21"/>
                        </a:moveTo>
                        <a:lnTo>
                          <a:pt x="10" y="21"/>
                        </a:lnTo>
                        <a:cubicBezTo>
                          <a:pt x="67" y="21"/>
                          <a:pt x="67" y="21"/>
                          <a:pt x="67" y="21"/>
                        </a:cubicBezTo>
                        <a:cubicBezTo>
                          <a:pt x="73" y="21"/>
                          <a:pt x="77" y="17"/>
                          <a:pt x="77" y="11"/>
                        </a:cubicBezTo>
                        <a:cubicBezTo>
                          <a:pt x="77" y="5"/>
                          <a:pt x="73" y="0"/>
                          <a:pt x="67" y="0"/>
                        </a:cubicBezTo>
                        <a:cubicBezTo>
                          <a:pt x="10" y="0"/>
                          <a:pt x="10" y="0"/>
                          <a:pt x="10" y="0"/>
                        </a:cubicBezTo>
                        <a:cubicBezTo>
                          <a:pt x="5" y="0"/>
                          <a:pt x="0" y="5"/>
                          <a:pt x="0" y="11"/>
                        </a:cubicBezTo>
                        <a:cubicBezTo>
                          <a:pt x="0" y="17"/>
                          <a:pt x="5" y="21"/>
                          <a:pt x="10" y="2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4" name="Freeform 322"/>
                  <p:cNvSpPr>
                    <a:spLocks noChangeArrowheads="1"/>
                  </p:cNvSpPr>
                  <p:nvPr/>
                </p:nvSpPr>
                <p:spPr bwMode="auto">
                  <a:xfrm>
                    <a:off x="5056512" y="2033981"/>
                    <a:ext cx="34536" cy="10158"/>
                  </a:xfrm>
                  <a:custGeom>
                    <a:avLst/>
                    <a:gdLst>
                      <a:gd name="T0" fmla="*/ 11 w 77"/>
                      <a:gd name="T1" fmla="*/ 22 h 23"/>
                      <a:gd name="T2" fmla="*/ 11 w 77"/>
                      <a:gd name="T3" fmla="*/ 22 h 23"/>
                      <a:gd name="T4" fmla="*/ 66 w 77"/>
                      <a:gd name="T5" fmla="*/ 22 h 23"/>
                      <a:gd name="T6" fmla="*/ 76 w 77"/>
                      <a:gd name="T7" fmla="*/ 11 h 23"/>
                      <a:gd name="T8" fmla="*/ 66 w 77"/>
                      <a:gd name="T9" fmla="*/ 0 h 23"/>
                      <a:gd name="T10" fmla="*/ 11 w 77"/>
                      <a:gd name="T11" fmla="*/ 0 h 23"/>
                      <a:gd name="T12" fmla="*/ 0 w 77"/>
                      <a:gd name="T13" fmla="*/ 11 h 23"/>
                      <a:gd name="T14" fmla="*/ 11 w 77"/>
                      <a:gd name="T15" fmla="*/ 22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3">
                        <a:moveTo>
                          <a:pt x="11" y="22"/>
                        </a:moveTo>
                        <a:lnTo>
                          <a:pt x="11" y="22"/>
                        </a:lnTo>
                        <a:cubicBezTo>
                          <a:pt x="66" y="22"/>
                          <a:pt x="66" y="22"/>
                          <a:pt x="66" y="22"/>
                        </a:cubicBezTo>
                        <a:cubicBezTo>
                          <a:pt x="71" y="22"/>
                          <a:pt x="76" y="18"/>
                          <a:pt x="76" y="11"/>
                        </a:cubicBezTo>
                        <a:cubicBezTo>
                          <a:pt x="76" y="6"/>
                          <a:pt x="71" y="0"/>
                          <a:pt x="66" y="0"/>
                        </a:cubicBezTo>
                        <a:cubicBezTo>
                          <a:pt x="11" y="0"/>
                          <a:pt x="11" y="0"/>
                          <a:pt x="11" y="0"/>
                        </a:cubicBezTo>
                        <a:cubicBezTo>
                          <a:pt x="4" y="0"/>
                          <a:pt x="0" y="6"/>
                          <a:pt x="0" y="11"/>
                        </a:cubicBezTo>
                        <a:cubicBezTo>
                          <a:pt x="0" y="18"/>
                          <a:pt x="4" y="22"/>
                          <a:pt x="11"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5" name="Freeform 323"/>
                  <p:cNvSpPr>
                    <a:spLocks noChangeArrowheads="1"/>
                  </p:cNvSpPr>
                  <p:nvPr/>
                </p:nvSpPr>
                <p:spPr bwMode="auto">
                  <a:xfrm>
                    <a:off x="5007756" y="2033981"/>
                    <a:ext cx="34536" cy="10158"/>
                  </a:xfrm>
                  <a:custGeom>
                    <a:avLst/>
                    <a:gdLst>
                      <a:gd name="T0" fmla="*/ 11 w 77"/>
                      <a:gd name="T1" fmla="*/ 22 h 23"/>
                      <a:gd name="T2" fmla="*/ 11 w 77"/>
                      <a:gd name="T3" fmla="*/ 22 h 23"/>
                      <a:gd name="T4" fmla="*/ 65 w 77"/>
                      <a:gd name="T5" fmla="*/ 22 h 23"/>
                      <a:gd name="T6" fmla="*/ 76 w 77"/>
                      <a:gd name="T7" fmla="*/ 11 h 23"/>
                      <a:gd name="T8" fmla="*/ 65 w 77"/>
                      <a:gd name="T9" fmla="*/ 0 h 23"/>
                      <a:gd name="T10" fmla="*/ 11 w 77"/>
                      <a:gd name="T11" fmla="*/ 0 h 23"/>
                      <a:gd name="T12" fmla="*/ 0 w 77"/>
                      <a:gd name="T13" fmla="*/ 11 h 23"/>
                      <a:gd name="T14" fmla="*/ 11 w 77"/>
                      <a:gd name="T15" fmla="*/ 22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3">
                        <a:moveTo>
                          <a:pt x="11" y="22"/>
                        </a:moveTo>
                        <a:lnTo>
                          <a:pt x="11" y="22"/>
                        </a:lnTo>
                        <a:cubicBezTo>
                          <a:pt x="65" y="22"/>
                          <a:pt x="65" y="22"/>
                          <a:pt x="65" y="22"/>
                        </a:cubicBezTo>
                        <a:cubicBezTo>
                          <a:pt x="72" y="22"/>
                          <a:pt x="76" y="18"/>
                          <a:pt x="76" y="11"/>
                        </a:cubicBezTo>
                        <a:cubicBezTo>
                          <a:pt x="76" y="6"/>
                          <a:pt x="72" y="0"/>
                          <a:pt x="65" y="0"/>
                        </a:cubicBezTo>
                        <a:cubicBezTo>
                          <a:pt x="11" y="0"/>
                          <a:pt x="11" y="0"/>
                          <a:pt x="11" y="0"/>
                        </a:cubicBezTo>
                        <a:cubicBezTo>
                          <a:pt x="5" y="0"/>
                          <a:pt x="0" y="6"/>
                          <a:pt x="0" y="11"/>
                        </a:cubicBezTo>
                        <a:cubicBezTo>
                          <a:pt x="0" y="18"/>
                          <a:pt x="5" y="22"/>
                          <a:pt x="11"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6" name="Freeform 324"/>
                  <p:cNvSpPr>
                    <a:spLocks noChangeArrowheads="1"/>
                  </p:cNvSpPr>
                  <p:nvPr/>
                </p:nvSpPr>
                <p:spPr bwMode="auto">
                  <a:xfrm>
                    <a:off x="5056512" y="1948658"/>
                    <a:ext cx="34536" cy="10158"/>
                  </a:xfrm>
                  <a:custGeom>
                    <a:avLst/>
                    <a:gdLst>
                      <a:gd name="T0" fmla="*/ 11 w 77"/>
                      <a:gd name="T1" fmla="*/ 22 h 23"/>
                      <a:gd name="T2" fmla="*/ 11 w 77"/>
                      <a:gd name="T3" fmla="*/ 22 h 23"/>
                      <a:gd name="T4" fmla="*/ 66 w 77"/>
                      <a:gd name="T5" fmla="*/ 22 h 23"/>
                      <a:gd name="T6" fmla="*/ 76 w 77"/>
                      <a:gd name="T7" fmla="*/ 12 h 23"/>
                      <a:gd name="T8" fmla="*/ 66 w 77"/>
                      <a:gd name="T9" fmla="*/ 0 h 23"/>
                      <a:gd name="T10" fmla="*/ 11 w 77"/>
                      <a:gd name="T11" fmla="*/ 0 h 23"/>
                      <a:gd name="T12" fmla="*/ 0 w 77"/>
                      <a:gd name="T13" fmla="*/ 12 h 23"/>
                      <a:gd name="T14" fmla="*/ 11 w 77"/>
                      <a:gd name="T15" fmla="*/ 22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3">
                        <a:moveTo>
                          <a:pt x="11" y="22"/>
                        </a:moveTo>
                        <a:lnTo>
                          <a:pt x="11" y="22"/>
                        </a:lnTo>
                        <a:cubicBezTo>
                          <a:pt x="66" y="22"/>
                          <a:pt x="66" y="22"/>
                          <a:pt x="66" y="22"/>
                        </a:cubicBezTo>
                        <a:cubicBezTo>
                          <a:pt x="71" y="22"/>
                          <a:pt x="76" y="17"/>
                          <a:pt x="76" y="12"/>
                        </a:cubicBezTo>
                        <a:cubicBezTo>
                          <a:pt x="76" y="6"/>
                          <a:pt x="71" y="0"/>
                          <a:pt x="66" y="0"/>
                        </a:cubicBezTo>
                        <a:cubicBezTo>
                          <a:pt x="11" y="0"/>
                          <a:pt x="11" y="0"/>
                          <a:pt x="11" y="0"/>
                        </a:cubicBezTo>
                        <a:cubicBezTo>
                          <a:pt x="4" y="0"/>
                          <a:pt x="0" y="6"/>
                          <a:pt x="0" y="12"/>
                        </a:cubicBezTo>
                        <a:cubicBezTo>
                          <a:pt x="0" y="17"/>
                          <a:pt x="4" y="22"/>
                          <a:pt x="11" y="2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7" name="Freeform 325"/>
                  <p:cNvSpPr>
                    <a:spLocks noChangeArrowheads="1"/>
                  </p:cNvSpPr>
                  <p:nvPr/>
                </p:nvSpPr>
                <p:spPr bwMode="auto">
                  <a:xfrm>
                    <a:off x="5056512" y="2188375"/>
                    <a:ext cx="34536" cy="10158"/>
                  </a:xfrm>
                  <a:custGeom>
                    <a:avLst/>
                    <a:gdLst>
                      <a:gd name="T0" fmla="*/ 11 w 77"/>
                      <a:gd name="T1" fmla="*/ 0 h 22"/>
                      <a:gd name="T2" fmla="*/ 11 w 77"/>
                      <a:gd name="T3" fmla="*/ 0 h 22"/>
                      <a:gd name="T4" fmla="*/ 0 w 77"/>
                      <a:gd name="T5" fmla="*/ 11 h 22"/>
                      <a:gd name="T6" fmla="*/ 11 w 77"/>
                      <a:gd name="T7" fmla="*/ 21 h 22"/>
                      <a:gd name="T8" fmla="*/ 66 w 77"/>
                      <a:gd name="T9" fmla="*/ 21 h 22"/>
                      <a:gd name="T10" fmla="*/ 76 w 77"/>
                      <a:gd name="T11" fmla="*/ 11 h 22"/>
                      <a:gd name="T12" fmla="*/ 66 w 77"/>
                      <a:gd name="T13" fmla="*/ 0 h 22"/>
                      <a:gd name="T14" fmla="*/ 11 w 77"/>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1" y="0"/>
                        </a:moveTo>
                        <a:lnTo>
                          <a:pt x="11" y="0"/>
                        </a:lnTo>
                        <a:cubicBezTo>
                          <a:pt x="4" y="0"/>
                          <a:pt x="0" y="5"/>
                          <a:pt x="0" y="11"/>
                        </a:cubicBezTo>
                        <a:cubicBezTo>
                          <a:pt x="0" y="16"/>
                          <a:pt x="4" y="21"/>
                          <a:pt x="11" y="21"/>
                        </a:cubicBezTo>
                        <a:cubicBezTo>
                          <a:pt x="66" y="21"/>
                          <a:pt x="66" y="21"/>
                          <a:pt x="66" y="21"/>
                        </a:cubicBezTo>
                        <a:cubicBezTo>
                          <a:pt x="71" y="21"/>
                          <a:pt x="76" y="16"/>
                          <a:pt x="76" y="11"/>
                        </a:cubicBezTo>
                        <a:cubicBezTo>
                          <a:pt x="76" y="5"/>
                          <a:pt x="71" y="0"/>
                          <a:pt x="66" y="0"/>
                        </a:cubicBezTo>
                        <a:lnTo>
                          <a:pt x="11"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8" name="Freeform 326"/>
                  <p:cNvSpPr>
                    <a:spLocks noChangeArrowheads="1"/>
                  </p:cNvSpPr>
                  <p:nvPr/>
                </p:nvSpPr>
                <p:spPr bwMode="auto">
                  <a:xfrm>
                    <a:off x="4961032" y="2188375"/>
                    <a:ext cx="34535" cy="10158"/>
                  </a:xfrm>
                  <a:custGeom>
                    <a:avLst/>
                    <a:gdLst>
                      <a:gd name="T0" fmla="*/ 10 w 77"/>
                      <a:gd name="T1" fmla="*/ 0 h 22"/>
                      <a:gd name="T2" fmla="*/ 10 w 77"/>
                      <a:gd name="T3" fmla="*/ 0 h 22"/>
                      <a:gd name="T4" fmla="*/ 0 w 77"/>
                      <a:gd name="T5" fmla="*/ 11 h 22"/>
                      <a:gd name="T6" fmla="*/ 10 w 77"/>
                      <a:gd name="T7" fmla="*/ 21 h 22"/>
                      <a:gd name="T8" fmla="*/ 65 w 77"/>
                      <a:gd name="T9" fmla="*/ 21 h 22"/>
                      <a:gd name="T10" fmla="*/ 76 w 77"/>
                      <a:gd name="T11" fmla="*/ 11 h 22"/>
                      <a:gd name="T12" fmla="*/ 65 w 77"/>
                      <a:gd name="T13" fmla="*/ 0 h 22"/>
                      <a:gd name="T14" fmla="*/ 10 w 77"/>
                      <a:gd name="T15" fmla="*/ 0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22">
                        <a:moveTo>
                          <a:pt x="10" y="0"/>
                        </a:moveTo>
                        <a:lnTo>
                          <a:pt x="10" y="0"/>
                        </a:lnTo>
                        <a:cubicBezTo>
                          <a:pt x="5" y="0"/>
                          <a:pt x="0" y="5"/>
                          <a:pt x="0" y="11"/>
                        </a:cubicBezTo>
                        <a:cubicBezTo>
                          <a:pt x="0" y="16"/>
                          <a:pt x="5" y="21"/>
                          <a:pt x="10" y="21"/>
                        </a:cubicBezTo>
                        <a:cubicBezTo>
                          <a:pt x="65" y="21"/>
                          <a:pt x="65" y="21"/>
                          <a:pt x="65" y="21"/>
                        </a:cubicBezTo>
                        <a:cubicBezTo>
                          <a:pt x="72" y="21"/>
                          <a:pt x="76" y="16"/>
                          <a:pt x="76" y="11"/>
                        </a:cubicBezTo>
                        <a:cubicBezTo>
                          <a:pt x="76" y="5"/>
                          <a:pt x="72" y="0"/>
                          <a:pt x="65" y="0"/>
                        </a:cubicBezTo>
                        <a:lnTo>
                          <a:pt x="10"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sp>
              <p:nvSpPr>
                <p:cNvPr id="29" name="Freeform 427"/>
                <p:cNvSpPr>
                  <a:spLocks noChangeAspect="1" noChangeArrowheads="1"/>
                </p:cNvSpPr>
                <p:nvPr/>
              </p:nvSpPr>
              <p:spPr bwMode="auto">
                <a:xfrm>
                  <a:off x="1074532" y="5046229"/>
                  <a:ext cx="332770" cy="421121"/>
                </a:xfrm>
                <a:custGeom>
                  <a:avLst/>
                  <a:gdLst>
                    <a:gd name="T0" fmla="*/ 249 w 498"/>
                    <a:gd name="T1" fmla="*/ 628 h 629"/>
                    <a:gd name="T2" fmla="*/ 480 w 498"/>
                    <a:gd name="T3" fmla="*/ 457 h 629"/>
                    <a:gd name="T4" fmla="*/ 480 w 498"/>
                    <a:gd name="T5" fmla="*/ 367 h 629"/>
                    <a:gd name="T6" fmla="*/ 480 w 498"/>
                    <a:gd name="T7" fmla="*/ 276 h 629"/>
                    <a:gd name="T8" fmla="*/ 480 w 498"/>
                    <a:gd name="T9" fmla="*/ 184 h 629"/>
                    <a:gd name="T10" fmla="*/ 441 w 498"/>
                    <a:gd name="T11" fmla="*/ 58 h 629"/>
                    <a:gd name="T12" fmla="*/ 472 w 498"/>
                    <a:gd name="T13" fmla="*/ 26 h 629"/>
                    <a:gd name="T14" fmla="*/ 392 w 498"/>
                    <a:gd name="T15" fmla="*/ 12 h 629"/>
                    <a:gd name="T16" fmla="*/ 249 w 498"/>
                    <a:gd name="T17" fmla="*/ 14 h 629"/>
                    <a:gd name="T18" fmla="*/ 17 w 498"/>
                    <a:gd name="T19" fmla="*/ 184 h 629"/>
                    <a:gd name="T20" fmla="*/ 17 w 498"/>
                    <a:gd name="T21" fmla="*/ 276 h 629"/>
                    <a:gd name="T22" fmla="*/ 17 w 498"/>
                    <a:gd name="T23" fmla="*/ 367 h 629"/>
                    <a:gd name="T24" fmla="*/ 17 w 498"/>
                    <a:gd name="T25" fmla="*/ 457 h 629"/>
                    <a:gd name="T26" fmla="*/ 249 w 498"/>
                    <a:gd name="T27" fmla="*/ 628 h 629"/>
                    <a:gd name="T28" fmla="*/ 249 w 498"/>
                    <a:gd name="T29" fmla="*/ 35 h 629"/>
                    <a:gd name="T30" fmla="*/ 248 w 498"/>
                    <a:gd name="T31" fmla="*/ 102 h 629"/>
                    <a:gd name="T32" fmla="*/ 249 w 498"/>
                    <a:gd name="T33" fmla="*/ 173 h 629"/>
                    <a:gd name="T34" fmla="*/ 307 w 498"/>
                    <a:gd name="T35" fmla="*/ 125 h 629"/>
                    <a:gd name="T36" fmla="*/ 475 w 498"/>
                    <a:gd name="T37" fmla="*/ 138 h 629"/>
                    <a:gd name="T38" fmla="*/ 22 w 498"/>
                    <a:gd name="T39" fmla="*/ 138 h 629"/>
                    <a:gd name="T40" fmla="*/ 288 w 498"/>
                    <a:gd name="T41" fmla="*/ 138 h 629"/>
                    <a:gd name="T42" fmla="*/ 249 w 498"/>
                    <a:gd name="T43" fmla="*/ 152 h 629"/>
                    <a:gd name="T44" fmla="*/ 260 w 498"/>
                    <a:gd name="T45" fmla="*/ 147 h 629"/>
                    <a:gd name="T46" fmla="*/ 288 w 498"/>
                    <a:gd name="T47" fmla="*/ 138 h 629"/>
                    <a:gd name="T48" fmla="*/ 217 w 498"/>
                    <a:gd name="T49" fmla="*/ 145 h 629"/>
                    <a:gd name="T50" fmla="*/ 208 w 498"/>
                    <a:gd name="T51" fmla="*/ 138 h 629"/>
                    <a:gd name="T52" fmla="*/ 217 w 498"/>
                    <a:gd name="T53" fmla="*/ 145 h 629"/>
                    <a:gd name="T54" fmla="*/ 32 w 498"/>
                    <a:gd name="T55" fmla="*/ 199 h 629"/>
                    <a:gd name="T56" fmla="*/ 465 w 498"/>
                    <a:gd name="T57" fmla="*/ 199 h 629"/>
                    <a:gd name="T58" fmla="*/ 249 w 498"/>
                    <a:gd name="T59" fmla="*/ 332 h 629"/>
                    <a:gd name="T60" fmla="*/ 32 w 498"/>
                    <a:gd name="T61" fmla="*/ 199 h 629"/>
                    <a:gd name="T62" fmla="*/ 32 w 498"/>
                    <a:gd name="T63" fmla="*/ 290 h 629"/>
                    <a:gd name="T64" fmla="*/ 465 w 498"/>
                    <a:gd name="T65" fmla="*/ 290 h 629"/>
                    <a:gd name="T66" fmla="*/ 249 w 498"/>
                    <a:gd name="T67" fmla="*/ 424 h 629"/>
                    <a:gd name="T68" fmla="*/ 32 w 498"/>
                    <a:gd name="T69" fmla="*/ 290 h 629"/>
                    <a:gd name="T70" fmla="*/ 32 w 498"/>
                    <a:gd name="T71" fmla="*/ 383 h 629"/>
                    <a:gd name="T72" fmla="*/ 465 w 498"/>
                    <a:gd name="T73" fmla="*/ 382 h 629"/>
                    <a:gd name="T74" fmla="*/ 249 w 498"/>
                    <a:gd name="T75" fmla="*/ 515 h 629"/>
                    <a:gd name="T76" fmla="*/ 32 w 498"/>
                    <a:gd name="T77" fmla="*/ 383 h 629"/>
                    <a:gd name="T78" fmla="*/ 32 w 498"/>
                    <a:gd name="T79" fmla="*/ 474 h 629"/>
                    <a:gd name="T80" fmla="*/ 465 w 498"/>
                    <a:gd name="T81" fmla="*/ 474 h 629"/>
                    <a:gd name="T82" fmla="*/ 249 w 498"/>
                    <a:gd name="T83" fmla="*/ 606 h 629"/>
                    <a:gd name="T84" fmla="*/ 32 w 498"/>
                    <a:gd name="T85" fmla="*/ 474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629">
                      <a:moveTo>
                        <a:pt x="249" y="628"/>
                      </a:moveTo>
                      <a:lnTo>
                        <a:pt x="249" y="628"/>
                      </a:lnTo>
                      <a:cubicBezTo>
                        <a:pt x="388" y="628"/>
                        <a:pt x="497" y="574"/>
                        <a:pt x="497" y="503"/>
                      </a:cubicBezTo>
                      <a:cubicBezTo>
                        <a:pt x="497" y="488"/>
                        <a:pt x="490" y="473"/>
                        <a:pt x="480" y="457"/>
                      </a:cubicBezTo>
                      <a:cubicBezTo>
                        <a:pt x="490" y="444"/>
                        <a:pt x="497" y="428"/>
                        <a:pt x="497" y="413"/>
                      </a:cubicBezTo>
                      <a:cubicBezTo>
                        <a:pt x="497" y="396"/>
                        <a:pt x="490" y="381"/>
                        <a:pt x="480" y="367"/>
                      </a:cubicBezTo>
                      <a:cubicBezTo>
                        <a:pt x="490" y="352"/>
                        <a:pt x="497" y="337"/>
                        <a:pt x="497" y="321"/>
                      </a:cubicBezTo>
                      <a:cubicBezTo>
                        <a:pt x="497" y="305"/>
                        <a:pt x="490" y="289"/>
                        <a:pt x="480" y="276"/>
                      </a:cubicBezTo>
                      <a:cubicBezTo>
                        <a:pt x="490" y="261"/>
                        <a:pt x="497" y="246"/>
                        <a:pt x="497" y="229"/>
                      </a:cubicBezTo>
                      <a:cubicBezTo>
                        <a:pt x="497" y="214"/>
                        <a:pt x="490" y="198"/>
                        <a:pt x="480" y="184"/>
                      </a:cubicBezTo>
                      <a:cubicBezTo>
                        <a:pt x="490" y="170"/>
                        <a:pt x="497" y="153"/>
                        <a:pt x="497" y="138"/>
                      </a:cubicBezTo>
                      <a:cubicBezTo>
                        <a:pt x="497" y="107"/>
                        <a:pt x="476" y="79"/>
                        <a:pt x="441" y="58"/>
                      </a:cubicBezTo>
                      <a:cubicBezTo>
                        <a:pt x="450" y="54"/>
                        <a:pt x="459" y="49"/>
                        <a:pt x="465" y="46"/>
                      </a:cubicBezTo>
                      <a:cubicBezTo>
                        <a:pt x="471" y="41"/>
                        <a:pt x="474" y="34"/>
                        <a:pt x="472" y="26"/>
                      </a:cubicBezTo>
                      <a:cubicBezTo>
                        <a:pt x="467" y="12"/>
                        <a:pt x="437" y="0"/>
                        <a:pt x="418" y="2"/>
                      </a:cubicBezTo>
                      <a:cubicBezTo>
                        <a:pt x="411" y="3"/>
                        <a:pt x="397" y="9"/>
                        <a:pt x="392" y="12"/>
                      </a:cubicBezTo>
                      <a:cubicBezTo>
                        <a:pt x="386" y="16"/>
                        <a:pt x="376" y="22"/>
                        <a:pt x="366" y="28"/>
                      </a:cubicBezTo>
                      <a:cubicBezTo>
                        <a:pt x="330" y="19"/>
                        <a:pt x="290" y="14"/>
                        <a:pt x="249" y="14"/>
                      </a:cubicBezTo>
                      <a:cubicBezTo>
                        <a:pt x="109" y="14"/>
                        <a:pt x="0" y="68"/>
                        <a:pt x="0" y="138"/>
                      </a:cubicBezTo>
                      <a:cubicBezTo>
                        <a:pt x="0" y="153"/>
                        <a:pt x="6" y="170"/>
                        <a:pt x="17" y="184"/>
                      </a:cubicBezTo>
                      <a:cubicBezTo>
                        <a:pt x="6" y="198"/>
                        <a:pt x="0" y="214"/>
                        <a:pt x="0" y="229"/>
                      </a:cubicBezTo>
                      <a:cubicBezTo>
                        <a:pt x="0" y="246"/>
                        <a:pt x="6" y="261"/>
                        <a:pt x="17" y="276"/>
                      </a:cubicBezTo>
                      <a:cubicBezTo>
                        <a:pt x="6" y="289"/>
                        <a:pt x="0" y="305"/>
                        <a:pt x="0" y="321"/>
                      </a:cubicBezTo>
                      <a:cubicBezTo>
                        <a:pt x="0" y="337"/>
                        <a:pt x="6" y="352"/>
                        <a:pt x="17" y="367"/>
                      </a:cubicBezTo>
                      <a:cubicBezTo>
                        <a:pt x="6" y="381"/>
                        <a:pt x="0" y="396"/>
                        <a:pt x="0" y="413"/>
                      </a:cubicBezTo>
                      <a:cubicBezTo>
                        <a:pt x="0" y="428"/>
                        <a:pt x="6" y="444"/>
                        <a:pt x="17" y="457"/>
                      </a:cubicBezTo>
                      <a:cubicBezTo>
                        <a:pt x="6" y="473"/>
                        <a:pt x="0" y="488"/>
                        <a:pt x="0" y="503"/>
                      </a:cubicBezTo>
                      <a:cubicBezTo>
                        <a:pt x="0" y="574"/>
                        <a:pt x="109" y="628"/>
                        <a:pt x="249" y="628"/>
                      </a:cubicBezTo>
                      <a:close/>
                      <a:moveTo>
                        <a:pt x="249" y="35"/>
                      </a:moveTo>
                      <a:lnTo>
                        <a:pt x="249" y="35"/>
                      </a:lnTo>
                      <a:cubicBezTo>
                        <a:pt x="280" y="35"/>
                        <a:pt x="310" y="38"/>
                        <a:pt x="340" y="44"/>
                      </a:cubicBezTo>
                      <a:cubicBezTo>
                        <a:pt x="308" y="62"/>
                        <a:pt x="273" y="84"/>
                        <a:pt x="248" y="102"/>
                      </a:cubicBezTo>
                      <a:cubicBezTo>
                        <a:pt x="213" y="102"/>
                        <a:pt x="186" y="118"/>
                        <a:pt x="186" y="138"/>
                      </a:cubicBezTo>
                      <a:cubicBezTo>
                        <a:pt x="186" y="157"/>
                        <a:pt x="213" y="173"/>
                        <a:pt x="249" y="173"/>
                      </a:cubicBezTo>
                      <a:cubicBezTo>
                        <a:pt x="284" y="173"/>
                        <a:pt x="310" y="157"/>
                        <a:pt x="310" y="138"/>
                      </a:cubicBezTo>
                      <a:cubicBezTo>
                        <a:pt x="310" y="132"/>
                        <a:pt x="309" y="129"/>
                        <a:pt x="307" y="125"/>
                      </a:cubicBezTo>
                      <a:cubicBezTo>
                        <a:pt x="340" y="109"/>
                        <a:pt x="383" y="88"/>
                        <a:pt x="418" y="70"/>
                      </a:cubicBezTo>
                      <a:cubicBezTo>
                        <a:pt x="454" y="88"/>
                        <a:pt x="475" y="112"/>
                        <a:pt x="475" y="138"/>
                      </a:cubicBezTo>
                      <a:cubicBezTo>
                        <a:pt x="475" y="194"/>
                        <a:pt x="371" y="240"/>
                        <a:pt x="249" y="240"/>
                      </a:cubicBezTo>
                      <a:cubicBezTo>
                        <a:pt x="125" y="240"/>
                        <a:pt x="22" y="194"/>
                        <a:pt x="22" y="138"/>
                      </a:cubicBezTo>
                      <a:cubicBezTo>
                        <a:pt x="22" y="82"/>
                        <a:pt x="125" y="35"/>
                        <a:pt x="249" y="35"/>
                      </a:cubicBezTo>
                      <a:close/>
                      <a:moveTo>
                        <a:pt x="288" y="138"/>
                      </a:moveTo>
                      <a:lnTo>
                        <a:pt x="288" y="138"/>
                      </a:lnTo>
                      <a:cubicBezTo>
                        <a:pt x="288" y="142"/>
                        <a:pt x="274" y="152"/>
                        <a:pt x="249" y="152"/>
                      </a:cubicBezTo>
                      <a:cubicBezTo>
                        <a:pt x="248" y="152"/>
                        <a:pt x="247" y="152"/>
                        <a:pt x="247" y="152"/>
                      </a:cubicBezTo>
                      <a:cubicBezTo>
                        <a:pt x="252" y="150"/>
                        <a:pt x="257" y="148"/>
                        <a:pt x="260" y="147"/>
                      </a:cubicBezTo>
                      <a:cubicBezTo>
                        <a:pt x="262" y="147"/>
                        <a:pt x="272" y="142"/>
                        <a:pt x="287" y="135"/>
                      </a:cubicBezTo>
                      <a:cubicBezTo>
                        <a:pt x="288" y="136"/>
                        <a:pt x="288" y="137"/>
                        <a:pt x="288" y="138"/>
                      </a:cubicBezTo>
                      <a:close/>
                      <a:moveTo>
                        <a:pt x="217" y="145"/>
                      </a:moveTo>
                      <a:lnTo>
                        <a:pt x="217" y="145"/>
                      </a:lnTo>
                      <a:cubicBezTo>
                        <a:pt x="217" y="145"/>
                        <a:pt x="218" y="146"/>
                        <a:pt x="219" y="146"/>
                      </a:cubicBezTo>
                      <a:cubicBezTo>
                        <a:pt x="212" y="143"/>
                        <a:pt x="208" y="140"/>
                        <a:pt x="208" y="138"/>
                      </a:cubicBezTo>
                      <a:cubicBezTo>
                        <a:pt x="208" y="136"/>
                        <a:pt x="212" y="132"/>
                        <a:pt x="217" y="130"/>
                      </a:cubicBezTo>
                      <a:cubicBezTo>
                        <a:pt x="214" y="137"/>
                        <a:pt x="215" y="142"/>
                        <a:pt x="217" y="145"/>
                      </a:cubicBezTo>
                      <a:close/>
                      <a:moveTo>
                        <a:pt x="32" y="199"/>
                      </a:moveTo>
                      <a:lnTo>
                        <a:pt x="32" y="199"/>
                      </a:lnTo>
                      <a:cubicBezTo>
                        <a:pt x="74" y="236"/>
                        <a:pt x="155" y="262"/>
                        <a:pt x="249" y="262"/>
                      </a:cubicBezTo>
                      <a:cubicBezTo>
                        <a:pt x="343" y="262"/>
                        <a:pt x="423" y="236"/>
                        <a:pt x="465" y="199"/>
                      </a:cubicBezTo>
                      <a:cubicBezTo>
                        <a:pt x="472" y="209"/>
                        <a:pt x="475" y="219"/>
                        <a:pt x="475" y="229"/>
                      </a:cubicBezTo>
                      <a:cubicBezTo>
                        <a:pt x="475" y="285"/>
                        <a:pt x="371" y="332"/>
                        <a:pt x="249" y="332"/>
                      </a:cubicBezTo>
                      <a:cubicBezTo>
                        <a:pt x="125" y="332"/>
                        <a:pt x="22" y="285"/>
                        <a:pt x="22" y="229"/>
                      </a:cubicBezTo>
                      <a:cubicBezTo>
                        <a:pt x="22" y="219"/>
                        <a:pt x="26" y="209"/>
                        <a:pt x="32" y="199"/>
                      </a:cubicBezTo>
                      <a:close/>
                      <a:moveTo>
                        <a:pt x="32" y="290"/>
                      </a:moveTo>
                      <a:lnTo>
                        <a:pt x="32" y="290"/>
                      </a:lnTo>
                      <a:cubicBezTo>
                        <a:pt x="74" y="329"/>
                        <a:pt x="155" y="353"/>
                        <a:pt x="249" y="353"/>
                      </a:cubicBezTo>
                      <a:cubicBezTo>
                        <a:pt x="343" y="353"/>
                        <a:pt x="423" y="329"/>
                        <a:pt x="465" y="290"/>
                      </a:cubicBezTo>
                      <a:cubicBezTo>
                        <a:pt x="472" y="300"/>
                        <a:pt x="475" y="310"/>
                        <a:pt x="475" y="321"/>
                      </a:cubicBezTo>
                      <a:cubicBezTo>
                        <a:pt x="475" y="376"/>
                        <a:pt x="371" y="424"/>
                        <a:pt x="249" y="424"/>
                      </a:cubicBezTo>
                      <a:cubicBezTo>
                        <a:pt x="125" y="424"/>
                        <a:pt x="22" y="376"/>
                        <a:pt x="22" y="321"/>
                      </a:cubicBezTo>
                      <a:cubicBezTo>
                        <a:pt x="22" y="310"/>
                        <a:pt x="26" y="301"/>
                        <a:pt x="32" y="290"/>
                      </a:cubicBezTo>
                      <a:close/>
                      <a:moveTo>
                        <a:pt x="32" y="383"/>
                      </a:moveTo>
                      <a:lnTo>
                        <a:pt x="32" y="383"/>
                      </a:lnTo>
                      <a:cubicBezTo>
                        <a:pt x="74" y="420"/>
                        <a:pt x="155" y="445"/>
                        <a:pt x="249" y="445"/>
                      </a:cubicBezTo>
                      <a:cubicBezTo>
                        <a:pt x="343" y="445"/>
                        <a:pt x="423" y="420"/>
                        <a:pt x="465" y="382"/>
                      </a:cubicBezTo>
                      <a:cubicBezTo>
                        <a:pt x="472" y="393"/>
                        <a:pt x="475" y="402"/>
                        <a:pt x="475" y="413"/>
                      </a:cubicBezTo>
                      <a:cubicBezTo>
                        <a:pt x="475" y="468"/>
                        <a:pt x="371" y="515"/>
                        <a:pt x="249" y="515"/>
                      </a:cubicBezTo>
                      <a:cubicBezTo>
                        <a:pt x="125" y="515"/>
                        <a:pt x="22" y="468"/>
                        <a:pt x="22" y="413"/>
                      </a:cubicBezTo>
                      <a:cubicBezTo>
                        <a:pt x="22" y="402"/>
                        <a:pt x="26" y="393"/>
                        <a:pt x="32" y="383"/>
                      </a:cubicBezTo>
                      <a:close/>
                      <a:moveTo>
                        <a:pt x="32" y="474"/>
                      </a:moveTo>
                      <a:lnTo>
                        <a:pt x="32" y="474"/>
                      </a:lnTo>
                      <a:cubicBezTo>
                        <a:pt x="74" y="511"/>
                        <a:pt x="155" y="537"/>
                        <a:pt x="249" y="537"/>
                      </a:cubicBezTo>
                      <a:cubicBezTo>
                        <a:pt x="343" y="537"/>
                        <a:pt x="423" y="511"/>
                        <a:pt x="465" y="474"/>
                      </a:cubicBezTo>
                      <a:cubicBezTo>
                        <a:pt x="472" y="484"/>
                        <a:pt x="475" y="494"/>
                        <a:pt x="475" y="503"/>
                      </a:cubicBezTo>
                      <a:cubicBezTo>
                        <a:pt x="475" y="560"/>
                        <a:pt x="371" y="606"/>
                        <a:pt x="249" y="606"/>
                      </a:cubicBezTo>
                      <a:cubicBezTo>
                        <a:pt x="125" y="606"/>
                        <a:pt x="22" y="560"/>
                        <a:pt x="22" y="503"/>
                      </a:cubicBezTo>
                      <a:cubicBezTo>
                        <a:pt x="22" y="494"/>
                        <a:pt x="26" y="484"/>
                        <a:pt x="32" y="474"/>
                      </a:cubicBezTo>
                      <a:close/>
                    </a:path>
                  </a:pathLst>
                </a:custGeom>
                <a:solidFill>
                  <a:schemeClr val="tx2"/>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sp>
            <p:nvSpPr>
              <p:cNvPr id="2" name="Rectangle 1"/>
              <p:cNvSpPr/>
              <p:nvPr/>
            </p:nvSpPr>
            <p:spPr>
              <a:xfrm>
                <a:off x="900148" y="5492986"/>
                <a:ext cx="736099" cy="369332"/>
              </a:xfrm>
              <a:prstGeom prst="rect">
                <a:avLst/>
              </a:prstGeom>
            </p:spPr>
            <p:txBody>
              <a:bodyPr wrap="none">
                <a:spAutoFit/>
              </a:bodyPr>
              <a:lstStyle/>
              <a:p>
                <a:r>
                  <a:rPr lang="en-US" b="1" dirty="0"/>
                  <a:t>Siloes</a:t>
                </a:r>
                <a:endParaRPr lang="en-GB" sz="3600" b="1" dirty="0"/>
              </a:p>
            </p:txBody>
          </p:sp>
        </p:grpSp>
      </p:grpSp>
      <p:grpSp>
        <p:nvGrpSpPr>
          <p:cNvPr id="87" name="Group 86"/>
          <p:cNvGrpSpPr/>
          <p:nvPr/>
        </p:nvGrpSpPr>
        <p:grpSpPr>
          <a:xfrm>
            <a:off x="6546254" y="2257261"/>
            <a:ext cx="4699132" cy="1104900"/>
            <a:chOff x="788867" y="3294167"/>
            <a:chExt cx="4699132" cy="1104900"/>
          </a:xfrm>
        </p:grpSpPr>
        <p:sp>
          <p:nvSpPr>
            <p:cNvPr id="45" name="Rectangle 44"/>
            <p:cNvSpPr/>
            <p:nvPr/>
          </p:nvSpPr>
          <p:spPr>
            <a:xfrm>
              <a:off x="1946123" y="3551151"/>
              <a:ext cx="3541876" cy="590931"/>
            </a:xfrm>
            <a:prstGeom prst="rect">
              <a:avLst/>
            </a:prstGeom>
            <a:ln w="19050">
              <a:solidFill>
                <a:srgbClr val="3896F3"/>
              </a:solidFill>
            </a:ln>
          </p:spPr>
          <p:txBody>
            <a:bodyPr wrap="square">
              <a:spAutoFit/>
            </a:bodyPr>
            <a:lstStyle/>
            <a:p>
              <a:pPr lvl="0" defTabSz="711200">
                <a:lnSpc>
                  <a:spcPct val="90000"/>
                </a:lnSpc>
                <a:spcBef>
                  <a:spcPct val="0"/>
                </a:spcBef>
                <a:spcAft>
                  <a:spcPct val="35000"/>
                </a:spcAft>
              </a:pPr>
              <a:r>
                <a:rPr lang="en-US" dirty="0"/>
                <a:t>Growing need to protect and retain all important information</a:t>
              </a:r>
            </a:p>
          </p:txBody>
        </p:sp>
        <p:sp>
          <p:nvSpPr>
            <p:cNvPr id="47" name="Rectangle 46"/>
            <p:cNvSpPr/>
            <p:nvPr/>
          </p:nvSpPr>
          <p:spPr>
            <a:xfrm>
              <a:off x="834145" y="3294167"/>
              <a:ext cx="1021054" cy="11049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Rectangle 48"/>
            <p:cNvSpPr/>
            <p:nvPr/>
          </p:nvSpPr>
          <p:spPr>
            <a:xfrm>
              <a:off x="788867" y="3960794"/>
              <a:ext cx="1122102" cy="369332"/>
            </a:xfrm>
            <a:prstGeom prst="rect">
              <a:avLst/>
            </a:prstGeom>
          </p:spPr>
          <p:txBody>
            <a:bodyPr wrap="none">
              <a:spAutoFit/>
            </a:bodyPr>
            <a:lstStyle/>
            <a:p>
              <a:r>
                <a:rPr lang="en-US" b="1" dirty="0"/>
                <a:t>Retention</a:t>
              </a:r>
              <a:endParaRPr lang="en-GB" sz="3600" b="1" dirty="0"/>
            </a:p>
          </p:txBody>
        </p:sp>
        <p:grpSp>
          <p:nvGrpSpPr>
            <p:cNvPr id="85" name="Group 84"/>
            <p:cNvGrpSpPr/>
            <p:nvPr/>
          </p:nvGrpSpPr>
          <p:grpSpPr>
            <a:xfrm>
              <a:off x="974504" y="3507181"/>
              <a:ext cx="750828" cy="372742"/>
              <a:chOff x="1077053" y="3507181"/>
              <a:chExt cx="750828" cy="372742"/>
            </a:xfrm>
          </p:grpSpPr>
          <p:grpSp>
            <p:nvGrpSpPr>
              <p:cNvPr id="78" name="Group 77"/>
              <p:cNvGrpSpPr>
                <a:grpSpLocks noChangeAspect="1"/>
              </p:cNvGrpSpPr>
              <p:nvPr/>
            </p:nvGrpSpPr>
            <p:grpSpPr>
              <a:xfrm>
                <a:off x="1077053" y="3568133"/>
                <a:ext cx="349299" cy="311790"/>
                <a:chOff x="3128763" y="2870006"/>
                <a:chExt cx="276049" cy="246406"/>
              </a:xfrm>
              <a:solidFill>
                <a:srgbClr val="0078EF"/>
              </a:solidFill>
            </p:grpSpPr>
            <p:sp>
              <p:nvSpPr>
                <p:cNvPr id="79" name="Freeform 86"/>
                <p:cNvSpPr>
                  <a:spLocks noChangeArrowheads="1"/>
                </p:cNvSpPr>
                <p:nvPr/>
              </p:nvSpPr>
              <p:spPr bwMode="auto">
                <a:xfrm>
                  <a:off x="3328852" y="3027483"/>
                  <a:ext cx="66696" cy="77813"/>
                </a:xfrm>
                <a:custGeom>
                  <a:avLst/>
                  <a:gdLst>
                    <a:gd name="T0" fmla="*/ 78 w 158"/>
                    <a:gd name="T1" fmla="*/ 0 h 184"/>
                    <a:gd name="T2" fmla="*/ 78 w 158"/>
                    <a:gd name="T3" fmla="*/ 0 h 184"/>
                    <a:gd name="T4" fmla="*/ 29 w 158"/>
                    <a:gd name="T5" fmla="*/ 48 h 184"/>
                    <a:gd name="T6" fmla="*/ 29 w 158"/>
                    <a:gd name="T7" fmla="*/ 69 h 184"/>
                    <a:gd name="T8" fmla="*/ 12 w 158"/>
                    <a:gd name="T9" fmla="*/ 69 h 184"/>
                    <a:gd name="T10" fmla="*/ 0 w 158"/>
                    <a:gd name="T11" fmla="*/ 82 h 184"/>
                    <a:gd name="T12" fmla="*/ 0 w 158"/>
                    <a:gd name="T13" fmla="*/ 171 h 184"/>
                    <a:gd name="T14" fmla="*/ 12 w 158"/>
                    <a:gd name="T15" fmla="*/ 183 h 184"/>
                    <a:gd name="T16" fmla="*/ 145 w 158"/>
                    <a:gd name="T17" fmla="*/ 183 h 184"/>
                    <a:gd name="T18" fmla="*/ 157 w 158"/>
                    <a:gd name="T19" fmla="*/ 171 h 184"/>
                    <a:gd name="T20" fmla="*/ 157 w 158"/>
                    <a:gd name="T21" fmla="*/ 82 h 184"/>
                    <a:gd name="T22" fmla="*/ 145 w 158"/>
                    <a:gd name="T23" fmla="*/ 69 h 184"/>
                    <a:gd name="T24" fmla="*/ 127 w 158"/>
                    <a:gd name="T25" fmla="*/ 69 h 184"/>
                    <a:gd name="T26" fmla="*/ 127 w 158"/>
                    <a:gd name="T27" fmla="*/ 49 h 184"/>
                    <a:gd name="T28" fmla="*/ 78 w 158"/>
                    <a:gd name="T29" fmla="*/ 0 h 184"/>
                    <a:gd name="T30" fmla="*/ 53 w 158"/>
                    <a:gd name="T31" fmla="*/ 48 h 184"/>
                    <a:gd name="T32" fmla="*/ 53 w 158"/>
                    <a:gd name="T33" fmla="*/ 48 h 184"/>
                    <a:gd name="T34" fmla="*/ 78 w 158"/>
                    <a:gd name="T35" fmla="*/ 23 h 184"/>
                    <a:gd name="T36" fmla="*/ 104 w 158"/>
                    <a:gd name="T37" fmla="*/ 49 h 184"/>
                    <a:gd name="T38" fmla="*/ 104 w 158"/>
                    <a:gd name="T39" fmla="*/ 69 h 184"/>
                    <a:gd name="T40" fmla="*/ 53 w 158"/>
                    <a:gd name="T41" fmla="*/ 69 h 184"/>
                    <a:gd name="T42" fmla="*/ 53 w 158"/>
                    <a:gd name="T43" fmla="*/ 48 h 184"/>
                    <a:gd name="T44" fmla="*/ 133 w 158"/>
                    <a:gd name="T45" fmla="*/ 93 h 184"/>
                    <a:gd name="T46" fmla="*/ 133 w 158"/>
                    <a:gd name="T47" fmla="*/ 93 h 184"/>
                    <a:gd name="T48" fmla="*/ 133 w 158"/>
                    <a:gd name="T49" fmla="*/ 159 h 184"/>
                    <a:gd name="T50" fmla="*/ 23 w 158"/>
                    <a:gd name="T51" fmla="*/ 159 h 184"/>
                    <a:gd name="T52" fmla="*/ 23 w 158"/>
                    <a:gd name="T53" fmla="*/ 93 h 184"/>
                    <a:gd name="T54" fmla="*/ 133 w 158"/>
                    <a:gd name="T55" fmla="*/ 93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8" h="184">
                      <a:moveTo>
                        <a:pt x="78" y="0"/>
                      </a:moveTo>
                      <a:lnTo>
                        <a:pt x="78" y="0"/>
                      </a:lnTo>
                      <a:cubicBezTo>
                        <a:pt x="51" y="0"/>
                        <a:pt x="29" y="22"/>
                        <a:pt x="29" y="48"/>
                      </a:cubicBezTo>
                      <a:cubicBezTo>
                        <a:pt x="29" y="69"/>
                        <a:pt x="29" y="69"/>
                        <a:pt x="29" y="69"/>
                      </a:cubicBezTo>
                      <a:cubicBezTo>
                        <a:pt x="12" y="69"/>
                        <a:pt x="12" y="69"/>
                        <a:pt x="12" y="69"/>
                      </a:cubicBezTo>
                      <a:cubicBezTo>
                        <a:pt x="5" y="69"/>
                        <a:pt x="0" y="75"/>
                        <a:pt x="0" y="82"/>
                      </a:cubicBezTo>
                      <a:cubicBezTo>
                        <a:pt x="0" y="171"/>
                        <a:pt x="0" y="171"/>
                        <a:pt x="0" y="171"/>
                      </a:cubicBezTo>
                      <a:cubicBezTo>
                        <a:pt x="0" y="178"/>
                        <a:pt x="5" y="183"/>
                        <a:pt x="12" y="183"/>
                      </a:cubicBezTo>
                      <a:cubicBezTo>
                        <a:pt x="145" y="183"/>
                        <a:pt x="145" y="183"/>
                        <a:pt x="145" y="183"/>
                      </a:cubicBezTo>
                      <a:cubicBezTo>
                        <a:pt x="152" y="183"/>
                        <a:pt x="157" y="178"/>
                        <a:pt x="157" y="171"/>
                      </a:cubicBezTo>
                      <a:cubicBezTo>
                        <a:pt x="157" y="82"/>
                        <a:pt x="157" y="82"/>
                        <a:pt x="157" y="82"/>
                      </a:cubicBezTo>
                      <a:cubicBezTo>
                        <a:pt x="157" y="75"/>
                        <a:pt x="152" y="69"/>
                        <a:pt x="145" y="69"/>
                      </a:cubicBezTo>
                      <a:cubicBezTo>
                        <a:pt x="127" y="69"/>
                        <a:pt x="127" y="69"/>
                        <a:pt x="127" y="69"/>
                      </a:cubicBezTo>
                      <a:cubicBezTo>
                        <a:pt x="127" y="49"/>
                        <a:pt x="127" y="49"/>
                        <a:pt x="127" y="49"/>
                      </a:cubicBezTo>
                      <a:cubicBezTo>
                        <a:pt x="127" y="22"/>
                        <a:pt x="105" y="0"/>
                        <a:pt x="78" y="0"/>
                      </a:cubicBezTo>
                      <a:close/>
                      <a:moveTo>
                        <a:pt x="53" y="48"/>
                      </a:moveTo>
                      <a:lnTo>
                        <a:pt x="53" y="48"/>
                      </a:lnTo>
                      <a:cubicBezTo>
                        <a:pt x="53" y="34"/>
                        <a:pt x="65" y="23"/>
                        <a:pt x="78" y="23"/>
                      </a:cubicBezTo>
                      <a:cubicBezTo>
                        <a:pt x="93" y="23"/>
                        <a:pt x="104" y="34"/>
                        <a:pt x="104" y="49"/>
                      </a:cubicBezTo>
                      <a:cubicBezTo>
                        <a:pt x="104" y="69"/>
                        <a:pt x="104" y="69"/>
                        <a:pt x="104" y="69"/>
                      </a:cubicBezTo>
                      <a:cubicBezTo>
                        <a:pt x="53" y="69"/>
                        <a:pt x="53" y="69"/>
                        <a:pt x="53" y="69"/>
                      </a:cubicBezTo>
                      <a:lnTo>
                        <a:pt x="53" y="48"/>
                      </a:lnTo>
                      <a:close/>
                      <a:moveTo>
                        <a:pt x="133" y="93"/>
                      </a:moveTo>
                      <a:lnTo>
                        <a:pt x="133" y="93"/>
                      </a:lnTo>
                      <a:cubicBezTo>
                        <a:pt x="133" y="159"/>
                        <a:pt x="133" y="159"/>
                        <a:pt x="133" y="159"/>
                      </a:cubicBezTo>
                      <a:cubicBezTo>
                        <a:pt x="23" y="159"/>
                        <a:pt x="23" y="159"/>
                        <a:pt x="23" y="159"/>
                      </a:cubicBezTo>
                      <a:cubicBezTo>
                        <a:pt x="23" y="93"/>
                        <a:pt x="23" y="93"/>
                        <a:pt x="23" y="93"/>
                      </a:cubicBezTo>
                      <a:lnTo>
                        <a:pt x="133" y="9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white"/>
                    </a:solidFill>
                    <a:latin typeface="Arial" charset="0"/>
                  </a:endParaRPr>
                </a:p>
              </p:txBody>
            </p:sp>
            <p:sp>
              <p:nvSpPr>
                <p:cNvPr id="80" name="Freeform 87"/>
                <p:cNvSpPr>
                  <a:spLocks noChangeArrowheads="1"/>
                </p:cNvSpPr>
                <p:nvPr/>
              </p:nvSpPr>
              <p:spPr bwMode="auto">
                <a:xfrm>
                  <a:off x="3128763" y="2870006"/>
                  <a:ext cx="276049" cy="246406"/>
                </a:xfrm>
                <a:custGeom>
                  <a:avLst/>
                  <a:gdLst>
                    <a:gd name="T0" fmla="*/ 616 w 659"/>
                    <a:gd name="T1" fmla="*/ 144 h 586"/>
                    <a:gd name="T2" fmla="*/ 616 w 659"/>
                    <a:gd name="T3" fmla="*/ 144 h 586"/>
                    <a:gd name="T4" fmla="*/ 586 w 659"/>
                    <a:gd name="T5" fmla="*/ 144 h 586"/>
                    <a:gd name="T6" fmla="*/ 586 w 659"/>
                    <a:gd name="T7" fmla="*/ 118 h 586"/>
                    <a:gd name="T8" fmla="*/ 544 w 659"/>
                    <a:gd name="T9" fmla="*/ 75 h 586"/>
                    <a:gd name="T10" fmla="*/ 249 w 659"/>
                    <a:gd name="T11" fmla="*/ 75 h 586"/>
                    <a:gd name="T12" fmla="*/ 229 w 659"/>
                    <a:gd name="T13" fmla="*/ 29 h 586"/>
                    <a:gd name="T14" fmla="*/ 185 w 659"/>
                    <a:gd name="T15" fmla="*/ 0 h 586"/>
                    <a:gd name="T16" fmla="*/ 42 w 659"/>
                    <a:gd name="T17" fmla="*/ 0 h 586"/>
                    <a:gd name="T18" fmla="*/ 0 w 659"/>
                    <a:gd name="T19" fmla="*/ 43 h 586"/>
                    <a:gd name="T20" fmla="*/ 0 w 659"/>
                    <a:gd name="T21" fmla="*/ 535 h 586"/>
                    <a:gd name="T22" fmla="*/ 12 w 659"/>
                    <a:gd name="T23" fmla="*/ 568 h 586"/>
                    <a:gd name="T24" fmla="*/ 49 w 659"/>
                    <a:gd name="T25" fmla="*/ 585 h 586"/>
                    <a:gd name="T26" fmla="*/ 49 w 659"/>
                    <a:gd name="T27" fmla="*/ 585 h 586"/>
                    <a:gd name="T28" fmla="*/ 444 w 659"/>
                    <a:gd name="T29" fmla="*/ 585 h 586"/>
                    <a:gd name="T30" fmla="*/ 456 w 659"/>
                    <a:gd name="T31" fmla="*/ 574 h 586"/>
                    <a:gd name="T32" fmla="*/ 444 w 659"/>
                    <a:gd name="T33" fmla="*/ 561 h 586"/>
                    <a:gd name="T34" fmla="*/ 95 w 659"/>
                    <a:gd name="T35" fmla="*/ 561 h 586"/>
                    <a:gd name="T36" fmla="*/ 100 w 659"/>
                    <a:gd name="T37" fmla="*/ 546 h 586"/>
                    <a:gd name="T38" fmla="*/ 101 w 659"/>
                    <a:gd name="T39" fmla="*/ 527 h 586"/>
                    <a:gd name="T40" fmla="*/ 101 w 659"/>
                    <a:gd name="T41" fmla="*/ 527 h 586"/>
                    <a:gd name="T42" fmla="*/ 101 w 659"/>
                    <a:gd name="T43" fmla="*/ 186 h 586"/>
                    <a:gd name="T44" fmla="*/ 121 w 659"/>
                    <a:gd name="T45" fmla="*/ 168 h 586"/>
                    <a:gd name="T46" fmla="*/ 616 w 659"/>
                    <a:gd name="T47" fmla="*/ 168 h 586"/>
                    <a:gd name="T48" fmla="*/ 635 w 659"/>
                    <a:gd name="T49" fmla="*/ 186 h 586"/>
                    <a:gd name="T50" fmla="*/ 635 w 659"/>
                    <a:gd name="T51" fmla="*/ 376 h 586"/>
                    <a:gd name="T52" fmla="*/ 647 w 659"/>
                    <a:gd name="T53" fmla="*/ 388 h 586"/>
                    <a:gd name="T54" fmla="*/ 658 w 659"/>
                    <a:gd name="T55" fmla="*/ 376 h 586"/>
                    <a:gd name="T56" fmla="*/ 658 w 659"/>
                    <a:gd name="T57" fmla="*/ 186 h 586"/>
                    <a:gd name="T58" fmla="*/ 616 w 659"/>
                    <a:gd name="T59" fmla="*/ 144 h 586"/>
                    <a:gd name="T60" fmla="*/ 121 w 659"/>
                    <a:gd name="T61" fmla="*/ 144 h 586"/>
                    <a:gd name="T62" fmla="*/ 121 w 659"/>
                    <a:gd name="T63" fmla="*/ 144 h 586"/>
                    <a:gd name="T64" fmla="*/ 78 w 659"/>
                    <a:gd name="T65" fmla="*/ 186 h 586"/>
                    <a:gd name="T66" fmla="*/ 77 w 659"/>
                    <a:gd name="T67" fmla="*/ 536 h 586"/>
                    <a:gd name="T68" fmla="*/ 77 w 659"/>
                    <a:gd name="T69" fmla="*/ 536 h 586"/>
                    <a:gd name="T70" fmla="*/ 77 w 659"/>
                    <a:gd name="T71" fmla="*/ 541 h 586"/>
                    <a:gd name="T72" fmla="*/ 49 w 659"/>
                    <a:gd name="T73" fmla="*/ 561 h 586"/>
                    <a:gd name="T74" fmla="*/ 49 w 659"/>
                    <a:gd name="T75" fmla="*/ 561 h 586"/>
                    <a:gd name="T76" fmla="*/ 29 w 659"/>
                    <a:gd name="T77" fmla="*/ 553 h 586"/>
                    <a:gd name="T78" fmla="*/ 23 w 659"/>
                    <a:gd name="T79" fmla="*/ 535 h 586"/>
                    <a:gd name="T80" fmla="*/ 23 w 659"/>
                    <a:gd name="T81" fmla="*/ 43 h 586"/>
                    <a:gd name="T82" fmla="*/ 42 w 659"/>
                    <a:gd name="T83" fmla="*/ 24 h 586"/>
                    <a:gd name="T84" fmla="*/ 185 w 659"/>
                    <a:gd name="T85" fmla="*/ 24 h 586"/>
                    <a:gd name="T86" fmla="*/ 207 w 659"/>
                    <a:gd name="T87" fmla="*/ 38 h 586"/>
                    <a:gd name="T88" fmla="*/ 233 w 659"/>
                    <a:gd name="T89" fmla="*/ 99 h 586"/>
                    <a:gd name="T90" fmla="*/ 544 w 659"/>
                    <a:gd name="T91" fmla="*/ 99 h 586"/>
                    <a:gd name="T92" fmla="*/ 562 w 659"/>
                    <a:gd name="T93" fmla="*/ 118 h 586"/>
                    <a:gd name="T94" fmla="*/ 563 w 659"/>
                    <a:gd name="T95" fmla="*/ 144 h 586"/>
                    <a:gd name="T96" fmla="*/ 121 w 659"/>
                    <a:gd name="T97" fmla="*/ 144 h 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9" h="586">
                      <a:moveTo>
                        <a:pt x="616" y="144"/>
                      </a:moveTo>
                      <a:lnTo>
                        <a:pt x="616" y="144"/>
                      </a:lnTo>
                      <a:cubicBezTo>
                        <a:pt x="586" y="144"/>
                        <a:pt x="586" y="144"/>
                        <a:pt x="586" y="144"/>
                      </a:cubicBezTo>
                      <a:cubicBezTo>
                        <a:pt x="586" y="118"/>
                        <a:pt x="586" y="118"/>
                        <a:pt x="586" y="118"/>
                      </a:cubicBezTo>
                      <a:cubicBezTo>
                        <a:pt x="586" y="95"/>
                        <a:pt x="567" y="75"/>
                        <a:pt x="544" y="75"/>
                      </a:cubicBezTo>
                      <a:cubicBezTo>
                        <a:pt x="249" y="75"/>
                        <a:pt x="249" y="75"/>
                        <a:pt x="249" y="75"/>
                      </a:cubicBezTo>
                      <a:cubicBezTo>
                        <a:pt x="229" y="29"/>
                        <a:pt x="229" y="29"/>
                        <a:pt x="229" y="29"/>
                      </a:cubicBezTo>
                      <a:cubicBezTo>
                        <a:pt x="221" y="11"/>
                        <a:pt x="204" y="0"/>
                        <a:pt x="185" y="0"/>
                      </a:cubicBezTo>
                      <a:cubicBezTo>
                        <a:pt x="42" y="0"/>
                        <a:pt x="42" y="0"/>
                        <a:pt x="42" y="0"/>
                      </a:cubicBezTo>
                      <a:cubicBezTo>
                        <a:pt x="19" y="0"/>
                        <a:pt x="0" y="20"/>
                        <a:pt x="0" y="43"/>
                      </a:cubicBezTo>
                      <a:cubicBezTo>
                        <a:pt x="0" y="535"/>
                        <a:pt x="0" y="535"/>
                        <a:pt x="0" y="535"/>
                      </a:cubicBezTo>
                      <a:cubicBezTo>
                        <a:pt x="0" y="548"/>
                        <a:pt x="4" y="559"/>
                        <a:pt x="12" y="568"/>
                      </a:cubicBezTo>
                      <a:cubicBezTo>
                        <a:pt x="18" y="576"/>
                        <a:pt x="29" y="585"/>
                        <a:pt x="49" y="585"/>
                      </a:cubicBezTo>
                      <a:lnTo>
                        <a:pt x="49" y="585"/>
                      </a:lnTo>
                      <a:cubicBezTo>
                        <a:pt x="444" y="585"/>
                        <a:pt x="444" y="585"/>
                        <a:pt x="444" y="585"/>
                      </a:cubicBezTo>
                      <a:cubicBezTo>
                        <a:pt x="451" y="585"/>
                        <a:pt x="456" y="580"/>
                        <a:pt x="456" y="574"/>
                      </a:cubicBezTo>
                      <a:cubicBezTo>
                        <a:pt x="456" y="566"/>
                        <a:pt x="451" y="561"/>
                        <a:pt x="444" y="561"/>
                      </a:cubicBezTo>
                      <a:cubicBezTo>
                        <a:pt x="95" y="561"/>
                        <a:pt x="95" y="561"/>
                        <a:pt x="95" y="561"/>
                      </a:cubicBezTo>
                      <a:cubicBezTo>
                        <a:pt x="97" y="556"/>
                        <a:pt x="100" y="551"/>
                        <a:pt x="100" y="546"/>
                      </a:cubicBezTo>
                      <a:cubicBezTo>
                        <a:pt x="101" y="542"/>
                        <a:pt x="101" y="527"/>
                        <a:pt x="101" y="527"/>
                      </a:cubicBezTo>
                      <a:lnTo>
                        <a:pt x="101" y="527"/>
                      </a:lnTo>
                      <a:cubicBezTo>
                        <a:pt x="101" y="186"/>
                        <a:pt x="101" y="186"/>
                        <a:pt x="101" y="186"/>
                      </a:cubicBezTo>
                      <a:cubicBezTo>
                        <a:pt x="101" y="176"/>
                        <a:pt x="111" y="168"/>
                        <a:pt x="121" y="168"/>
                      </a:cubicBezTo>
                      <a:cubicBezTo>
                        <a:pt x="616" y="168"/>
                        <a:pt x="616" y="168"/>
                        <a:pt x="616" y="168"/>
                      </a:cubicBezTo>
                      <a:cubicBezTo>
                        <a:pt x="626" y="168"/>
                        <a:pt x="635" y="176"/>
                        <a:pt x="635" y="186"/>
                      </a:cubicBezTo>
                      <a:cubicBezTo>
                        <a:pt x="635" y="376"/>
                        <a:pt x="635" y="376"/>
                        <a:pt x="635" y="376"/>
                      </a:cubicBezTo>
                      <a:cubicBezTo>
                        <a:pt x="635" y="383"/>
                        <a:pt x="641" y="388"/>
                        <a:pt x="647" y="388"/>
                      </a:cubicBezTo>
                      <a:cubicBezTo>
                        <a:pt x="653" y="388"/>
                        <a:pt x="658" y="383"/>
                        <a:pt x="658" y="376"/>
                      </a:cubicBezTo>
                      <a:cubicBezTo>
                        <a:pt x="658" y="186"/>
                        <a:pt x="658" y="186"/>
                        <a:pt x="658" y="186"/>
                      </a:cubicBezTo>
                      <a:cubicBezTo>
                        <a:pt x="658" y="163"/>
                        <a:pt x="639" y="144"/>
                        <a:pt x="616" y="144"/>
                      </a:cubicBezTo>
                      <a:close/>
                      <a:moveTo>
                        <a:pt x="121" y="144"/>
                      </a:moveTo>
                      <a:lnTo>
                        <a:pt x="121" y="144"/>
                      </a:lnTo>
                      <a:cubicBezTo>
                        <a:pt x="98" y="144"/>
                        <a:pt x="78" y="163"/>
                        <a:pt x="78" y="186"/>
                      </a:cubicBezTo>
                      <a:cubicBezTo>
                        <a:pt x="77" y="536"/>
                        <a:pt x="77" y="536"/>
                        <a:pt x="77" y="536"/>
                      </a:cubicBezTo>
                      <a:lnTo>
                        <a:pt x="77" y="536"/>
                      </a:lnTo>
                      <a:cubicBezTo>
                        <a:pt x="77" y="538"/>
                        <a:pt x="77" y="540"/>
                        <a:pt x="77" y="541"/>
                      </a:cubicBezTo>
                      <a:cubicBezTo>
                        <a:pt x="76" y="551"/>
                        <a:pt x="70" y="561"/>
                        <a:pt x="49" y="561"/>
                      </a:cubicBezTo>
                      <a:lnTo>
                        <a:pt x="49" y="561"/>
                      </a:lnTo>
                      <a:cubicBezTo>
                        <a:pt x="41" y="561"/>
                        <a:pt x="35" y="558"/>
                        <a:pt x="29" y="553"/>
                      </a:cubicBezTo>
                      <a:cubicBezTo>
                        <a:pt x="25" y="549"/>
                        <a:pt x="23" y="541"/>
                        <a:pt x="23" y="535"/>
                      </a:cubicBezTo>
                      <a:cubicBezTo>
                        <a:pt x="23" y="43"/>
                        <a:pt x="23" y="43"/>
                        <a:pt x="23" y="43"/>
                      </a:cubicBezTo>
                      <a:cubicBezTo>
                        <a:pt x="23" y="32"/>
                        <a:pt x="31" y="24"/>
                        <a:pt x="42" y="24"/>
                      </a:cubicBezTo>
                      <a:cubicBezTo>
                        <a:pt x="185" y="24"/>
                        <a:pt x="185" y="24"/>
                        <a:pt x="185" y="24"/>
                      </a:cubicBezTo>
                      <a:cubicBezTo>
                        <a:pt x="195" y="24"/>
                        <a:pt x="203" y="29"/>
                        <a:pt x="207" y="38"/>
                      </a:cubicBezTo>
                      <a:cubicBezTo>
                        <a:pt x="233" y="99"/>
                        <a:pt x="233" y="99"/>
                        <a:pt x="233" y="99"/>
                      </a:cubicBezTo>
                      <a:cubicBezTo>
                        <a:pt x="544" y="99"/>
                        <a:pt x="544" y="99"/>
                        <a:pt x="544" y="99"/>
                      </a:cubicBezTo>
                      <a:cubicBezTo>
                        <a:pt x="554" y="99"/>
                        <a:pt x="562" y="107"/>
                        <a:pt x="562" y="118"/>
                      </a:cubicBezTo>
                      <a:cubicBezTo>
                        <a:pt x="563" y="144"/>
                        <a:pt x="563" y="144"/>
                        <a:pt x="563" y="144"/>
                      </a:cubicBezTo>
                      <a:lnTo>
                        <a:pt x="121" y="14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white"/>
                    </a:solidFill>
                    <a:latin typeface="Arial" charset="0"/>
                  </a:endParaRPr>
                </a:p>
              </p:txBody>
            </p:sp>
          </p:grpSp>
          <p:grpSp>
            <p:nvGrpSpPr>
              <p:cNvPr id="82" name="Group 81"/>
              <p:cNvGrpSpPr>
                <a:grpSpLocks noChangeAspect="1"/>
              </p:cNvGrpSpPr>
              <p:nvPr/>
            </p:nvGrpSpPr>
            <p:grpSpPr>
              <a:xfrm>
                <a:off x="1499679" y="3507181"/>
                <a:ext cx="328202" cy="372742"/>
                <a:chOff x="4010638" y="1895496"/>
                <a:chExt cx="259375" cy="294575"/>
              </a:xfrm>
              <a:solidFill>
                <a:srgbClr val="0078EF"/>
              </a:solidFill>
            </p:grpSpPr>
            <p:sp>
              <p:nvSpPr>
                <p:cNvPr id="83" name="Freeform 199"/>
                <p:cNvSpPr>
                  <a:spLocks noChangeArrowheads="1"/>
                </p:cNvSpPr>
                <p:nvPr/>
              </p:nvSpPr>
              <p:spPr bwMode="auto">
                <a:xfrm>
                  <a:off x="4010638" y="1895496"/>
                  <a:ext cx="216763" cy="294575"/>
                </a:xfrm>
                <a:custGeom>
                  <a:avLst/>
                  <a:gdLst>
                    <a:gd name="T0" fmla="*/ 134 w 515"/>
                    <a:gd name="T1" fmla="*/ 701 h 702"/>
                    <a:gd name="T2" fmla="*/ 134 w 515"/>
                    <a:gd name="T3" fmla="*/ 701 h 702"/>
                    <a:gd name="T4" fmla="*/ 367 w 515"/>
                    <a:gd name="T5" fmla="*/ 701 h 702"/>
                    <a:gd name="T6" fmla="*/ 514 w 515"/>
                    <a:gd name="T7" fmla="*/ 552 h 702"/>
                    <a:gd name="T8" fmla="*/ 514 w 515"/>
                    <a:gd name="T9" fmla="*/ 467 h 702"/>
                    <a:gd name="T10" fmla="*/ 502 w 515"/>
                    <a:gd name="T11" fmla="*/ 455 h 702"/>
                    <a:gd name="T12" fmla="*/ 490 w 515"/>
                    <a:gd name="T13" fmla="*/ 467 h 702"/>
                    <a:gd name="T14" fmla="*/ 490 w 515"/>
                    <a:gd name="T15" fmla="*/ 552 h 702"/>
                    <a:gd name="T16" fmla="*/ 367 w 515"/>
                    <a:gd name="T17" fmla="*/ 677 h 702"/>
                    <a:gd name="T18" fmla="*/ 134 w 515"/>
                    <a:gd name="T19" fmla="*/ 677 h 702"/>
                    <a:gd name="T20" fmla="*/ 23 w 515"/>
                    <a:gd name="T21" fmla="*/ 552 h 702"/>
                    <a:gd name="T22" fmla="*/ 23 w 515"/>
                    <a:gd name="T23" fmla="*/ 350 h 702"/>
                    <a:gd name="T24" fmla="*/ 490 w 515"/>
                    <a:gd name="T25" fmla="*/ 350 h 702"/>
                    <a:gd name="T26" fmla="*/ 502 w 515"/>
                    <a:gd name="T27" fmla="*/ 339 h 702"/>
                    <a:gd name="T28" fmla="*/ 490 w 515"/>
                    <a:gd name="T29" fmla="*/ 327 h 702"/>
                    <a:gd name="T30" fmla="*/ 490 w 515"/>
                    <a:gd name="T31" fmla="*/ 201 h 702"/>
                    <a:gd name="T32" fmla="*/ 265 w 515"/>
                    <a:gd name="T33" fmla="*/ 0 h 702"/>
                    <a:gd name="T34" fmla="*/ 236 w 515"/>
                    <a:gd name="T35" fmla="*/ 0 h 702"/>
                    <a:gd name="T36" fmla="*/ 23 w 515"/>
                    <a:gd name="T37" fmla="*/ 201 h 702"/>
                    <a:gd name="T38" fmla="*/ 23 w 515"/>
                    <a:gd name="T39" fmla="*/ 327 h 702"/>
                    <a:gd name="T40" fmla="*/ 12 w 515"/>
                    <a:gd name="T41" fmla="*/ 327 h 702"/>
                    <a:gd name="T42" fmla="*/ 0 w 515"/>
                    <a:gd name="T43" fmla="*/ 339 h 702"/>
                    <a:gd name="T44" fmla="*/ 0 w 515"/>
                    <a:gd name="T45" fmla="*/ 552 h 702"/>
                    <a:gd name="T46" fmla="*/ 134 w 515"/>
                    <a:gd name="T47" fmla="*/ 701 h 702"/>
                    <a:gd name="T48" fmla="*/ 46 w 515"/>
                    <a:gd name="T49" fmla="*/ 201 h 702"/>
                    <a:gd name="T50" fmla="*/ 46 w 515"/>
                    <a:gd name="T51" fmla="*/ 201 h 702"/>
                    <a:gd name="T52" fmla="*/ 236 w 515"/>
                    <a:gd name="T53" fmla="*/ 23 h 702"/>
                    <a:gd name="T54" fmla="*/ 265 w 515"/>
                    <a:gd name="T55" fmla="*/ 23 h 702"/>
                    <a:gd name="T56" fmla="*/ 467 w 515"/>
                    <a:gd name="T57" fmla="*/ 201 h 702"/>
                    <a:gd name="T58" fmla="*/ 467 w 515"/>
                    <a:gd name="T59" fmla="*/ 327 h 702"/>
                    <a:gd name="T60" fmla="*/ 46 w 515"/>
                    <a:gd name="T61" fmla="*/ 327 h 702"/>
                    <a:gd name="T62" fmla="*/ 46 w 515"/>
                    <a:gd name="T63" fmla="*/ 201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15" h="702">
                      <a:moveTo>
                        <a:pt x="134" y="701"/>
                      </a:moveTo>
                      <a:lnTo>
                        <a:pt x="134" y="701"/>
                      </a:lnTo>
                      <a:cubicBezTo>
                        <a:pt x="367" y="701"/>
                        <a:pt x="367" y="701"/>
                        <a:pt x="367" y="701"/>
                      </a:cubicBezTo>
                      <a:cubicBezTo>
                        <a:pt x="445" y="701"/>
                        <a:pt x="514" y="631"/>
                        <a:pt x="514" y="552"/>
                      </a:cubicBezTo>
                      <a:cubicBezTo>
                        <a:pt x="514" y="467"/>
                        <a:pt x="514" y="467"/>
                        <a:pt x="514" y="467"/>
                      </a:cubicBezTo>
                      <a:cubicBezTo>
                        <a:pt x="514" y="461"/>
                        <a:pt x="508" y="455"/>
                        <a:pt x="502" y="455"/>
                      </a:cubicBezTo>
                      <a:cubicBezTo>
                        <a:pt x="495" y="455"/>
                        <a:pt x="490" y="461"/>
                        <a:pt x="490" y="467"/>
                      </a:cubicBezTo>
                      <a:cubicBezTo>
                        <a:pt x="490" y="552"/>
                        <a:pt x="490" y="552"/>
                        <a:pt x="490" y="552"/>
                      </a:cubicBezTo>
                      <a:cubicBezTo>
                        <a:pt x="490" y="619"/>
                        <a:pt x="432" y="677"/>
                        <a:pt x="367" y="677"/>
                      </a:cubicBezTo>
                      <a:cubicBezTo>
                        <a:pt x="134" y="677"/>
                        <a:pt x="134" y="677"/>
                        <a:pt x="134" y="677"/>
                      </a:cubicBezTo>
                      <a:cubicBezTo>
                        <a:pt x="65" y="677"/>
                        <a:pt x="23" y="614"/>
                        <a:pt x="23" y="552"/>
                      </a:cubicBezTo>
                      <a:cubicBezTo>
                        <a:pt x="23" y="350"/>
                        <a:pt x="23" y="350"/>
                        <a:pt x="23" y="350"/>
                      </a:cubicBezTo>
                      <a:cubicBezTo>
                        <a:pt x="490" y="350"/>
                        <a:pt x="490" y="350"/>
                        <a:pt x="490" y="350"/>
                      </a:cubicBezTo>
                      <a:cubicBezTo>
                        <a:pt x="497" y="350"/>
                        <a:pt x="502" y="345"/>
                        <a:pt x="502" y="339"/>
                      </a:cubicBezTo>
                      <a:cubicBezTo>
                        <a:pt x="502" y="332"/>
                        <a:pt x="497" y="327"/>
                        <a:pt x="490" y="327"/>
                      </a:cubicBezTo>
                      <a:cubicBezTo>
                        <a:pt x="490" y="201"/>
                        <a:pt x="490" y="201"/>
                        <a:pt x="490" y="201"/>
                      </a:cubicBezTo>
                      <a:cubicBezTo>
                        <a:pt x="490" y="89"/>
                        <a:pt x="392" y="0"/>
                        <a:pt x="265" y="0"/>
                      </a:cubicBezTo>
                      <a:cubicBezTo>
                        <a:pt x="236" y="0"/>
                        <a:pt x="236" y="0"/>
                        <a:pt x="236" y="0"/>
                      </a:cubicBezTo>
                      <a:cubicBezTo>
                        <a:pt x="113" y="0"/>
                        <a:pt x="23" y="85"/>
                        <a:pt x="23" y="201"/>
                      </a:cubicBezTo>
                      <a:cubicBezTo>
                        <a:pt x="23" y="327"/>
                        <a:pt x="23" y="327"/>
                        <a:pt x="23" y="327"/>
                      </a:cubicBezTo>
                      <a:cubicBezTo>
                        <a:pt x="12" y="327"/>
                        <a:pt x="12" y="327"/>
                        <a:pt x="12" y="327"/>
                      </a:cubicBezTo>
                      <a:cubicBezTo>
                        <a:pt x="5" y="327"/>
                        <a:pt x="0" y="332"/>
                        <a:pt x="0" y="339"/>
                      </a:cubicBezTo>
                      <a:cubicBezTo>
                        <a:pt x="0" y="552"/>
                        <a:pt x="0" y="552"/>
                        <a:pt x="0" y="552"/>
                      </a:cubicBezTo>
                      <a:cubicBezTo>
                        <a:pt x="0" y="635"/>
                        <a:pt x="59" y="701"/>
                        <a:pt x="134" y="701"/>
                      </a:cubicBezTo>
                      <a:close/>
                      <a:moveTo>
                        <a:pt x="46" y="201"/>
                      </a:moveTo>
                      <a:lnTo>
                        <a:pt x="46" y="201"/>
                      </a:lnTo>
                      <a:cubicBezTo>
                        <a:pt x="46" y="98"/>
                        <a:pt x="126" y="23"/>
                        <a:pt x="236" y="23"/>
                      </a:cubicBezTo>
                      <a:cubicBezTo>
                        <a:pt x="265" y="23"/>
                        <a:pt x="265" y="23"/>
                        <a:pt x="265" y="23"/>
                      </a:cubicBezTo>
                      <a:cubicBezTo>
                        <a:pt x="365" y="23"/>
                        <a:pt x="467" y="90"/>
                        <a:pt x="467" y="201"/>
                      </a:cubicBezTo>
                      <a:cubicBezTo>
                        <a:pt x="467" y="327"/>
                        <a:pt x="467" y="327"/>
                        <a:pt x="467" y="327"/>
                      </a:cubicBezTo>
                      <a:cubicBezTo>
                        <a:pt x="46" y="327"/>
                        <a:pt x="46" y="327"/>
                        <a:pt x="46" y="327"/>
                      </a:cubicBezTo>
                      <a:lnTo>
                        <a:pt x="46" y="20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4" name="Freeform 200"/>
                <p:cNvSpPr>
                  <a:spLocks noChangeArrowheads="1"/>
                </p:cNvSpPr>
                <p:nvPr/>
              </p:nvSpPr>
              <p:spPr bwMode="auto">
                <a:xfrm>
                  <a:off x="4075481" y="2023331"/>
                  <a:ext cx="194532" cy="122277"/>
                </a:xfrm>
                <a:custGeom>
                  <a:avLst/>
                  <a:gdLst>
                    <a:gd name="T0" fmla="*/ 21 w 462"/>
                    <a:gd name="T1" fmla="*/ 183 h 289"/>
                    <a:gd name="T2" fmla="*/ 21 w 462"/>
                    <a:gd name="T3" fmla="*/ 183 h 289"/>
                    <a:gd name="T4" fmla="*/ 4 w 462"/>
                    <a:gd name="T5" fmla="*/ 183 h 289"/>
                    <a:gd name="T6" fmla="*/ 4 w 462"/>
                    <a:gd name="T7" fmla="*/ 199 h 289"/>
                    <a:gd name="T8" fmla="*/ 90 w 462"/>
                    <a:gd name="T9" fmla="*/ 283 h 289"/>
                    <a:gd name="T10" fmla="*/ 98 w 462"/>
                    <a:gd name="T11" fmla="*/ 288 h 289"/>
                    <a:gd name="T12" fmla="*/ 105 w 462"/>
                    <a:gd name="T13" fmla="*/ 285 h 289"/>
                    <a:gd name="T14" fmla="*/ 455 w 462"/>
                    <a:gd name="T15" fmla="*/ 23 h 289"/>
                    <a:gd name="T16" fmla="*/ 458 w 462"/>
                    <a:gd name="T17" fmla="*/ 7 h 289"/>
                    <a:gd name="T18" fmla="*/ 442 w 462"/>
                    <a:gd name="T19" fmla="*/ 4 h 289"/>
                    <a:gd name="T20" fmla="*/ 99 w 462"/>
                    <a:gd name="T21" fmla="*/ 261 h 289"/>
                    <a:gd name="T22" fmla="*/ 21 w 462"/>
                    <a:gd name="T23" fmla="*/ 183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62" h="289">
                      <a:moveTo>
                        <a:pt x="21" y="183"/>
                      </a:moveTo>
                      <a:lnTo>
                        <a:pt x="21" y="183"/>
                      </a:lnTo>
                      <a:cubicBezTo>
                        <a:pt x="17" y="177"/>
                        <a:pt x="10" y="177"/>
                        <a:pt x="4" y="183"/>
                      </a:cubicBezTo>
                      <a:cubicBezTo>
                        <a:pt x="0" y="187"/>
                        <a:pt x="0" y="194"/>
                        <a:pt x="4" y="199"/>
                      </a:cubicBezTo>
                      <a:cubicBezTo>
                        <a:pt x="90" y="283"/>
                        <a:pt x="90" y="283"/>
                        <a:pt x="90" y="283"/>
                      </a:cubicBezTo>
                      <a:cubicBezTo>
                        <a:pt x="93" y="287"/>
                        <a:pt x="96" y="288"/>
                        <a:pt x="98" y="288"/>
                      </a:cubicBezTo>
                      <a:cubicBezTo>
                        <a:pt x="101" y="288"/>
                        <a:pt x="103" y="287"/>
                        <a:pt x="105" y="285"/>
                      </a:cubicBezTo>
                      <a:cubicBezTo>
                        <a:pt x="455" y="23"/>
                        <a:pt x="455" y="23"/>
                        <a:pt x="455" y="23"/>
                      </a:cubicBezTo>
                      <a:cubicBezTo>
                        <a:pt x="460" y="19"/>
                        <a:pt x="461" y="12"/>
                        <a:pt x="458" y="7"/>
                      </a:cubicBezTo>
                      <a:cubicBezTo>
                        <a:pt x="454" y="1"/>
                        <a:pt x="447" y="0"/>
                        <a:pt x="442" y="4"/>
                      </a:cubicBezTo>
                      <a:cubicBezTo>
                        <a:pt x="99" y="261"/>
                        <a:pt x="99" y="261"/>
                        <a:pt x="99" y="261"/>
                      </a:cubicBezTo>
                      <a:lnTo>
                        <a:pt x="21" y="183"/>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nvGrpSpPr>
          <p:cNvPr id="34" name="Group 33"/>
          <p:cNvGrpSpPr/>
          <p:nvPr/>
        </p:nvGrpSpPr>
        <p:grpSpPr>
          <a:xfrm>
            <a:off x="738067" y="3806582"/>
            <a:ext cx="4749932" cy="840230"/>
            <a:chOff x="6509817" y="3970569"/>
            <a:chExt cx="4749932" cy="840230"/>
          </a:xfrm>
        </p:grpSpPr>
        <p:sp>
          <p:nvSpPr>
            <p:cNvPr id="89" name="Rectangle 88"/>
            <p:cNvSpPr/>
            <p:nvPr/>
          </p:nvSpPr>
          <p:spPr>
            <a:xfrm>
              <a:off x="7717873" y="3970569"/>
              <a:ext cx="3541876" cy="840230"/>
            </a:xfrm>
            <a:prstGeom prst="rect">
              <a:avLst/>
            </a:prstGeom>
            <a:ln w="19050">
              <a:solidFill>
                <a:srgbClr val="3896F3"/>
              </a:solidFill>
            </a:ln>
          </p:spPr>
          <p:txBody>
            <a:bodyPr wrap="square">
              <a:spAutoFit/>
            </a:bodyPr>
            <a:lstStyle/>
            <a:p>
              <a:pPr lvl="0" defTabSz="711200">
                <a:lnSpc>
                  <a:spcPct val="90000"/>
                </a:lnSpc>
                <a:spcBef>
                  <a:spcPct val="0"/>
                </a:spcBef>
                <a:spcAft>
                  <a:spcPct val="35000"/>
                </a:spcAft>
              </a:pPr>
              <a:r>
                <a:rPr lang="en-US" dirty="0"/>
                <a:t>Find-ability has an impact on business initiative and ability to deliver services and results</a:t>
              </a:r>
            </a:p>
          </p:txBody>
        </p:sp>
        <p:grpSp>
          <p:nvGrpSpPr>
            <p:cNvPr id="33" name="Group 32"/>
            <p:cNvGrpSpPr/>
            <p:nvPr/>
          </p:nvGrpSpPr>
          <p:grpSpPr>
            <a:xfrm>
              <a:off x="6509817" y="4029080"/>
              <a:ext cx="1258678" cy="723209"/>
              <a:chOff x="6509817" y="4026335"/>
              <a:chExt cx="1258678" cy="723209"/>
            </a:xfrm>
          </p:grpSpPr>
          <p:sp>
            <p:nvSpPr>
              <p:cNvPr id="91" name="Rectangle 90"/>
              <p:cNvSpPr/>
              <p:nvPr/>
            </p:nvSpPr>
            <p:spPr>
              <a:xfrm>
                <a:off x="6509817" y="4380212"/>
                <a:ext cx="1258678" cy="369332"/>
              </a:xfrm>
              <a:prstGeom prst="rect">
                <a:avLst/>
              </a:prstGeom>
            </p:spPr>
            <p:txBody>
              <a:bodyPr wrap="none">
                <a:spAutoFit/>
              </a:bodyPr>
              <a:lstStyle/>
              <a:p>
                <a:r>
                  <a:rPr lang="en-US" b="1" dirty="0"/>
                  <a:t>Find-ability</a:t>
                </a:r>
                <a:endParaRPr lang="en-GB" sz="3600" b="1" dirty="0"/>
              </a:p>
            </p:txBody>
          </p:sp>
          <p:grpSp>
            <p:nvGrpSpPr>
              <p:cNvPr id="32" name="Group 31"/>
              <p:cNvGrpSpPr/>
              <p:nvPr/>
            </p:nvGrpSpPr>
            <p:grpSpPr>
              <a:xfrm>
                <a:off x="6709391" y="4026335"/>
                <a:ext cx="859531" cy="411664"/>
                <a:chOff x="6619988" y="4026335"/>
                <a:chExt cx="859531" cy="411664"/>
              </a:xfrm>
            </p:grpSpPr>
            <p:sp>
              <p:nvSpPr>
                <p:cNvPr id="100" name="Freeform 105"/>
                <p:cNvSpPr>
                  <a:spLocks noChangeAspect="1" noChangeArrowheads="1"/>
                </p:cNvSpPr>
                <p:nvPr/>
              </p:nvSpPr>
              <p:spPr bwMode="auto">
                <a:xfrm>
                  <a:off x="7040418" y="4046486"/>
                  <a:ext cx="439101" cy="391512"/>
                </a:xfrm>
                <a:custGeom>
                  <a:avLst/>
                  <a:gdLst>
                    <a:gd name="T0" fmla="*/ 596 w 683"/>
                    <a:gd name="T1" fmla="*/ 155 h 600"/>
                    <a:gd name="T2" fmla="*/ 620 w 683"/>
                    <a:gd name="T3" fmla="*/ 93 h 600"/>
                    <a:gd name="T4" fmla="*/ 445 w 683"/>
                    <a:gd name="T5" fmla="*/ 14 h 600"/>
                    <a:gd name="T6" fmla="*/ 434 w 683"/>
                    <a:gd name="T7" fmla="*/ 139 h 600"/>
                    <a:gd name="T8" fmla="*/ 273 w 683"/>
                    <a:gd name="T9" fmla="*/ 138 h 600"/>
                    <a:gd name="T10" fmla="*/ 182 w 683"/>
                    <a:gd name="T11" fmla="*/ 8 h 600"/>
                    <a:gd name="T12" fmla="*/ 43 w 683"/>
                    <a:gd name="T13" fmla="*/ 231 h 600"/>
                    <a:gd name="T14" fmla="*/ 3 w 683"/>
                    <a:gd name="T15" fmla="*/ 306 h 600"/>
                    <a:gd name="T16" fmla="*/ 12 w 683"/>
                    <a:gd name="T17" fmla="*/ 322 h 600"/>
                    <a:gd name="T18" fmla="*/ 59 w 683"/>
                    <a:gd name="T19" fmla="*/ 248 h 600"/>
                    <a:gd name="T20" fmla="*/ 224 w 683"/>
                    <a:gd name="T21" fmla="*/ 346 h 600"/>
                    <a:gd name="T22" fmla="*/ 353 w 683"/>
                    <a:gd name="T23" fmla="*/ 419 h 600"/>
                    <a:gd name="T24" fmla="*/ 444 w 683"/>
                    <a:gd name="T25" fmla="*/ 431 h 600"/>
                    <a:gd name="T26" fmla="*/ 443 w 683"/>
                    <a:gd name="T27" fmla="*/ 478 h 600"/>
                    <a:gd name="T28" fmla="*/ 541 w 683"/>
                    <a:gd name="T29" fmla="*/ 598 h 600"/>
                    <a:gd name="T30" fmla="*/ 575 w 683"/>
                    <a:gd name="T31" fmla="*/ 592 h 600"/>
                    <a:gd name="T32" fmla="*/ 585 w 683"/>
                    <a:gd name="T33" fmla="*/ 535 h 600"/>
                    <a:gd name="T34" fmla="*/ 463 w 683"/>
                    <a:gd name="T35" fmla="*/ 417 h 600"/>
                    <a:gd name="T36" fmla="*/ 494 w 683"/>
                    <a:gd name="T37" fmla="*/ 318 h 600"/>
                    <a:gd name="T38" fmla="*/ 682 w 683"/>
                    <a:gd name="T39" fmla="*/ 237 h 600"/>
                    <a:gd name="T40" fmla="*/ 466 w 683"/>
                    <a:gd name="T41" fmla="*/ 440 h 600"/>
                    <a:gd name="T42" fmla="*/ 477 w 683"/>
                    <a:gd name="T43" fmla="*/ 437 h 600"/>
                    <a:gd name="T44" fmla="*/ 565 w 683"/>
                    <a:gd name="T45" fmla="*/ 548 h 600"/>
                    <a:gd name="T46" fmla="*/ 561 w 683"/>
                    <a:gd name="T47" fmla="*/ 573 h 600"/>
                    <a:gd name="T48" fmla="*/ 536 w 683"/>
                    <a:gd name="T49" fmla="*/ 568 h 600"/>
                    <a:gd name="T50" fmla="*/ 459 w 683"/>
                    <a:gd name="T51" fmla="*/ 451 h 600"/>
                    <a:gd name="T52" fmla="*/ 457 w 683"/>
                    <a:gd name="T53" fmla="*/ 38 h 600"/>
                    <a:gd name="T54" fmla="*/ 539 w 683"/>
                    <a:gd name="T55" fmla="*/ 38 h 600"/>
                    <a:gd name="T56" fmla="*/ 539 w 683"/>
                    <a:gd name="T57" fmla="*/ 155 h 600"/>
                    <a:gd name="T58" fmla="*/ 457 w 683"/>
                    <a:gd name="T59" fmla="*/ 38 h 600"/>
                    <a:gd name="T60" fmla="*/ 207 w 683"/>
                    <a:gd name="T61" fmla="*/ 224 h 600"/>
                    <a:gd name="T62" fmla="*/ 172 w 683"/>
                    <a:gd name="T63" fmla="*/ 38 h 600"/>
                    <a:gd name="T64" fmla="*/ 207 w 683"/>
                    <a:gd name="T65" fmla="*/ 224 h 600"/>
                    <a:gd name="T66" fmla="*/ 478 w 683"/>
                    <a:gd name="T67" fmla="*/ 296 h 600"/>
                    <a:gd name="T68" fmla="*/ 244 w 683"/>
                    <a:gd name="T69" fmla="*/ 335 h 600"/>
                    <a:gd name="T70" fmla="*/ 285 w 683"/>
                    <a:gd name="T71" fmla="*/ 158 h 600"/>
                    <a:gd name="T72" fmla="*/ 382 w 683"/>
                    <a:gd name="T73" fmla="*/ 142 h 600"/>
                    <a:gd name="T74" fmla="*/ 478 w 683"/>
                    <a:gd name="T75" fmla="*/ 296 h 600"/>
                    <a:gd name="T76" fmla="*/ 597 w 683"/>
                    <a:gd name="T77" fmla="*/ 294 h 600"/>
                    <a:gd name="T78" fmla="*/ 482 w 683"/>
                    <a:gd name="T79" fmla="*/ 187 h 600"/>
                    <a:gd name="T80" fmla="*/ 596 w 683"/>
                    <a:gd name="T81" fmla="*/ 178 h 600"/>
                    <a:gd name="T82" fmla="*/ 597 w 683"/>
                    <a:gd name="T83" fmla="*/ 294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83" h="600">
                      <a:moveTo>
                        <a:pt x="596" y="155"/>
                      </a:moveTo>
                      <a:lnTo>
                        <a:pt x="596" y="155"/>
                      </a:lnTo>
                      <a:cubicBezTo>
                        <a:pt x="595" y="155"/>
                        <a:pt x="595" y="155"/>
                        <a:pt x="595" y="155"/>
                      </a:cubicBezTo>
                      <a:cubicBezTo>
                        <a:pt x="611" y="139"/>
                        <a:pt x="620" y="117"/>
                        <a:pt x="620" y="93"/>
                      </a:cubicBezTo>
                      <a:cubicBezTo>
                        <a:pt x="620" y="47"/>
                        <a:pt x="586" y="14"/>
                        <a:pt x="539" y="14"/>
                      </a:cubicBezTo>
                      <a:cubicBezTo>
                        <a:pt x="445" y="14"/>
                        <a:pt x="445" y="14"/>
                        <a:pt x="445" y="14"/>
                      </a:cubicBezTo>
                      <a:cubicBezTo>
                        <a:pt x="439" y="14"/>
                        <a:pt x="434" y="19"/>
                        <a:pt x="434" y="27"/>
                      </a:cubicBezTo>
                      <a:cubicBezTo>
                        <a:pt x="434" y="139"/>
                        <a:pt x="434" y="139"/>
                        <a:pt x="434" y="139"/>
                      </a:cubicBezTo>
                      <a:cubicBezTo>
                        <a:pt x="419" y="131"/>
                        <a:pt x="404" y="123"/>
                        <a:pt x="387" y="119"/>
                      </a:cubicBezTo>
                      <a:cubicBezTo>
                        <a:pt x="348" y="110"/>
                        <a:pt x="307" y="117"/>
                        <a:pt x="273" y="138"/>
                      </a:cubicBezTo>
                      <a:cubicBezTo>
                        <a:pt x="267" y="141"/>
                        <a:pt x="262" y="145"/>
                        <a:pt x="258" y="149"/>
                      </a:cubicBezTo>
                      <a:cubicBezTo>
                        <a:pt x="182" y="8"/>
                        <a:pt x="182" y="8"/>
                        <a:pt x="182" y="8"/>
                      </a:cubicBezTo>
                      <a:cubicBezTo>
                        <a:pt x="178" y="0"/>
                        <a:pt x="165" y="0"/>
                        <a:pt x="161" y="8"/>
                      </a:cubicBezTo>
                      <a:cubicBezTo>
                        <a:pt x="43" y="231"/>
                        <a:pt x="43" y="231"/>
                        <a:pt x="43" y="231"/>
                      </a:cubicBezTo>
                      <a:lnTo>
                        <a:pt x="43" y="231"/>
                      </a:lnTo>
                      <a:cubicBezTo>
                        <a:pt x="3" y="306"/>
                        <a:pt x="3" y="306"/>
                        <a:pt x="3" y="306"/>
                      </a:cubicBezTo>
                      <a:cubicBezTo>
                        <a:pt x="0" y="311"/>
                        <a:pt x="2" y="318"/>
                        <a:pt x="7" y="321"/>
                      </a:cubicBezTo>
                      <a:cubicBezTo>
                        <a:pt x="9" y="322"/>
                        <a:pt x="11" y="322"/>
                        <a:pt x="12" y="322"/>
                      </a:cubicBezTo>
                      <a:cubicBezTo>
                        <a:pt x="17" y="322"/>
                        <a:pt x="21" y="320"/>
                        <a:pt x="23" y="316"/>
                      </a:cubicBezTo>
                      <a:cubicBezTo>
                        <a:pt x="59" y="248"/>
                        <a:pt x="59" y="248"/>
                        <a:pt x="59" y="248"/>
                      </a:cubicBezTo>
                      <a:cubicBezTo>
                        <a:pt x="203" y="248"/>
                        <a:pt x="203" y="248"/>
                        <a:pt x="203" y="248"/>
                      </a:cubicBezTo>
                      <a:cubicBezTo>
                        <a:pt x="199" y="283"/>
                        <a:pt x="205" y="317"/>
                        <a:pt x="224" y="346"/>
                      </a:cubicBezTo>
                      <a:cubicBezTo>
                        <a:pt x="245" y="381"/>
                        <a:pt x="278" y="406"/>
                        <a:pt x="317" y="415"/>
                      </a:cubicBezTo>
                      <a:cubicBezTo>
                        <a:pt x="329" y="417"/>
                        <a:pt x="341" y="419"/>
                        <a:pt x="353" y="419"/>
                      </a:cubicBezTo>
                      <a:cubicBezTo>
                        <a:pt x="378" y="419"/>
                        <a:pt x="402" y="412"/>
                        <a:pt x="424" y="400"/>
                      </a:cubicBezTo>
                      <a:cubicBezTo>
                        <a:pt x="444" y="431"/>
                        <a:pt x="444" y="431"/>
                        <a:pt x="444" y="431"/>
                      </a:cubicBezTo>
                      <a:cubicBezTo>
                        <a:pt x="440" y="435"/>
                        <a:pt x="437" y="441"/>
                        <a:pt x="436" y="447"/>
                      </a:cubicBezTo>
                      <a:cubicBezTo>
                        <a:pt x="434" y="458"/>
                        <a:pt x="436" y="469"/>
                        <a:pt x="443" y="478"/>
                      </a:cubicBezTo>
                      <a:cubicBezTo>
                        <a:pt x="517" y="581"/>
                        <a:pt x="517" y="581"/>
                        <a:pt x="517" y="581"/>
                      </a:cubicBezTo>
                      <a:cubicBezTo>
                        <a:pt x="523" y="590"/>
                        <a:pt x="532" y="596"/>
                        <a:pt x="541" y="598"/>
                      </a:cubicBezTo>
                      <a:cubicBezTo>
                        <a:pt x="544" y="599"/>
                        <a:pt x="548" y="599"/>
                        <a:pt x="551" y="599"/>
                      </a:cubicBezTo>
                      <a:cubicBezTo>
                        <a:pt x="559" y="599"/>
                        <a:pt x="567" y="597"/>
                        <a:pt x="575" y="592"/>
                      </a:cubicBezTo>
                      <a:cubicBezTo>
                        <a:pt x="584" y="586"/>
                        <a:pt x="589" y="576"/>
                        <a:pt x="591" y="566"/>
                      </a:cubicBezTo>
                      <a:cubicBezTo>
                        <a:pt x="593" y="554"/>
                        <a:pt x="591" y="544"/>
                        <a:pt x="585" y="535"/>
                      </a:cubicBezTo>
                      <a:cubicBezTo>
                        <a:pt x="511" y="431"/>
                        <a:pt x="511" y="431"/>
                        <a:pt x="511" y="431"/>
                      </a:cubicBezTo>
                      <a:cubicBezTo>
                        <a:pt x="500" y="416"/>
                        <a:pt x="480" y="411"/>
                        <a:pt x="463" y="417"/>
                      </a:cubicBezTo>
                      <a:cubicBezTo>
                        <a:pt x="443" y="388"/>
                        <a:pt x="443" y="388"/>
                        <a:pt x="443" y="388"/>
                      </a:cubicBezTo>
                      <a:cubicBezTo>
                        <a:pt x="466" y="370"/>
                        <a:pt x="484" y="346"/>
                        <a:pt x="494" y="318"/>
                      </a:cubicBezTo>
                      <a:cubicBezTo>
                        <a:pt x="597" y="318"/>
                        <a:pt x="597" y="318"/>
                        <a:pt x="597" y="318"/>
                      </a:cubicBezTo>
                      <a:cubicBezTo>
                        <a:pt x="644" y="318"/>
                        <a:pt x="682" y="283"/>
                        <a:pt x="682" y="237"/>
                      </a:cubicBezTo>
                      <a:cubicBezTo>
                        <a:pt x="682" y="191"/>
                        <a:pt x="644" y="155"/>
                        <a:pt x="596" y="155"/>
                      </a:cubicBezTo>
                      <a:close/>
                      <a:moveTo>
                        <a:pt x="466" y="440"/>
                      </a:moveTo>
                      <a:lnTo>
                        <a:pt x="466" y="440"/>
                      </a:lnTo>
                      <a:cubicBezTo>
                        <a:pt x="469" y="438"/>
                        <a:pt x="474" y="437"/>
                        <a:pt x="477" y="437"/>
                      </a:cubicBezTo>
                      <a:cubicBezTo>
                        <a:pt x="483" y="437"/>
                        <a:pt x="488" y="440"/>
                        <a:pt x="491" y="444"/>
                      </a:cubicBezTo>
                      <a:cubicBezTo>
                        <a:pt x="565" y="548"/>
                        <a:pt x="565" y="548"/>
                        <a:pt x="565" y="548"/>
                      </a:cubicBezTo>
                      <a:cubicBezTo>
                        <a:pt x="568" y="552"/>
                        <a:pt x="569" y="557"/>
                        <a:pt x="568" y="562"/>
                      </a:cubicBezTo>
                      <a:cubicBezTo>
                        <a:pt x="567" y="566"/>
                        <a:pt x="565" y="570"/>
                        <a:pt x="561" y="573"/>
                      </a:cubicBezTo>
                      <a:cubicBezTo>
                        <a:pt x="557" y="575"/>
                        <a:pt x="552" y="576"/>
                        <a:pt x="546" y="575"/>
                      </a:cubicBezTo>
                      <a:cubicBezTo>
                        <a:pt x="542" y="574"/>
                        <a:pt x="539" y="572"/>
                        <a:pt x="536" y="568"/>
                      </a:cubicBezTo>
                      <a:cubicBezTo>
                        <a:pt x="462" y="465"/>
                        <a:pt x="462" y="465"/>
                        <a:pt x="462" y="465"/>
                      </a:cubicBezTo>
                      <a:cubicBezTo>
                        <a:pt x="459" y="461"/>
                        <a:pt x="458" y="457"/>
                        <a:pt x="459" y="451"/>
                      </a:cubicBezTo>
                      <a:cubicBezTo>
                        <a:pt x="460" y="446"/>
                        <a:pt x="463" y="443"/>
                        <a:pt x="466" y="440"/>
                      </a:cubicBezTo>
                      <a:close/>
                      <a:moveTo>
                        <a:pt x="457" y="38"/>
                      </a:moveTo>
                      <a:lnTo>
                        <a:pt x="457" y="38"/>
                      </a:lnTo>
                      <a:cubicBezTo>
                        <a:pt x="539" y="38"/>
                        <a:pt x="539" y="38"/>
                        <a:pt x="539" y="38"/>
                      </a:cubicBezTo>
                      <a:cubicBezTo>
                        <a:pt x="574" y="38"/>
                        <a:pt x="597" y="60"/>
                        <a:pt x="597" y="93"/>
                      </a:cubicBezTo>
                      <a:cubicBezTo>
                        <a:pt x="597" y="128"/>
                        <a:pt x="571" y="155"/>
                        <a:pt x="539" y="155"/>
                      </a:cubicBezTo>
                      <a:cubicBezTo>
                        <a:pt x="457" y="155"/>
                        <a:pt x="457" y="155"/>
                        <a:pt x="457" y="155"/>
                      </a:cubicBezTo>
                      <a:lnTo>
                        <a:pt x="457" y="38"/>
                      </a:lnTo>
                      <a:close/>
                      <a:moveTo>
                        <a:pt x="207" y="224"/>
                      </a:moveTo>
                      <a:lnTo>
                        <a:pt x="207" y="224"/>
                      </a:lnTo>
                      <a:cubicBezTo>
                        <a:pt x="72" y="224"/>
                        <a:pt x="72" y="224"/>
                        <a:pt x="72" y="224"/>
                      </a:cubicBezTo>
                      <a:cubicBezTo>
                        <a:pt x="172" y="38"/>
                        <a:pt x="172" y="38"/>
                        <a:pt x="172" y="38"/>
                      </a:cubicBezTo>
                      <a:cubicBezTo>
                        <a:pt x="240" y="166"/>
                        <a:pt x="240" y="166"/>
                        <a:pt x="240" y="166"/>
                      </a:cubicBezTo>
                      <a:cubicBezTo>
                        <a:pt x="225" y="183"/>
                        <a:pt x="214" y="203"/>
                        <a:pt x="207" y="224"/>
                      </a:cubicBezTo>
                      <a:close/>
                      <a:moveTo>
                        <a:pt x="478" y="296"/>
                      </a:moveTo>
                      <a:lnTo>
                        <a:pt x="478" y="296"/>
                      </a:lnTo>
                      <a:cubicBezTo>
                        <a:pt x="461" y="365"/>
                        <a:pt x="391" y="408"/>
                        <a:pt x="323" y="392"/>
                      </a:cubicBezTo>
                      <a:cubicBezTo>
                        <a:pt x="289" y="384"/>
                        <a:pt x="261" y="364"/>
                        <a:pt x="244" y="335"/>
                      </a:cubicBezTo>
                      <a:cubicBezTo>
                        <a:pt x="225" y="305"/>
                        <a:pt x="220" y="270"/>
                        <a:pt x="228" y="237"/>
                      </a:cubicBezTo>
                      <a:cubicBezTo>
                        <a:pt x="235" y="204"/>
                        <a:pt x="256" y="176"/>
                        <a:pt x="285" y="158"/>
                      </a:cubicBezTo>
                      <a:cubicBezTo>
                        <a:pt x="306" y="145"/>
                        <a:pt x="329" y="139"/>
                        <a:pt x="352" y="139"/>
                      </a:cubicBezTo>
                      <a:cubicBezTo>
                        <a:pt x="362" y="139"/>
                        <a:pt x="373" y="140"/>
                        <a:pt x="382" y="142"/>
                      </a:cubicBezTo>
                      <a:cubicBezTo>
                        <a:pt x="415" y="151"/>
                        <a:pt x="443" y="170"/>
                        <a:pt x="462" y="199"/>
                      </a:cubicBezTo>
                      <a:cubicBezTo>
                        <a:pt x="480" y="229"/>
                        <a:pt x="485" y="263"/>
                        <a:pt x="478" y="296"/>
                      </a:cubicBezTo>
                      <a:close/>
                      <a:moveTo>
                        <a:pt x="597" y="294"/>
                      </a:moveTo>
                      <a:lnTo>
                        <a:pt x="597" y="294"/>
                      </a:lnTo>
                      <a:cubicBezTo>
                        <a:pt x="501" y="294"/>
                        <a:pt x="501" y="294"/>
                        <a:pt x="501" y="294"/>
                      </a:cubicBezTo>
                      <a:cubicBezTo>
                        <a:pt x="508" y="258"/>
                        <a:pt x="502" y="220"/>
                        <a:pt x="482" y="187"/>
                      </a:cubicBezTo>
                      <a:cubicBezTo>
                        <a:pt x="480" y="184"/>
                        <a:pt x="477" y="181"/>
                        <a:pt x="475" y="178"/>
                      </a:cubicBezTo>
                      <a:cubicBezTo>
                        <a:pt x="596" y="178"/>
                        <a:pt x="596" y="178"/>
                        <a:pt x="596" y="178"/>
                      </a:cubicBezTo>
                      <a:cubicBezTo>
                        <a:pt x="632" y="178"/>
                        <a:pt x="658" y="204"/>
                        <a:pt x="658" y="237"/>
                      </a:cubicBezTo>
                      <a:cubicBezTo>
                        <a:pt x="658" y="270"/>
                        <a:pt x="632" y="294"/>
                        <a:pt x="597" y="294"/>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101" name="Group 100"/>
                <p:cNvGrpSpPr>
                  <a:grpSpLocks noChangeAspect="1"/>
                </p:cNvGrpSpPr>
                <p:nvPr/>
              </p:nvGrpSpPr>
              <p:grpSpPr>
                <a:xfrm>
                  <a:off x="6619988" y="4026335"/>
                  <a:ext cx="385276" cy="411664"/>
                  <a:chOff x="549814" y="4652042"/>
                  <a:chExt cx="251964" cy="264933"/>
                </a:xfrm>
                <a:solidFill>
                  <a:srgbClr val="0078EF"/>
                </a:solidFill>
              </p:grpSpPr>
              <p:sp>
                <p:nvSpPr>
                  <p:cNvPr id="102" name="Freeform 106"/>
                  <p:cNvSpPr>
                    <a:spLocks noChangeArrowheads="1"/>
                  </p:cNvSpPr>
                  <p:nvPr/>
                </p:nvSpPr>
                <p:spPr bwMode="auto">
                  <a:xfrm>
                    <a:off x="679501" y="4750234"/>
                    <a:ext cx="53727" cy="44464"/>
                  </a:xfrm>
                  <a:custGeom>
                    <a:avLst/>
                    <a:gdLst>
                      <a:gd name="T0" fmla="*/ 116 w 130"/>
                      <a:gd name="T1" fmla="*/ 0 h 108"/>
                      <a:gd name="T2" fmla="*/ 116 w 130"/>
                      <a:gd name="T3" fmla="*/ 0 h 108"/>
                      <a:gd name="T4" fmla="*/ 11 w 130"/>
                      <a:gd name="T5" fmla="*/ 0 h 108"/>
                      <a:gd name="T6" fmla="*/ 0 w 130"/>
                      <a:gd name="T7" fmla="*/ 12 h 108"/>
                      <a:gd name="T8" fmla="*/ 0 w 130"/>
                      <a:gd name="T9" fmla="*/ 96 h 108"/>
                      <a:gd name="T10" fmla="*/ 11 w 130"/>
                      <a:gd name="T11" fmla="*/ 107 h 108"/>
                      <a:gd name="T12" fmla="*/ 116 w 130"/>
                      <a:gd name="T13" fmla="*/ 107 h 108"/>
                      <a:gd name="T14" fmla="*/ 129 w 130"/>
                      <a:gd name="T15" fmla="*/ 96 h 108"/>
                      <a:gd name="T16" fmla="*/ 129 w 130"/>
                      <a:gd name="T17" fmla="*/ 12 h 108"/>
                      <a:gd name="T18" fmla="*/ 116 w 130"/>
                      <a:gd name="T19" fmla="*/ 0 h 108"/>
                      <a:gd name="T20" fmla="*/ 105 w 130"/>
                      <a:gd name="T21" fmla="*/ 85 h 108"/>
                      <a:gd name="T22" fmla="*/ 105 w 130"/>
                      <a:gd name="T23" fmla="*/ 85 h 108"/>
                      <a:gd name="T24" fmla="*/ 23 w 130"/>
                      <a:gd name="T25" fmla="*/ 85 h 108"/>
                      <a:gd name="T26" fmla="*/ 23 w 130"/>
                      <a:gd name="T27" fmla="*/ 23 h 108"/>
                      <a:gd name="T28" fmla="*/ 105 w 130"/>
                      <a:gd name="T29" fmla="*/ 23 h 108"/>
                      <a:gd name="T30" fmla="*/ 105 w 130"/>
                      <a:gd name="T31" fmla="*/ 8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0" h="108">
                        <a:moveTo>
                          <a:pt x="116" y="0"/>
                        </a:moveTo>
                        <a:lnTo>
                          <a:pt x="116" y="0"/>
                        </a:lnTo>
                        <a:cubicBezTo>
                          <a:pt x="11" y="0"/>
                          <a:pt x="11" y="0"/>
                          <a:pt x="11" y="0"/>
                        </a:cubicBezTo>
                        <a:cubicBezTo>
                          <a:pt x="5" y="0"/>
                          <a:pt x="0" y="5"/>
                          <a:pt x="0" y="12"/>
                        </a:cubicBezTo>
                        <a:cubicBezTo>
                          <a:pt x="0" y="96"/>
                          <a:pt x="0" y="96"/>
                          <a:pt x="0" y="96"/>
                        </a:cubicBezTo>
                        <a:cubicBezTo>
                          <a:pt x="0" y="102"/>
                          <a:pt x="5" y="107"/>
                          <a:pt x="11" y="107"/>
                        </a:cubicBezTo>
                        <a:cubicBezTo>
                          <a:pt x="116" y="107"/>
                          <a:pt x="116" y="107"/>
                          <a:pt x="116" y="107"/>
                        </a:cubicBezTo>
                        <a:cubicBezTo>
                          <a:pt x="123" y="107"/>
                          <a:pt x="129" y="102"/>
                          <a:pt x="129" y="96"/>
                        </a:cubicBezTo>
                        <a:cubicBezTo>
                          <a:pt x="129" y="12"/>
                          <a:pt x="129" y="12"/>
                          <a:pt x="129" y="12"/>
                        </a:cubicBezTo>
                        <a:cubicBezTo>
                          <a:pt x="129" y="5"/>
                          <a:pt x="123" y="0"/>
                          <a:pt x="116" y="0"/>
                        </a:cubicBezTo>
                        <a:close/>
                        <a:moveTo>
                          <a:pt x="105" y="85"/>
                        </a:moveTo>
                        <a:lnTo>
                          <a:pt x="105" y="85"/>
                        </a:lnTo>
                        <a:cubicBezTo>
                          <a:pt x="23" y="85"/>
                          <a:pt x="23" y="85"/>
                          <a:pt x="23" y="85"/>
                        </a:cubicBezTo>
                        <a:cubicBezTo>
                          <a:pt x="23" y="23"/>
                          <a:pt x="23" y="23"/>
                          <a:pt x="23" y="23"/>
                        </a:cubicBezTo>
                        <a:cubicBezTo>
                          <a:pt x="105" y="23"/>
                          <a:pt x="105" y="23"/>
                          <a:pt x="105" y="23"/>
                        </a:cubicBezTo>
                        <a:lnTo>
                          <a:pt x="105" y="8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3" name="Freeform 107"/>
                  <p:cNvSpPr>
                    <a:spLocks noChangeArrowheads="1"/>
                  </p:cNvSpPr>
                  <p:nvPr/>
                </p:nvSpPr>
                <p:spPr bwMode="auto">
                  <a:xfrm>
                    <a:off x="549814" y="4652042"/>
                    <a:ext cx="251964" cy="264933"/>
                  </a:xfrm>
                  <a:custGeom>
                    <a:avLst/>
                    <a:gdLst>
                      <a:gd name="T0" fmla="*/ 521 w 599"/>
                      <a:gd name="T1" fmla="*/ 460 h 632"/>
                      <a:gd name="T2" fmla="*/ 455 w 599"/>
                      <a:gd name="T3" fmla="*/ 414 h 632"/>
                      <a:gd name="T4" fmla="*/ 431 w 599"/>
                      <a:gd name="T5" fmla="*/ 151 h 632"/>
                      <a:gd name="T6" fmla="*/ 420 w 599"/>
                      <a:gd name="T7" fmla="*/ 0 h 632"/>
                      <a:gd name="T8" fmla="*/ 108 w 599"/>
                      <a:gd name="T9" fmla="*/ 4 h 632"/>
                      <a:gd name="T10" fmla="*/ 0 w 599"/>
                      <a:gd name="T11" fmla="*/ 142 h 632"/>
                      <a:gd name="T12" fmla="*/ 12 w 599"/>
                      <a:gd name="T13" fmla="*/ 606 h 632"/>
                      <a:gd name="T14" fmla="*/ 431 w 599"/>
                      <a:gd name="T15" fmla="*/ 594 h 632"/>
                      <a:gd name="T16" fmla="*/ 436 w 599"/>
                      <a:gd name="T17" fmla="*/ 426 h 632"/>
                      <a:gd name="T18" fmla="*/ 446 w 599"/>
                      <a:gd name="T19" fmla="*/ 473 h 632"/>
                      <a:gd name="T20" fmla="*/ 520 w 599"/>
                      <a:gd name="T21" fmla="*/ 611 h 632"/>
                      <a:gd name="T22" fmla="*/ 555 w 599"/>
                      <a:gd name="T23" fmla="*/ 631 h 632"/>
                      <a:gd name="T24" fmla="*/ 595 w 599"/>
                      <a:gd name="T25" fmla="*/ 599 h 632"/>
                      <a:gd name="T26" fmla="*/ 521 w 599"/>
                      <a:gd name="T27" fmla="*/ 460 h 632"/>
                      <a:gd name="T28" fmla="*/ 114 w 599"/>
                      <a:gd name="T29" fmla="*/ 34 h 632"/>
                      <a:gd name="T30" fmla="*/ 31 w 599"/>
                      <a:gd name="T31" fmla="*/ 136 h 632"/>
                      <a:gd name="T32" fmla="*/ 409 w 599"/>
                      <a:gd name="T33" fmla="*/ 582 h 632"/>
                      <a:gd name="T34" fmla="*/ 23 w 599"/>
                      <a:gd name="T35" fmla="*/ 582 h 632"/>
                      <a:gd name="T36" fmla="*/ 125 w 599"/>
                      <a:gd name="T37" fmla="*/ 159 h 632"/>
                      <a:gd name="T38" fmla="*/ 137 w 599"/>
                      <a:gd name="T39" fmla="*/ 24 h 632"/>
                      <a:gd name="T40" fmla="*/ 409 w 599"/>
                      <a:gd name="T41" fmla="*/ 143 h 632"/>
                      <a:gd name="T42" fmla="*/ 232 w 599"/>
                      <a:gd name="T43" fmla="*/ 227 h 632"/>
                      <a:gd name="T44" fmla="*/ 57 w 599"/>
                      <a:gd name="T45" fmla="*/ 238 h 632"/>
                      <a:gd name="T46" fmla="*/ 224 w 599"/>
                      <a:gd name="T47" fmla="*/ 250 h 632"/>
                      <a:gd name="T48" fmla="*/ 217 w 599"/>
                      <a:gd name="T49" fmla="*/ 300 h 632"/>
                      <a:gd name="T50" fmla="*/ 57 w 599"/>
                      <a:gd name="T51" fmla="*/ 311 h 632"/>
                      <a:gd name="T52" fmla="*/ 217 w 599"/>
                      <a:gd name="T53" fmla="*/ 323 h 632"/>
                      <a:gd name="T54" fmla="*/ 245 w 599"/>
                      <a:gd name="T55" fmla="*/ 373 h 632"/>
                      <a:gd name="T56" fmla="*/ 57 w 599"/>
                      <a:gd name="T57" fmla="*/ 384 h 632"/>
                      <a:gd name="T58" fmla="*/ 263 w 599"/>
                      <a:gd name="T59" fmla="*/ 396 h 632"/>
                      <a:gd name="T60" fmla="*/ 328 w 599"/>
                      <a:gd name="T61" fmla="*/ 434 h 632"/>
                      <a:gd name="T62" fmla="*/ 409 w 599"/>
                      <a:gd name="T63" fmla="*/ 435 h 632"/>
                      <a:gd name="T64" fmla="*/ 336 w 599"/>
                      <a:gd name="T65" fmla="*/ 412 h 632"/>
                      <a:gd name="T66" fmla="*/ 248 w 599"/>
                      <a:gd name="T67" fmla="*/ 253 h 632"/>
                      <a:gd name="T68" fmla="*/ 406 w 599"/>
                      <a:gd name="T69" fmla="*/ 166 h 632"/>
                      <a:gd name="T70" fmla="*/ 336 w 599"/>
                      <a:gd name="T71" fmla="*/ 412 h 632"/>
                      <a:gd name="T72" fmla="*/ 572 w 599"/>
                      <a:gd name="T73" fmla="*/ 593 h 632"/>
                      <a:gd name="T74" fmla="*/ 550 w 599"/>
                      <a:gd name="T75" fmla="*/ 606 h 632"/>
                      <a:gd name="T76" fmla="*/ 471 w 599"/>
                      <a:gd name="T77" fmla="*/ 491 h 632"/>
                      <a:gd name="T78" fmla="*/ 476 w 599"/>
                      <a:gd name="T79" fmla="*/ 467 h 632"/>
                      <a:gd name="T80" fmla="*/ 501 w 599"/>
                      <a:gd name="T81" fmla="*/ 473 h 632"/>
                      <a:gd name="T82" fmla="*/ 572 w 599"/>
                      <a:gd name="T83" fmla="*/ 593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99" h="632">
                        <a:moveTo>
                          <a:pt x="521" y="460"/>
                        </a:moveTo>
                        <a:lnTo>
                          <a:pt x="521" y="460"/>
                        </a:lnTo>
                        <a:cubicBezTo>
                          <a:pt x="511" y="445"/>
                          <a:pt x="492" y="438"/>
                          <a:pt x="474" y="443"/>
                        </a:cubicBezTo>
                        <a:cubicBezTo>
                          <a:pt x="455" y="414"/>
                          <a:pt x="455" y="414"/>
                          <a:pt x="455" y="414"/>
                        </a:cubicBezTo>
                        <a:cubicBezTo>
                          <a:pt x="485" y="395"/>
                          <a:pt x="506" y="366"/>
                          <a:pt x="517" y="331"/>
                        </a:cubicBezTo>
                        <a:cubicBezTo>
                          <a:pt x="538" y="257"/>
                          <a:pt x="500" y="181"/>
                          <a:pt x="431" y="151"/>
                        </a:cubicBezTo>
                        <a:cubicBezTo>
                          <a:pt x="431" y="11"/>
                          <a:pt x="431" y="11"/>
                          <a:pt x="431" y="11"/>
                        </a:cubicBezTo>
                        <a:cubicBezTo>
                          <a:pt x="431" y="5"/>
                          <a:pt x="426" y="0"/>
                          <a:pt x="420" y="0"/>
                        </a:cubicBezTo>
                        <a:cubicBezTo>
                          <a:pt x="117" y="0"/>
                          <a:pt x="117" y="0"/>
                          <a:pt x="117" y="0"/>
                        </a:cubicBezTo>
                        <a:cubicBezTo>
                          <a:pt x="113" y="0"/>
                          <a:pt x="110" y="2"/>
                          <a:pt x="108" y="4"/>
                        </a:cubicBezTo>
                        <a:cubicBezTo>
                          <a:pt x="3" y="134"/>
                          <a:pt x="3" y="134"/>
                          <a:pt x="3" y="134"/>
                        </a:cubicBezTo>
                        <a:cubicBezTo>
                          <a:pt x="1" y="136"/>
                          <a:pt x="0" y="138"/>
                          <a:pt x="0" y="142"/>
                        </a:cubicBezTo>
                        <a:cubicBezTo>
                          <a:pt x="0" y="594"/>
                          <a:pt x="0" y="594"/>
                          <a:pt x="0" y="594"/>
                        </a:cubicBezTo>
                        <a:cubicBezTo>
                          <a:pt x="0" y="601"/>
                          <a:pt x="6" y="606"/>
                          <a:pt x="12" y="606"/>
                        </a:cubicBezTo>
                        <a:cubicBezTo>
                          <a:pt x="420" y="606"/>
                          <a:pt x="420" y="606"/>
                          <a:pt x="420" y="606"/>
                        </a:cubicBezTo>
                        <a:cubicBezTo>
                          <a:pt x="426" y="606"/>
                          <a:pt x="431" y="601"/>
                          <a:pt x="431" y="594"/>
                        </a:cubicBezTo>
                        <a:cubicBezTo>
                          <a:pt x="431" y="427"/>
                          <a:pt x="431" y="427"/>
                          <a:pt x="431" y="427"/>
                        </a:cubicBezTo>
                        <a:cubicBezTo>
                          <a:pt x="433" y="427"/>
                          <a:pt x="435" y="426"/>
                          <a:pt x="436" y="426"/>
                        </a:cubicBezTo>
                        <a:cubicBezTo>
                          <a:pt x="454" y="456"/>
                          <a:pt x="454" y="456"/>
                          <a:pt x="454" y="456"/>
                        </a:cubicBezTo>
                        <a:cubicBezTo>
                          <a:pt x="450" y="461"/>
                          <a:pt x="447" y="466"/>
                          <a:pt x="446" y="473"/>
                        </a:cubicBezTo>
                        <a:cubicBezTo>
                          <a:pt x="443" y="483"/>
                          <a:pt x="445" y="494"/>
                          <a:pt x="451" y="504"/>
                        </a:cubicBezTo>
                        <a:cubicBezTo>
                          <a:pt x="520" y="611"/>
                          <a:pt x="520" y="611"/>
                          <a:pt x="520" y="611"/>
                        </a:cubicBezTo>
                        <a:cubicBezTo>
                          <a:pt x="525" y="619"/>
                          <a:pt x="534" y="626"/>
                          <a:pt x="544" y="629"/>
                        </a:cubicBezTo>
                        <a:cubicBezTo>
                          <a:pt x="547" y="630"/>
                          <a:pt x="551" y="631"/>
                          <a:pt x="555" y="631"/>
                        </a:cubicBezTo>
                        <a:cubicBezTo>
                          <a:pt x="563" y="631"/>
                          <a:pt x="570" y="628"/>
                          <a:pt x="577" y="625"/>
                        </a:cubicBezTo>
                        <a:cubicBezTo>
                          <a:pt x="587" y="618"/>
                          <a:pt x="593" y="609"/>
                          <a:pt x="595" y="599"/>
                        </a:cubicBezTo>
                        <a:cubicBezTo>
                          <a:pt x="598" y="588"/>
                          <a:pt x="596" y="577"/>
                          <a:pt x="590" y="567"/>
                        </a:cubicBezTo>
                        <a:lnTo>
                          <a:pt x="521" y="460"/>
                        </a:lnTo>
                        <a:close/>
                        <a:moveTo>
                          <a:pt x="114" y="34"/>
                        </a:moveTo>
                        <a:lnTo>
                          <a:pt x="114" y="34"/>
                        </a:lnTo>
                        <a:cubicBezTo>
                          <a:pt x="114" y="136"/>
                          <a:pt x="114" y="136"/>
                          <a:pt x="114" y="136"/>
                        </a:cubicBezTo>
                        <a:cubicBezTo>
                          <a:pt x="31" y="136"/>
                          <a:pt x="31" y="136"/>
                          <a:pt x="31" y="136"/>
                        </a:cubicBezTo>
                        <a:lnTo>
                          <a:pt x="114" y="34"/>
                        </a:lnTo>
                        <a:close/>
                        <a:moveTo>
                          <a:pt x="409" y="582"/>
                        </a:moveTo>
                        <a:lnTo>
                          <a:pt x="409" y="582"/>
                        </a:lnTo>
                        <a:cubicBezTo>
                          <a:pt x="23" y="582"/>
                          <a:pt x="23" y="582"/>
                          <a:pt x="23" y="582"/>
                        </a:cubicBezTo>
                        <a:cubicBezTo>
                          <a:pt x="23" y="159"/>
                          <a:pt x="23" y="159"/>
                          <a:pt x="23" y="159"/>
                        </a:cubicBezTo>
                        <a:cubicBezTo>
                          <a:pt x="125" y="159"/>
                          <a:pt x="125" y="159"/>
                          <a:pt x="125" y="159"/>
                        </a:cubicBezTo>
                        <a:cubicBezTo>
                          <a:pt x="132" y="159"/>
                          <a:pt x="137" y="154"/>
                          <a:pt x="137" y="148"/>
                        </a:cubicBezTo>
                        <a:cubicBezTo>
                          <a:pt x="137" y="24"/>
                          <a:pt x="137" y="24"/>
                          <a:pt x="137" y="24"/>
                        </a:cubicBezTo>
                        <a:cubicBezTo>
                          <a:pt x="409" y="24"/>
                          <a:pt x="409" y="24"/>
                          <a:pt x="409" y="24"/>
                        </a:cubicBezTo>
                        <a:cubicBezTo>
                          <a:pt x="409" y="143"/>
                          <a:pt x="409" y="143"/>
                          <a:pt x="409" y="143"/>
                        </a:cubicBezTo>
                        <a:cubicBezTo>
                          <a:pt x="337" y="124"/>
                          <a:pt x="263" y="161"/>
                          <a:pt x="233" y="228"/>
                        </a:cubicBezTo>
                        <a:lnTo>
                          <a:pt x="232" y="227"/>
                        </a:lnTo>
                        <a:cubicBezTo>
                          <a:pt x="68" y="227"/>
                          <a:pt x="68" y="227"/>
                          <a:pt x="68" y="227"/>
                        </a:cubicBezTo>
                        <a:cubicBezTo>
                          <a:pt x="62" y="227"/>
                          <a:pt x="57" y="232"/>
                          <a:pt x="57" y="238"/>
                        </a:cubicBezTo>
                        <a:cubicBezTo>
                          <a:pt x="57" y="245"/>
                          <a:pt x="62" y="250"/>
                          <a:pt x="68" y="250"/>
                        </a:cubicBezTo>
                        <a:cubicBezTo>
                          <a:pt x="224" y="250"/>
                          <a:pt x="224" y="250"/>
                          <a:pt x="224" y="250"/>
                        </a:cubicBezTo>
                        <a:cubicBezTo>
                          <a:pt x="220" y="268"/>
                          <a:pt x="219" y="284"/>
                          <a:pt x="220" y="301"/>
                        </a:cubicBezTo>
                        <a:cubicBezTo>
                          <a:pt x="219" y="301"/>
                          <a:pt x="218" y="300"/>
                          <a:pt x="217" y="300"/>
                        </a:cubicBezTo>
                        <a:cubicBezTo>
                          <a:pt x="68" y="300"/>
                          <a:pt x="68" y="300"/>
                          <a:pt x="68" y="300"/>
                        </a:cubicBezTo>
                        <a:cubicBezTo>
                          <a:pt x="62" y="300"/>
                          <a:pt x="57" y="305"/>
                          <a:pt x="57" y="311"/>
                        </a:cubicBezTo>
                        <a:cubicBezTo>
                          <a:pt x="57" y="317"/>
                          <a:pt x="62" y="323"/>
                          <a:pt x="68" y="323"/>
                        </a:cubicBezTo>
                        <a:cubicBezTo>
                          <a:pt x="217" y="323"/>
                          <a:pt x="217" y="323"/>
                          <a:pt x="217" y="323"/>
                        </a:cubicBezTo>
                        <a:cubicBezTo>
                          <a:pt x="220" y="323"/>
                          <a:pt x="221" y="322"/>
                          <a:pt x="223" y="321"/>
                        </a:cubicBezTo>
                        <a:cubicBezTo>
                          <a:pt x="227" y="339"/>
                          <a:pt x="235" y="357"/>
                          <a:pt x="245" y="373"/>
                        </a:cubicBezTo>
                        <a:cubicBezTo>
                          <a:pt x="68" y="373"/>
                          <a:pt x="68" y="373"/>
                          <a:pt x="68" y="373"/>
                        </a:cubicBezTo>
                        <a:cubicBezTo>
                          <a:pt x="62" y="373"/>
                          <a:pt x="57" y="378"/>
                          <a:pt x="57" y="384"/>
                        </a:cubicBezTo>
                        <a:cubicBezTo>
                          <a:pt x="57" y="390"/>
                          <a:pt x="62" y="396"/>
                          <a:pt x="68" y="396"/>
                        </a:cubicBezTo>
                        <a:cubicBezTo>
                          <a:pt x="263" y="396"/>
                          <a:pt x="263" y="396"/>
                          <a:pt x="263" y="396"/>
                        </a:cubicBezTo>
                        <a:cubicBezTo>
                          <a:pt x="264" y="396"/>
                          <a:pt x="264" y="396"/>
                          <a:pt x="264" y="396"/>
                        </a:cubicBezTo>
                        <a:cubicBezTo>
                          <a:pt x="282" y="413"/>
                          <a:pt x="303" y="427"/>
                          <a:pt x="328" y="434"/>
                        </a:cubicBezTo>
                        <a:cubicBezTo>
                          <a:pt x="343" y="438"/>
                          <a:pt x="357" y="440"/>
                          <a:pt x="371" y="440"/>
                        </a:cubicBezTo>
                        <a:cubicBezTo>
                          <a:pt x="384" y="440"/>
                          <a:pt x="396" y="438"/>
                          <a:pt x="409" y="435"/>
                        </a:cubicBezTo>
                        <a:lnTo>
                          <a:pt x="409" y="582"/>
                        </a:lnTo>
                        <a:close/>
                        <a:moveTo>
                          <a:pt x="336" y="412"/>
                        </a:moveTo>
                        <a:lnTo>
                          <a:pt x="336" y="412"/>
                        </a:lnTo>
                        <a:cubicBezTo>
                          <a:pt x="267" y="392"/>
                          <a:pt x="228" y="321"/>
                          <a:pt x="248" y="253"/>
                        </a:cubicBezTo>
                        <a:cubicBezTo>
                          <a:pt x="264" y="197"/>
                          <a:pt x="315" y="160"/>
                          <a:pt x="371" y="160"/>
                        </a:cubicBezTo>
                        <a:cubicBezTo>
                          <a:pt x="383" y="160"/>
                          <a:pt x="395" y="162"/>
                          <a:pt x="406" y="166"/>
                        </a:cubicBezTo>
                        <a:cubicBezTo>
                          <a:pt x="474" y="185"/>
                          <a:pt x="514" y="256"/>
                          <a:pt x="494" y="325"/>
                        </a:cubicBezTo>
                        <a:cubicBezTo>
                          <a:pt x="474" y="392"/>
                          <a:pt x="403" y="432"/>
                          <a:pt x="336" y="412"/>
                        </a:cubicBezTo>
                        <a:close/>
                        <a:moveTo>
                          <a:pt x="572" y="593"/>
                        </a:moveTo>
                        <a:lnTo>
                          <a:pt x="572" y="593"/>
                        </a:lnTo>
                        <a:cubicBezTo>
                          <a:pt x="571" y="598"/>
                          <a:pt x="569" y="602"/>
                          <a:pt x="565" y="605"/>
                        </a:cubicBezTo>
                        <a:cubicBezTo>
                          <a:pt x="561" y="607"/>
                          <a:pt x="555" y="608"/>
                          <a:pt x="550" y="606"/>
                        </a:cubicBezTo>
                        <a:cubicBezTo>
                          <a:pt x="546" y="605"/>
                          <a:pt x="542" y="603"/>
                          <a:pt x="540" y="599"/>
                        </a:cubicBezTo>
                        <a:cubicBezTo>
                          <a:pt x="471" y="491"/>
                          <a:pt x="471" y="491"/>
                          <a:pt x="471" y="491"/>
                        </a:cubicBezTo>
                        <a:cubicBezTo>
                          <a:pt x="468" y="487"/>
                          <a:pt x="468" y="483"/>
                          <a:pt x="469" y="478"/>
                        </a:cubicBezTo>
                        <a:cubicBezTo>
                          <a:pt x="470" y="474"/>
                          <a:pt x="472" y="469"/>
                          <a:pt x="476" y="467"/>
                        </a:cubicBezTo>
                        <a:cubicBezTo>
                          <a:pt x="479" y="465"/>
                          <a:pt x="482" y="464"/>
                          <a:pt x="486" y="464"/>
                        </a:cubicBezTo>
                        <a:cubicBezTo>
                          <a:pt x="492" y="464"/>
                          <a:pt x="498" y="467"/>
                          <a:pt x="501" y="473"/>
                        </a:cubicBezTo>
                        <a:cubicBezTo>
                          <a:pt x="570" y="580"/>
                          <a:pt x="570" y="580"/>
                          <a:pt x="570" y="580"/>
                        </a:cubicBezTo>
                        <a:cubicBezTo>
                          <a:pt x="573" y="584"/>
                          <a:pt x="573" y="588"/>
                          <a:pt x="572" y="59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grpSp>
        <p:nvGrpSpPr>
          <p:cNvPr id="37" name="Group 36"/>
          <p:cNvGrpSpPr/>
          <p:nvPr/>
        </p:nvGrpSpPr>
        <p:grpSpPr>
          <a:xfrm>
            <a:off x="6420014" y="3626532"/>
            <a:ext cx="4825372" cy="1200329"/>
            <a:chOff x="6231177" y="3662913"/>
            <a:chExt cx="4825372" cy="1200329"/>
          </a:xfrm>
        </p:grpSpPr>
        <p:sp>
          <p:nvSpPr>
            <p:cNvPr id="105" name="Rectangle 104"/>
            <p:cNvSpPr/>
            <p:nvPr/>
          </p:nvSpPr>
          <p:spPr>
            <a:xfrm>
              <a:off x="7514673" y="3662913"/>
              <a:ext cx="3541876" cy="1200329"/>
            </a:xfrm>
            <a:prstGeom prst="rect">
              <a:avLst/>
            </a:prstGeom>
            <a:ln w="19050">
              <a:solidFill>
                <a:srgbClr val="3896F3"/>
              </a:solidFill>
            </a:ln>
          </p:spPr>
          <p:txBody>
            <a:bodyPr wrap="square">
              <a:spAutoFit/>
            </a:bodyPr>
            <a:lstStyle/>
            <a:p>
              <a:pPr lvl="0"/>
              <a:r>
                <a:rPr lang="en-US" dirty="0"/>
                <a:t>High risk &amp; valuable information presents unique management challenges &amp; costs - defensibly dispose or securely manage</a:t>
              </a:r>
            </a:p>
          </p:txBody>
        </p:sp>
        <p:grpSp>
          <p:nvGrpSpPr>
            <p:cNvPr id="36" name="Group 35"/>
            <p:cNvGrpSpPr/>
            <p:nvPr/>
          </p:nvGrpSpPr>
          <p:grpSpPr>
            <a:xfrm>
              <a:off x="6231177" y="3803001"/>
              <a:ext cx="1130119" cy="920153"/>
              <a:chOff x="3717061" y="4643759"/>
              <a:chExt cx="1130119" cy="920153"/>
            </a:xfrm>
          </p:grpSpPr>
          <p:sp>
            <p:nvSpPr>
              <p:cNvPr id="107" name="Rectangle 106"/>
              <p:cNvSpPr/>
              <p:nvPr/>
            </p:nvSpPr>
            <p:spPr>
              <a:xfrm>
                <a:off x="3982679" y="5194580"/>
                <a:ext cx="598882" cy="369332"/>
              </a:xfrm>
              <a:prstGeom prst="rect">
                <a:avLst/>
              </a:prstGeom>
            </p:spPr>
            <p:txBody>
              <a:bodyPr wrap="none">
                <a:spAutoFit/>
              </a:bodyPr>
              <a:lstStyle/>
              <a:p>
                <a:r>
                  <a:rPr lang="en-US" b="1" dirty="0"/>
                  <a:t>Cost</a:t>
                </a:r>
                <a:endParaRPr lang="en-GB" sz="3600" b="1" dirty="0"/>
              </a:p>
            </p:txBody>
          </p:sp>
          <p:grpSp>
            <p:nvGrpSpPr>
              <p:cNvPr id="35" name="Group 34"/>
              <p:cNvGrpSpPr/>
              <p:nvPr/>
            </p:nvGrpSpPr>
            <p:grpSpPr>
              <a:xfrm>
                <a:off x="3717061" y="4643759"/>
                <a:ext cx="1130119" cy="445423"/>
                <a:chOff x="3717061" y="4643759"/>
                <a:chExt cx="1130119" cy="445423"/>
              </a:xfrm>
            </p:grpSpPr>
            <p:grpSp>
              <p:nvGrpSpPr>
                <p:cNvPr id="113" name="Group 112"/>
                <p:cNvGrpSpPr>
                  <a:grpSpLocks noChangeAspect="1"/>
                </p:cNvGrpSpPr>
                <p:nvPr/>
              </p:nvGrpSpPr>
              <p:grpSpPr>
                <a:xfrm>
                  <a:off x="3717061" y="4717996"/>
                  <a:ext cx="513204" cy="296947"/>
                  <a:chOff x="523896" y="1956635"/>
                  <a:chExt cx="294575" cy="170446"/>
                </a:xfrm>
                <a:solidFill>
                  <a:srgbClr val="0078EF"/>
                </a:solidFill>
              </p:grpSpPr>
              <p:sp>
                <p:nvSpPr>
                  <p:cNvPr id="114" name="Freeform 154"/>
                  <p:cNvSpPr>
                    <a:spLocks noChangeArrowheads="1"/>
                  </p:cNvSpPr>
                  <p:nvPr/>
                </p:nvSpPr>
                <p:spPr bwMode="auto">
                  <a:xfrm>
                    <a:off x="523896" y="1956635"/>
                    <a:ext cx="294575" cy="170446"/>
                  </a:xfrm>
                  <a:custGeom>
                    <a:avLst/>
                    <a:gdLst>
                      <a:gd name="T0" fmla="*/ 691 w 702"/>
                      <a:gd name="T1" fmla="*/ 17 h 404"/>
                      <a:gd name="T2" fmla="*/ 691 w 702"/>
                      <a:gd name="T3" fmla="*/ 17 h 404"/>
                      <a:gd name="T4" fmla="*/ 361 w 702"/>
                      <a:gd name="T5" fmla="*/ 18 h 404"/>
                      <a:gd name="T6" fmla="*/ 14 w 702"/>
                      <a:gd name="T7" fmla="*/ 21 h 404"/>
                      <a:gd name="T8" fmla="*/ 5 w 702"/>
                      <a:gd name="T9" fmla="*/ 23 h 404"/>
                      <a:gd name="T10" fmla="*/ 0 w 702"/>
                      <a:gd name="T11" fmla="*/ 32 h 404"/>
                      <a:gd name="T12" fmla="*/ 0 w 702"/>
                      <a:gd name="T13" fmla="*/ 382 h 404"/>
                      <a:gd name="T14" fmla="*/ 11 w 702"/>
                      <a:gd name="T15" fmla="*/ 394 h 404"/>
                      <a:gd name="T16" fmla="*/ 166 w 702"/>
                      <a:gd name="T17" fmla="*/ 403 h 404"/>
                      <a:gd name="T18" fmla="*/ 363 w 702"/>
                      <a:gd name="T19" fmla="*/ 392 h 404"/>
                      <a:gd name="T20" fmla="*/ 688 w 702"/>
                      <a:gd name="T21" fmla="*/ 389 h 404"/>
                      <a:gd name="T22" fmla="*/ 697 w 702"/>
                      <a:gd name="T23" fmla="*/ 387 h 404"/>
                      <a:gd name="T24" fmla="*/ 701 w 702"/>
                      <a:gd name="T25" fmla="*/ 378 h 404"/>
                      <a:gd name="T26" fmla="*/ 701 w 702"/>
                      <a:gd name="T27" fmla="*/ 28 h 404"/>
                      <a:gd name="T28" fmla="*/ 691 w 702"/>
                      <a:gd name="T29" fmla="*/ 17 h 404"/>
                      <a:gd name="T30" fmla="*/ 677 w 702"/>
                      <a:gd name="T31" fmla="*/ 365 h 404"/>
                      <a:gd name="T32" fmla="*/ 677 w 702"/>
                      <a:gd name="T33" fmla="*/ 365 h 404"/>
                      <a:gd name="T34" fmla="*/ 361 w 702"/>
                      <a:gd name="T35" fmla="*/ 369 h 404"/>
                      <a:gd name="T36" fmla="*/ 23 w 702"/>
                      <a:gd name="T37" fmla="*/ 372 h 404"/>
                      <a:gd name="T38" fmla="*/ 23 w 702"/>
                      <a:gd name="T39" fmla="*/ 45 h 404"/>
                      <a:gd name="T40" fmla="*/ 363 w 702"/>
                      <a:gd name="T41" fmla="*/ 42 h 404"/>
                      <a:gd name="T42" fmla="*/ 677 w 702"/>
                      <a:gd name="T43" fmla="*/ 39 h 404"/>
                      <a:gd name="T44" fmla="*/ 677 w 702"/>
                      <a:gd name="T45" fmla="*/ 365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2" h="404">
                        <a:moveTo>
                          <a:pt x="691" y="17"/>
                        </a:moveTo>
                        <a:lnTo>
                          <a:pt x="691" y="17"/>
                        </a:lnTo>
                        <a:cubicBezTo>
                          <a:pt x="562" y="0"/>
                          <a:pt x="465" y="8"/>
                          <a:pt x="361" y="18"/>
                        </a:cubicBezTo>
                        <a:cubicBezTo>
                          <a:pt x="260" y="28"/>
                          <a:pt x="153" y="38"/>
                          <a:pt x="14" y="21"/>
                        </a:cubicBezTo>
                        <a:cubicBezTo>
                          <a:pt x="10" y="20"/>
                          <a:pt x="7" y="21"/>
                          <a:pt x="5" y="23"/>
                        </a:cubicBezTo>
                        <a:cubicBezTo>
                          <a:pt x="1" y="25"/>
                          <a:pt x="0" y="29"/>
                          <a:pt x="0" y="32"/>
                        </a:cubicBezTo>
                        <a:cubicBezTo>
                          <a:pt x="0" y="382"/>
                          <a:pt x="0" y="382"/>
                          <a:pt x="0" y="382"/>
                        </a:cubicBezTo>
                        <a:cubicBezTo>
                          <a:pt x="0" y="388"/>
                          <a:pt x="5" y="393"/>
                          <a:pt x="11" y="394"/>
                        </a:cubicBezTo>
                        <a:cubicBezTo>
                          <a:pt x="67" y="401"/>
                          <a:pt x="118" y="403"/>
                          <a:pt x="166" y="403"/>
                        </a:cubicBezTo>
                        <a:cubicBezTo>
                          <a:pt x="238" y="403"/>
                          <a:pt x="301" y="398"/>
                          <a:pt x="363" y="392"/>
                        </a:cubicBezTo>
                        <a:cubicBezTo>
                          <a:pt x="465" y="382"/>
                          <a:pt x="562" y="373"/>
                          <a:pt x="688" y="389"/>
                        </a:cubicBezTo>
                        <a:cubicBezTo>
                          <a:pt x="691" y="390"/>
                          <a:pt x="694" y="389"/>
                          <a:pt x="697" y="387"/>
                        </a:cubicBezTo>
                        <a:cubicBezTo>
                          <a:pt x="699" y="385"/>
                          <a:pt x="701" y="381"/>
                          <a:pt x="701" y="378"/>
                        </a:cubicBezTo>
                        <a:cubicBezTo>
                          <a:pt x="701" y="28"/>
                          <a:pt x="701" y="28"/>
                          <a:pt x="701" y="28"/>
                        </a:cubicBezTo>
                        <a:cubicBezTo>
                          <a:pt x="701" y="22"/>
                          <a:pt x="696" y="18"/>
                          <a:pt x="691" y="17"/>
                        </a:cubicBezTo>
                        <a:close/>
                        <a:moveTo>
                          <a:pt x="677" y="365"/>
                        </a:moveTo>
                        <a:lnTo>
                          <a:pt x="677" y="365"/>
                        </a:lnTo>
                        <a:cubicBezTo>
                          <a:pt x="555" y="351"/>
                          <a:pt x="461" y="359"/>
                          <a:pt x="361" y="369"/>
                        </a:cubicBezTo>
                        <a:cubicBezTo>
                          <a:pt x="262" y="378"/>
                          <a:pt x="159" y="387"/>
                          <a:pt x="23" y="372"/>
                        </a:cubicBezTo>
                        <a:cubicBezTo>
                          <a:pt x="23" y="45"/>
                          <a:pt x="23" y="45"/>
                          <a:pt x="23" y="45"/>
                        </a:cubicBezTo>
                        <a:cubicBezTo>
                          <a:pt x="160" y="60"/>
                          <a:pt x="263" y="51"/>
                          <a:pt x="363" y="42"/>
                        </a:cubicBezTo>
                        <a:cubicBezTo>
                          <a:pt x="463" y="32"/>
                          <a:pt x="556" y="24"/>
                          <a:pt x="677" y="39"/>
                        </a:cubicBezTo>
                        <a:lnTo>
                          <a:pt x="677" y="365"/>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5" name="Freeform 155"/>
                  <p:cNvSpPr>
                    <a:spLocks noChangeArrowheads="1"/>
                  </p:cNvSpPr>
                  <p:nvPr/>
                </p:nvSpPr>
                <p:spPr bwMode="auto">
                  <a:xfrm>
                    <a:off x="551686" y="2090028"/>
                    <a:ext cx="48170" cy="11116"/>
                  </a:xfrm>
                  <a:custGeom>
                    <a:avLst/>
                    <a:gdLst>
                      <a:gd name="T0" fmla="*/ 102 w 114"/>
                      <a:gd name="T1" fmla="*/ 4 h 28"/>
                      <a:gd name="T2" fmla="*/ 102 w 114"/>
                      <a:gd name="T3" fmla="*/ 4 h 28"/>
                      <a:gd name="T4" fmla="*/ 14 w 114"/>
                      <a:gd name="T5" fmla="*/ 0 h 28"/>
                      <a:gd name="T6" fmla="*/ 1 w 114"/>
                      <a:gd name="T7" fmla="*/ 11 h 28"/>
                      <a:gd name="T8" fmla="*/ 11 w 114"/>
                      <a:gd name="T9" fmla="*/ 24 h 28"/>
                      <a:gd name="T10" fmla="*/ 102 w 114"/>
                      <a:gd name="T11" fmla="*/ 27 h 28"/>
                      <a:gd name="T12" fmla="*/ 113 w 114"/>
                      <a:gd name="T13" fmla="*/ 15 h 28"/>
                      <a:gd name="T14" fmla="*/ 102 w 114"/>
                      <a:gd name="T15" fmla="*/ 4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28">
                        <a:moveTo>
                          <a:pt x="102" y="4"/>
                        </a:moveTo>
                        <a:lnTo>
                          <a:pt x="102" y="4"/>
                        </a:lnTo>
                        <a:cubicBezTo>
                          <a:pt x="72" y="4"/>
                          <a:pt x="43" y="3"/>
                          <a:pt x="14" y="0"/>
                        </a:cubicBezTo>
                        <a:cubicBezTo>
                          <a:pt x="7" y="0"/>
                          <a:pt x="1" y="4"/>
                          <a:pt x="1" y="11"/>
                        </a:cubicBezTo>
                        <a:cubicBezTo>
                          <a:pt x="0" y="17"/>
                          <a:pt x="5" y="23"/>
                          <a:pt x="11" y="24"/>
                        </a:cubicBezTo>
                        <a:cubicBezTo>
                          <a:pt x="42" y="26"/>
                          <a:pt x="71" y="27"/>
                          <a:pt x="102" y="27"/>
                        </a:cubicBezTo>
                        <a:cubicBezTo>
                          <a:pt x="108" y="27"/>
                          <a:pt x="113" y="21"/>
                          <a:pt x="113" y="15"/>
                        </a:cubicBezTo>
                        <a:cubicBezTo>
                          <a:pt x="113" y="9"/>
                          <a:pt x="108" y="4"/>
                          <a:pt x="102" y="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6" name="Freeform 156"/>
                  <p:cNvSpPr>
                    <a:spLocks noChangeArrowheads="1"/>
                  </p:cNvSpPr>
                  <p:nvPr/>
                </p:nvSpPr>
                <p:spPr bwMode="auto">
                  <a:xfrm>
                    <a:off x="748070" y="1984425"/>
                    <a:ext cx="48170" cy="11116"/>
                  </a:xfrm>
                  <a:custGeom>
                    <a:avLst/>
                    <a:gdLst>
                      <a:gd name="T0" fmla="*/ 0 w 115"/>
                      <a:gd name="T1" fmla="*/ 11 h 28"/>
                      <a:gd name="T2" fmla="*/ 0 w 115"/>
                      <a:gd name="T3" fmla="*/ 11 h 28"/>
                      <a:gd name="T4" fmla="*/ 13 w 115"/>
                      <a:gd name="T5" fmla="*/ 23 h 28"/>
                      <a:gd name="T6" fmla="*/ 100 w 115"/>
                      <a:gd name="T7" fmla="*/ 27 h 28"/>
                      <a:gd name="T8" fmla="*/ 101 w 115"/>
                      <a:gd name="T9" fmla="*/ 27 h 28"/>
                      <a:gd name="T10" fmla="*/ 113 w 115"/>
                      <a:gd name="T11" fmla="*/ 15 h 28"/>
                      <a:gd name="T12" fmla="*/ 102 w 115"/>
                      <a:gd name="T13" fmla="*/ 3 h 28"/>
                      <a:gd name="T14" fmla="*/ 13 w 115"/>
                      <a:gd name="T15" fmla="*/ 0 h 28"/>
                      <a:gd name="T16" fmla="*/ 0 w 115"/>
                      <a:gd name="T17"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28">
                        <a:moveTo>
                          <a:pt x="0" y="11"/>
                        </a:moveTo>
                        <a:lnTo>
                          <a:pt x="0" y="11"/>
                        </a:lnTo>
                        <a:cubicBezTo>
                          <a:pt x="0" y="17"/>
                          <a:pt x="6" y="23"/>
                          <a:pt x="13" y="23"/>
                        </a:cubicBezTo>
                        <a:cubicBezTo>
                          <a:pt x="42" y="23"/>
                          <a:pt x="71" y="24"/>
                          <a:pt x="100" y="27"/>
                        </a:cubicBezTo>
                        <a:cubicBezTo>
                          <a:pt x="101" y="27"/>
                          <a:pt x="101" y="27"/>
                          <a:pt x="101" y="27"/>
                        </a:cubicBezTo>
                        <a:cubicBezTo>
                          <a:pt x="108" y="27"/>
                          <a:pt x="113" y="22"/>
                          <a:pt x="113" y="15"/>
                        </a:cubicBezTo>
                        <a:cubicBezTo>
                          <a:pt x="114" y="9"/>
                          <a:pt x="109" y="4"/>
                          <a:pt x="102" y="3"/>
                        </a:cubicBezTo>
                        <a:cubicBezTo>
                          <a:pt x="72" y="1"/>
                          <a:pt x="43" y="0"/>
                          <a:pt x="13" y="0"/>
                        </a:cubicBezTo>
                        <a:cubicBezTo>
                          <a:pt x="6" y="0"/>
                          <a:pt x="0" y="5"/>
                          <a:pt x="0" y="1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7" name="Freeform 157"/>
                  <p:cNvSpPr>
                    <a:spLocks noChangeArrowheads="1"/>
                  </p:cNvSpPr>
                  <p:nvPr/>
                </p:nvSpPr>
                <p:spPr bwMode="auto">
                  <a:xfrm>
                    <a:off x="649879" y="1995541"/>
                    <a:ext cx="38906" cy="88929"/>
                  </a:xfrm>
                  <a:custGeom>
                    <a:avLst/>
                    <a:gdLst>
                      <a:gd name="T0" fmla="*/ 55 w 91"/>
                      <a:gd name="T1" fmla="*/ 94 h 211"/>
                      <a:gd name="T2" fmla="*/ 55 w 91"/>
                      <a:gd name="T3" fmla="*/ 94 h 211"/>
                      <a:gd name="T4" fmla="*/ 45 w 91"/>
                      <a:gd name="T5" fmla="*/ 89 h 211"/>
                      <a:gd name="T6" fmla="*/ 23 w 91"/>
                      <a:gd name="T7" fmla="*/ 68 h 211"/>
                      <a:gd name="T8" fmla="*/ 45 w 91"/>
                      <a:gd name="T9" fmla="*/ 52 h 211"/>
                      <a:gd name="T10" fmla="*/ 67 w 91"/>
                      <a:gd name="T11" fmla="*/ 68 h 211"/>
                      <a:gd name="T12" fmla="*/ 78 w 91"/>
                      <a:gd name="T13" fmla="*/ 80 h 211"/>
                      <a:gd name="T14" fmla="*/ 90 w 91"/>
                      <a:gd name="T15" fmla="*/ 68 h 211"/>
                      <a:gd name="T16" fmla="*/ 53 w 91"/>
                      <a:gd name="T17" fmla="*/ 30 h 211"/>
                      <a:gd name="T18" fmla="*/ 53 w 91"/>
                      <a:gd name="T19" fmla="*/ 11 h 211"/>
                      <a:gd name="T20" fmla="*/ 42 w 91"/>
                      <a:gd name="T21" fmla="*/ 0 h 211"/>
                      <a:gd name="T22" fmla="*/ 30 w 91"/>
                      <a:gd name="T23" fmla="*/ 11 h 211"/>
                      <a:gd name="T24" fmla="*/ 30 w 91"/>
                      <a:gd name="T25" fmla="*/ 31 h 211"/>
                      <a:gd name="T26" fmla="*/ 0 w 91"/>
                      <a:gd name="T27" fmla="*/ 68 h 211"/>
                      <a:gd name="T28" fmla="*/ 34 w 91"/>
                      <a:gd name="T29" fmla="*/ 110 h 211"/>
                      <a:gd name="T30" fmla="*/ 45 w 91"/>
                      <a:gd name="T31" fmla="*/ 115 h 211"/>
                      <a:gd name="T32" fmla="*/ 67 w 91"/>
                      <a:gd name="T33" fmla="*/ 135 h 211"/>
                      <a:gd name="T34" fmla="*/ 45 w 91"/>
                      <a:gd name="T35" fmla="*/ 152 h 211"/>
                      <a:gd name="T36" fmla="*/ 23 w 91"/>
                      <a:gd name="T37" fmla="*/ 135 h 211"/>
                      <a:gd name="T38" fmla="*/ 12 w 91"/>
                      <a:gd name="T39" fmla="*/ 124 h 211"/>
                      <a:gd name="T40" fmla="*/ 0 w 91"/>
                      <a:gd name="T41" fmla="*/ 135 h 211"/>
                      <a:gd name="T42" fmla="*/ 31 w 91"/>
                      <a:gd name="T43" fmla="*/ 173 h 211"/>
                      <a:gd name="T44" fmla="*/ 30 w 91"/>
                      <a:gd name="T45" fmla="*/ 175 h 211"/>
                      <a:gd name="T46" fmla="*/ 30 w 91"/>
                      <a:gd name="T47" fmla="*/ 199 h 211"/>
                      <a:gd name="T48" fmla="*/ 42 w 91"/>
                      <a:gd name="T49" fmla="*/ 210 h 211"/>
                      <a:gd name="T50" fmla="*/ 53 w 91"/>
                      <a:gd name="T51" fmla="*/ 199 h 211"/>
                      <a:gd name="T52" fmla="*/ 53 w 91"/>
                      <a:gd name="T53" fmla="*/ 175 h 211"/>
                      <a:gd name="T54" fmla="*/ 53 w 91"/>
                      <a:gd name="T55" fmla="*/ 174 h 211"/>
                      <a:gd name="T56" fmla="*/ 90 w 91"/>
                      <a:gd name="T57" fmla="*/ 135 h 211"/>
                      <a:gd name="T58" fmla="*/ 55 w 91"/>
                      <a:gd name="T59" fmla="*/ 94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91" h="211">
                        <a:moveTo>
                          <a:pt x="55" y="94"/>
                        </a:moveTo>
                        <a:lnTo>
                          <a:pt x="55" y="94"/>
                        </a:lnTo>
                        <a:cubicBezTo>
                          <a:pt x="45" y="89"/>
                          <a:pt x="45" y="89"/>
                          <a:pt x="45" y="89"/>
                        </a:cubicBezTo>
                        <a:cubicBezTo>
                          <a:pt x="25" y="79"/>
                          <a:pt x="23" y="78"/>
                          <a:pt x="23" y="68"/>
                        </a:cubicBezTo>
                        <a:cubicBezTo>
                          <a:pt x="23" y="54"/>
                          <a:pt x="40" y="52"/>
                          <a:pt x="45" y="52"/>
                        </a:cubicBezTo>
                        <a:cubicBezTo>
                          <a:pt x="51" y="52"/>
                          <a:pt x="67" y="54"/>
                          <a:pt x="67" y="68"/>
                        </a:cubicBezTo>
                        <a:cubicBezTo>
                          <a:pt x="67" y="75"/>
                          <a:pt x="72" y="80"/>
                          <a:pt x="78" y="80"/>
                        </a:cubicBezTo>
                        <a:cubicBezTo>
                          <a:pt x="84" y="80"/>
                          <a:pt x="90" y="75"/>
                          <a:pt x="90" y="68"/>
                        </a:cubicBezTo>
                        <a:cubicBezTo>
                          <a:pt x="90" y="48"/>
                          <a:pt x="75" y="33"/>
                          <a:pt x="53" y="30"/>
                        </a:cubicBezTo>
                        <a:cubicBezTo>
                          <a:pt x="53" y="11"/>
                          <a:pt x="53" y="11"/>
                          <a:pt x="53" y="11"/>
                        </a:cubicBezTo>
                        <a:cubicBezTo>
                          <a:pt x="53" y="5"/>
                          <a:pt x="48" y="0"/>
                          <a:pt x="42" y="0"/>
                        </a:cubicBezTo>
                        <a:cubicBezTo>
                          <a:pt x="36" y="0"/>
                          <a:pt x="30" y="5"/>
                          <a:pt x="30" y="11"/>
                        </a:cubicBezTo>
                        <a:cubicBezTo>
                          <a:pt x="30" y="31"/>
                          <a:pt x="30" y="31"/>
                          <a:pt x="30" y="31"/>
                        </a:cubicBezTo>
                        <a:cubicBezTo>
                          <a:pt x="12" y="36"/>
                          <a:pt x="0" y="50"/>
                          <a:pt x="0" y="68"/>
                        </a:cubicBezTo>
                        <a:cubicBezTo>
                          <a:pt x="0" y="92"/>
                          <a:pt x="16" y="101"/>
                          <a:pt x="34" y="110"/>
                        </a:cubicBezTo>
                        <a:cubicBezTo>
                          <a:pt x="45" y="115"/>
                          <a:pt x="45" y="115"/>
                          <a:pt x="45" y="115"/>
                        </a:cubicBezTo>
                        <a:cubicBezTo>
                          <a:pt x="65" y="125"/>
                          <a:pt x="67" y="127"/>
                          <a:pt x="67" y="135"/>
                        </a:cubicBezTo>
                        <a:cubicBezTo>
                          <a:pt x="67" y="150"/>
                          <a:pt x="51" y="152"/>
                          <a:pt x="45" y="152"/>
                        </a:cubicBezTo>
                        <a:cubicBezTo>
                          <a:pt x="39" y="152"/>
                          <a:pt x="23" y="150"/>
                          <a:pt x="23" y="135"/>
                        </a:cubicBezTo>
                        <a:cubicBezTo>
                          <a:pt x="23" y="129"/>
                          <a:pt x="18" y="124"/>
                          <a:pt x="12" y="124"/>
                        </a:cubicBezTo>
                        <a:cubicBezTo>
                          <a:pt x="5" y="124"/>
                          <a:pt x="0" y="129"/>
                          <a:pt x="0" y="135"/>
                        </a:cubicBezTo>
                        <a:cubicBezTo>
                          <a:pt x="0" y="155"/>
                          <a:pt x="13" y="168"/>
                          <a:pt x="31" y="173"/>
                        </a:cubicBezTo>
                        <a:cubicBezTo>
                          <a:pt x="31" y="174"/>
                          <a:pt x="30" y="174"/>
                          <a:pt x="30" y="175"/>
                        </a:cubicBezTo>
                        <a:cubicBezTo>
                          <a:pt x="30" y="199"/>
                          <a:pt x="30" y="199"/>
                          <a:pt x="30" y="199"/>
                        </a:cubicBezTo>
                        <a:cubicBezTo>
                          <a:pt x="30" y="205"/>
                          <a:pt x="36" y="210"/>
                          <a:pt x="42" y="210"/>
                        </a:cubicBezTo>
                        <a:cubicBezTo>
                          <a:pt x="48" y="210"/>
                          <a:pt x="53" y="205"/>
                          <a:pt x="53" y="199"/>
                        </a:cubicBezTo>
                        <a:cubicBezTo>
                          <a:pt x="53" y="175"/>
                          <a:pt x="53" y="175"/>
                          <a:pt x="53" y="175"/>
                        </a:cubicBezTo>
                        <a:lnTo>
                          <a:pt x="53" y="174"/>
                        </a:lnTo>
                        <a:cubicBezTo>
                          <a:pt x="75" y="170"/>
                          <a:pt x="90" y="156"/>
                          <a:pt x="90" y="135"/>
                        </a:cubicBezTo>
                        <a:cubicBezTo>
                          <a:pt x="90" y="111"/>
                          <a:pt x="75" y="104"/>
                          <a:pt x="55" y="9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sp>
              <p:nvSpPr>
                <p:cNvPr id="118" name="Freeform 366"/>
                <p:cNvSpPr>
                  <a:spLocks noChangeAspect="1" noChangeArrowheads="1"/>
                </p:cNvSpPr>
                <p:nvPr/>
              </p:nvSpPr>
              <p:spPr bwMode="auto">
                <a:xfrm>
                  <a:off x="4350110" y="4643759"/>
                  <a:ext cx="497070" cy="445423"/>
                </a:xfrm>
                <a:custGeom>
                  <a:avLst/>
                  <a:gdLst>
                    <a:gd name="T0" fmla="*/ 69 w 677"/>
                    <a:gd name="T1" fmla="*/ 441 h 608"/>
                    <a:gd name="T2" fmla="*/ 47 w 677"/>
                    <a:gd name="T3" fmla="*/ 493 h 608"/>
                    <a:gd name="T4" fmla="*/ 419 w 677"/>
                    <a:gd name="T5" fmla="*/ 551 h 608"/>
                    <a:gd name="T6" fmla="*/ 676 w 677"/>
                    <a:gd name="T7" fmla="*/ 488 h 608"/>
                    <a:gd name="T8" fmla="*/ 676 w 677"/>
                    <a:gd name="T9" fmla="*/ 55 h 608"/>
                    <a:gd name="T10" fmla="*/ 304 w 677"/>
                    <a:gd name="T11" fmla="*/ 58 h 608"/>
                    <a:gd name="T12" fmla="*/ 186 w 677"/>
                    <a:gd name="T13" fmla="*/ 233 h 608"/>
                    <a:gd name="T14" fmla="*/ 0 w 677"/>
                    <a:gd name="T15" fmla="*/ 291 h 608"/>
                    <a:gd name="T16" fmla="*/ 23 w 677"/>
                    <a:gd name="T17" fmla="*/ 348 h 608"/>
                    <a:gd name="T18" fmla="*/ 186 w 677"/>
                    <a:gd name="T19" fmla="*/ 345 h 608"/>
                    <a:gd name="T20" fmla="*/ 186 w 677"/>
                    <a:gd name="T21" fmla="*/ 379 h 608"/>
                    <a:gd name="T22" fmla="*/ 253 w 677"/>
                    <a:gd name="T23" fmla="*/ 408 h 608"/>
                    <a:gd name="T24" fmla="*/ 366 w 677"/>
                    <a:gd name="T25" fmla="*/ 363 h 608"/>
                    <a:gd name="T26" fmla="*/ 416 w 677"/>
                    <a:gd name="T27" fmla="*/ 376 h 608"/>
                    <a:gd name="T28" fmla="*/ 419 w 677"/>
                    <a:gd name="T29" fmla="*/ 404 h 608"/>
                    <a:gd name="T30" fmla="*/ 93 w 677"/>
                    <a:gd name="T31" fmla="*/ 441 h 608"/>
                    <a:gd name="T32" fmla="*/ 419 w 677"/>
                    <a:gd name="T33" fmla="*/ 404 h 608"/>
                    <a:gd name="T34" fmla="*/ 93 w 677"/>
                    <a:gd name="T35" fmla="*/ 493 h 608"/>
                    <a:gd name="T36" fmla="*/ 93 w 677"/>
                    <a:gd name="T37" fmla="*/ 482 h 608"/>
                    <a:gd name="T38" fmla="*/ 69 w 677"/>
                    <a:gd name="T39" fmla="*/ 552 h 608"/>
                    <a:gd name="T40" fmla="*/ 252 w 677"/>
                    <a:gd name="T41" fmla="*/ 548 h 608"/>
                    <a:gd name="T42" fmla="*/ 396 w 677"/>
                    <a:gd name="T43" fmla="*/ 551 h 608"/>
                    <a:gd name="T44" fmla="*/ 280 w 677"/>
                    <a:gd name="T45" fmla="*/ 525 h 608"/>
                    <a:gd name="T46" fmla="*/ 257 w 677"/>
                    <a:gd name="T47" fmla="*/ 497 h 608"/>
                    <a:gd name="T48" fmla="*/ 280 w 677"/>
                    <a:gd name="T49" fmla="*/ 525 h 608"/>
                    <a:gd name="T50" fmla="*/ 490 w 677"/>
                    <a:gd name="T51" fmla="*/ 521 h 608"/>
                    <a:gd name="T52" fmla="*/ 466 w 677"/>
                    <a:gd name="T53" fmla="*/ 460 h 608"/>
                    <a:gd name="T54" fmla="*/ 654 w 677"/>
                    <a:gd name="T55" fmla="*/ 488 h 608"/>
                    <a:gd name="T56" fmla="*/ 490 w 677"/>
                    <a:gd name="T57" fmla="*/ 437 h 608"/>
                    <a:gd name="T58" fmla="*/ 443 w 677"/>
                    <a:gd name="T59" fmla="*/ 405 h 608"/>
                    <a:gd name="T60" fmla="*/ 654 w 677"/>
                    <a:gd name="T61" fmla="*/ 347 h 608"/>
                    <a:gd name="T62" fmla="*/ 654 w 677"/>
                    <a:gd name="T63" fmla="*/ 318 h 608"/>
                    <a:gd name="T64" fmla="*/ 373 w 677"/>
                    <a:gd name="T65" fmla="*/ 291 h 608"/>
                    <a:gd name="T66" fmla="*/ 368 w 677"/>
                    <a:gd name="T67" fmla="*/ 274 h 608"/>
                    <a:gd name="T68" fmla="*/ 654 w 677"/>
                    <a:gd name="T69" fmla="*/ 318 h 608"/>
                    <a:gd name="T70" fmla="*/ 490 w 677"/>
                    <a:gd name="T71" fmla="*/ 262 h 608"/>
                    <a:gd name="T72" fmla="*/ 490 w 677"/>
                    <a:gd name="T73" fmla="*/ 199 h 608"/>
                    <a:gd name="T74" fmla="*/ 654 w 677"/>
                    <a:gd name="T75" fmla="*/ 143 h 608"/>
                    <a:gd name="T76" fmla="*/ 327 w 677"/>
                    <a:gd name="T77" fmla="*/ 143 h 608"/>
                    <a:gd name="T78" fmla="*/ 654 w 677"/>
                    <a:gd name="T79" fmla="*/ 84 h 608"/>
                    <a:gd name="T80" fmla="*/ 490 w 677"/>
                    <a:gd name="T81" fmla="*/ 23 h 608"/>
                    <a:gd name="T82" fmla="*/ 327 w 677"/>
                    <a:gd name="T83" fmla="*/ 55 h 608"/>
                    <a:gd name="T84" fmla="*/ 186 w 677"/>
                    <a:gd name="T85" fmla="*/ 257 h 608"/>
                    <a:gd name="T86" fmla="*/ 23 w 677"/>
                    <a:gd name="T87" fmla="*/ 289 h 6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77" h="608">
                      <a:moveTo>
                        <a:pt x="69" y="391"/>
                      </a:moveTo>
                      <a:lnTo>
                        <a:pt x="69" y="391"/>
                      </a:lnTo>
                      <a:cubicBezTo>
                        <a:pt x="69" y="441"/>
                        <a:pt x="69" y="441"/>
                        <a:pt x="69" y="441"/>
                      </a:cubicBezTo>
                      <a:cubicBezTo>
                        <a:pt x="69" y="449"/>
                        <a:pt x="74" y="455"/>
                        <a:pt x="80" y="461"/>
                      </a:cubicBezTo>
                      <a:cubicBezTo>
                        <a:pt x="77" y="462"/>
                        <a:pt x="73" y="463"/>
                        <a:pt x="69" y="464"/>
                      </a:cubicBezTo>
                      <a:cubicBezTo>
                        <a:pt x="57" y="471"/>
                        <a:pt x="47" y="479"/>
                        <a:pt x="47" y="493"/>
                      </a:cubicBezTo>
                      <a:cubicBezTo>
                        <a:pt x="47" y="552"/>
                        <a:pt x="47" y="552"/>
                        <a:pt x="47" y="552"/>
                      </a:cubicBezTo>
                      <a:cubicBezTo>
                        <a:pt x="47" y="595"/>
                        <a:pt x="164" y="607"/>
                        <a:pt x="233" y="607"/>
                      </a:cubicBezTo>
                      <a:cubicBezTo>
                        <a:pt x="297" y="607"/>
                        <a:pt x="419" y="595"/>
                        <a:pt x="419" y="551"/>
                      </a:cubicBezTo>
                      <a:cubicBezTo>
                        <a:pt x="419" y="540"/>
                        <a:pt x="419" y="540"/>
                        <a:pt x="419" y="540"/>
                      </a:cubicBezTo>
                      <a:cubicBezTo>
                        <a:pt x="442" y="542"/>
                        <a:pt x="465" y="544"/>
                        <a:pt x="490" y="544"/>
                      </a:cubicBezTo>
                      <a:cubicBezTo>
                        <a:pt x="559" y="544"/>
                        <a:pt x="676" y="532"/>
                        <a:pt x="676" y="488"/>
                      </a:cubicBezTo>
                      <a:cubicBezTo>
                        <a:pt x="676" y="58"/>
                        <a:pt x="676" y="58"/>
                        <a:pt x="676" y="58"/>
                      </a:cubicBezTo>
                      <a:cubicBezTo>
                        <a:pt x="676" y="57"/>
                        <a:pt x="676" y="57"/>
                        <a:pt x="676" y="57"/>
                      </a:cubicBezTo>
                      <a:cubicBezTo>
                        <a:pt x="676" y="56"/>
                        <a:pt x="676" y="56"/>
                        <a:pt x="676" y="55"/>
                      </a:cubicBezTo>
                      <a:cubicBezTo>
                        <a:pt x="676" y="11"/>
                        <a:pt x="559" y="0"/>
                        <a:pt x="490" y="0"/>
                      </a:cubicBezTo>
                      <a:cubicBezTo>
                        <a:pt x="420" y="0"/>
                        <a:pt x="303" y="11"/>
                        <a:pt x="303" y="55"/>
                      </a:cubicBezTo>
                      <a:cubicBezTo>
                        <a:pt x="303" y="56"/>
                        <a:pt x="304" y="57"/>
                        <a:pt x="304" y="58"/>
                      </a:cubicBezTo>
                      <a:cubicBezTo>
                        <a:pt x="303" y="58"/>
                        <a:pt x="303" y="58"/>
                        <a:pt x="303" y="58"/>
                      </a:cubicBezTo>
                      <a:cubicBezTo>
                        <a:pt x="303" y="245"/>
                        <a:pt x="303" y="245"/>
                        <a:pt x="303" y="245"/>
                      </a:cubicBezTo>
                      <a:cubicBezTo>
                        <a:pt x="264" y="236"/>
                        <a:pt x="218" y="233"/>
                        <a:pt x="186" y="233"/>
                      </a:cubicBezTo>
                      <a:cubicBezTo>
                        <a:pt x="122" y="233"/>
                        <a:pt x="0" y="245"/>
                        <a:pt x="0" y="288"/>
                      </a:cubicBezTo>
                      <a:cubicBezTo>
                        <a:pt x="0" y="289"/>
                        <a:pt x="0" y="290"/>
                        <a:pt x="0" y="291"/>
                      </a:cubicBezTo>
                      <a:lnTo>
                        <a:pt x="0" y="291"/>
                      </a:lnTo>
                      <a:cubicBezTo>
                        <a:pt x="0" y="348"/>
                        <a:pt x="0" y="348"/>
                        <a:pt x="0" y="348"/>
                      </a:cubicBezTo>
                      <a:cubicBezTo>
                        <a:pt x="0" y="370"/>
                        <a:pt x="30" y="383"/>
                        <a:pt x="69" y="391"/>
                      </a:cubicBezTo>
                      <a:close/>
                      <a:moveTo>
                        <a:pt x="23" y="348"/>
                      </a:moveTo>
                      <a:lnTo>
                        <a:pt x="23" y="348"/>
                      </a:lnTo>
                      <a:cubicBezTo>
                        <a:pt x="23" y="318"/>
                        <a:pt x="23" y="318"/>
                        <a:pt x="23" y="318"/>
                      </a:cubicBezTo>
                      <a:cubicBezTo>
                        <a:pt x="61" y="338"/>
                        <a:pt x="136" y="345"/>
                        <a:pt x="186" y="345"/>
                      </a:cubicBezTo>
                      <a:cubicBezTo>
                        <a:pt x="237" y="345"/>
                        <a:pt x="312" y="338"/>
                        <a:pt x="350" y="318"/>
                      </a:cubicBezTo>
                      <a:cubicBezTo>
                        <a:pt x="350" y="347"/>
                        <a:pt x="350" y="347"/>
                        <a:pt x="350" y="347"/>
                      </a:cubicBezTo>
                      <a:cubicBezTo>
                        <a:pt x="349" y="356"/>
                        <a:pt x="295" y="379"/>
                        <a:pt x="186" y="379"/>
                      </a:cubicBezTo>
                      <a:cubicBezTo>
                        <a:pt x="85" y="379"/>
                        <a:pt x="25" y="358"/>
                        <a:pt x="23" y="348"/>
                      </a:cubicBezTo>
                      <a:close/>
                      <a:moveTo>
                        <a:pt x="253" y="408"/>
                      </a:moveTo>
                      <a:lnTo>
                        <a:pt x="253" y="408"/>
                      </a:lnTo>
                      <a:cubicBezTo>
                        <a:pt x="218" y="408"/>
                        <a:pt x="188" y="406"/>
                        <a:pt x="164" y="402"/>
                      </a:cubicBezTo>
                      <a:cubicBezTo>
                        <a:pt x="171" y="402"/>
                        <a:pt x="180" y="403"/>
                        <a:pt x="186" y="403"/>
                      </a:cubicBezTo>
                      <a:cubicBezTo>
                        <a:pt x="241" y="403"/>
                        <a:pt x="339" y="393"/>
                        <a:pt x="366" y="363"/>
                      </a:cubicBezTo>
                      <a:cubicBezTo>
                        <a:pt x="367" y="364"/>
                        <a:pt x="367" y="365"/>
                        <a:pt x="368" y="365"/>
                      </a:cubicBezTo>
                      <a:cubicBezTo>
                        <a:pt x="379" y="366"/>
                        <a:pt x="392" y="369"/>
                        <a:pt x="409" y="370"/>
                      </a:cubicBezTo>
                      <a:cubicBezTo>
                        <a:pt x="414" y="373"/>
                        <a:pt x="416" y="376"/>
                        <a:pt x="416" y="376"/>
                      </a:cubicBezTo>
                      <a:cubicBezTo>
                        <a:pt x="414" y="387"/>
                        <a:pt x="355" y="408"/>
                        <a:pt x="253" y="408"/>
                      </a:cubicBezTo>
                      <a:close/>
                      <a:moveTo>
                        <a:pt x="419" y="404"/>
                      </a:moveTo>
                      <a:lnTo>
                        <a:pt x="419" y="404"/>
                      </a:lnTo>
                      <a:cubicBezTo>
                        <a:pt x="419" y="440"/>
                        <a:pt x="419" y="440"/>
                        <a:pt x="419" y="440"/>
                      </a:cubicBezTo>
                      <a:cubicBezTo>
                        <a:pt x="417" y="452"/>
                        <a:pt x="358" y="473"/>
                        <a:pt x="257" y="473"/>
                      </a:cubicBezTo>
                      <a:cubicBezTo>
                        <a:pt x="155" y="473"/>
                        <a:pt x="96" y="452"/>
                        <a:pt x="93" y="441"/>
                      </a:cubicBezTo>
                      <a:cubicBezTo>
                        <a:pt x="93" y="407"/>
                        <a:pt x="93" y="407"/>
                        <a:pt x="93" y="407"/>
                      </a:cubicBezTo>
                      <a:cubicBezTo>
                        <a:pt x="132" y="426"/>
                        <a:pt x="204" y="432"/>
                        <a:pt x="253" y="432"/>
                      </a:cubicBezTo>
                      <a:cubicBezTo>
                        <a:pt x="305" y="432"/>
                        <a:pt x="383" y="425"/>
                        <a:pt x="419" y="404"/>
                      </a:cubicBezTo>
                      <a:close/>
                      <a:moveTo>
                        <a:pt x="93" y="482"/>
                      </a:moveTo>
                      <a:lnTo>
                        <a:pt x="93" y="482"/>
                      </a:lnTo>
                      <a:cubicBezTo>
                        <a:pt x="93" y="493"/>
                        <a:pt x="93" y="493"/>
                        <a:pt x="93" y="493"/>
                      </a:cubicBezTo>
                      <a:cubicBezTo>
                        <a:pt x="93" y="498"/>
                        <a:pt x="94" y="502"/>
                        <a:pt x="98" y="506"/>
                      </a:cubicBezTo>
                      <a:cubicBezTo>
                        <a:pt x="81" y="502"/>
                        <a:pt x="72" y="497"/>
                        <a:pt x="69" y="493"/>
                      </a:cubicBezTo>
                      <a:cubicBezTo>
                        <a:pt x="69" y="491"/>
                        <a:pt x="75" y="486"/>
                        <a:pt x="93" y="482"/>
                      </a:cubicBezTo>
                      <a:close/>
                      <a:moveTo>
                        <a:pt x="233" y="583"/>
                      </a:moveTo>
                      <a:lnTo>
                        <a:pt x="233" y="583"/>
                      </a:lnTo>
                      <a:cubicBezTo>
                        <a:pt x="132" y="583"/>
                        <a:pt x="72" y="562"/>
                        <a:pt x="69" y="552"/>
                      </a:cubicBezTo>
                      <a:cubicBezTo>
                        <a:pt x="69" y="521"/>
                        <a:pt x="69" y="521"/>
                        <a:pt x="69" y="521"/>
                      </a:cubicBezTo>
                      <a:cubicBezTo>
                        <a:pt x="106" y="538"/>
                        <a:pt x="182" y="548"/>
                        <a:pt x="249" y="548"/>
                      </a:cubicBezTo>
                      <a:cubicBezTo>
                        <a:pt x="250" y="548"/>
                        <a:pt x="251" y="548"/>
                        <a:pt x="252" y="548"/>
                      </a:cubicBezTo>
                      <a:cubicBezTo>
                        <a:pt x="262" y="549"/>
                        <a:pt x="271" y="549"/>
                        <a:pt x="280" y="549"/>
                      </a:cubicBezTo>
                      <a:cubicBezTo>
                        <a:pt x="312" y="549"/>
                        <a:pt x="358" y="546"/>
                        <a:pt x="396" y="537"/>
                      </a:cubicBezTo>
                      <a:cubicBezTo>
                        <a:pt x="396" y="551"/>
                        <a:pt x="396" y="551"/>
                        <a:pt x="396" y="551"/>
                      </a:cubicBezTo>
                      <a:cubicBezTo>
                        <a:pt x="394" y="560"/>
                        <a:pt x="342" y="583"/>
                        <a:pt x="233" y="583"/>
                      </a:cubicBezTo>
                      <a:close/>
                      <a:moveTo>
                        <a:pt x="280" y="525"/>
                      </a:moveTo>
                      <a:lnTo>
                        <a:pt x="280" y="525"/>
                      </a:lnTo>
                      <a:cubicBezTo>
                        <a:pt x="178" y="525"/>
                        <a:pt x="118" y="504"/>
                        <a:pt x="116" y="493"/>
                      </a:cubicBezTo>
                      <a:cubicBezTo>
                        <a:pt x="116" y="480"/>
                        <a:pt x="116" y="480"/>
                        <a:pt x="116" y="480"/>
                      </a:cubicBezTo>
                      <a:cubicBezTo>
                        <a:pt x="157" y="492"/>
                        <a:pt x="215" y="497"/>
                        <a:pt x="257" y="497"/>
                      </a:cubicBezTo>
                      <a:cubicBezTo>
                        <a:pt x="320" y="497"/>
                        <a:pt x="443" y="485"/>
                        <a:pt x="443" y="441"/>
                      </a:cubicBezTo>
                      <a:cubicBezTo>
                        <a:pt x="443" y="492"/>
                        <a:pt x="443" y="492"/>
                        <a:pt x="443" y="492"/>
                      </a:cubicBezTo>
                      <a:cubicBezTo>
                        <a:pt x="441" y="504"/>
                        <a:pt x="382" y="525"/>
                        <a:pt x="280" y="525"/>
                      </a:cubicBezTo>
                      <a:close/>
                      <a:moveTo>
                        <a:pt x="654" y="488"/>
                      </a:moveTo>
                      <a:lnTo>
                        <a:pt x="654" y="488"/>
                      </a:lnTo>
                      <a:cubicBezTo>
                        <a:pt x="651" y="500"/>
                        <a:pt x="591" y="521"/>
                        <a:pt x="490" y="521"/>
                      </a:cubicBezTo>
                      <a:cubicBezTo>
                        <a:pt x="476" y="521"/>
                        <a:pt x="461" y="521"/>
                        <a:pt x="447" y="519"/>
                      </a:cubicBezTo>
                      <a:cubicBezTo>
                        <a:pt x="459" y="512"/>
                        <a:pt x="466" y="504"/>
                        <a:pt x="466" y="492"/>
                      </a:cubicBezTo>
                      <a:cubicBezTo>
                        <a:pt x="466" y="460"/>
                        <a:pt x="466" y="460"/>
                        <a:pt x="466" y="460"/>
                      </a:cubicBezTo>
                      <a:cubicBezTo>
                        <a:pt x="474" y="461"/>
                        <a:pt x="482" y="461"/>
                        <a:pt x="490" y="461"/>
                      </a:cubicBezTo>
                      <a:cubicBezTo>
                        <a:pt x="540" y="461"/>
                        <a:pt x="615" y="455"/>
                        <a:pt x="654" y="435"/>
                      </a:cubicBezTo>
                      <a:lnTo>
                        <a:pt x="654" y="488"/>
                      </a:lnTo>
                      <a:close/>
                      <a:moveTo>
                        <a:pt x="654" y="405"/>
                      </a:moveTo>
                      <a:lnTo>
                        <a:pt x="654" y="405"/>
                      </a:lnTo>
                      <a:cubicBezTo>
                        <a:pt x="651" y="416"/>
                        <a:pt x="591" y="437"/>
                        <a:pt x="490" y="437"/>
                      </a:cubicBezTo>
                      <a:cubicBezTo>
                        <a:pt x="482" y="437"/>
                        <a:pt x="474" y="437"/>
                        <a:pt x="466" y="437"/>
                      </a:cubicBezTo>
                      <a:cubicBezTo>
                        <a:pt x="466" y="435"/>
                        <a:pt x="466" y="435"/>
                        <a:pt x="466" y="435"/>
                      </a:cubicBezTo>
                      <a:cubicBezTo>
                        <a:pt x="466" y="427"/>
                        <a:pt x="462" y="414"/>
                        <a:pt x="443" y="405"/>
                      </a:cubicBezTo>
                      <a:cubicBezTo>
                        <a:pt x="443" y="372"/>
                        <a:pt x="443" y="372"/>
                        <a:pt x="443" y="372"/>
                      </a:cubicBezTo>
                      <a:cubicBezTo>
                        <a:pt x="461" y="373"/>
                        <a:pt x="478" y="374"/>
                        <a:pt x="490" y="374"/>
                      </a:cubicBezTo>
                      <a:cubicBezTo>
                        <a:pt x="540" y="374"/>
                        <a:pt x="615" y="367"/>
                        <a:pt x="654" y="347"/>
                      </a:cubicBezTo>
                      <a:lnTo>
                        <a:pt x="654" y="405"/>
                      </a:lnTo>
                      <a:close/>
                      <a:moveTo>
                        <a:pt x="654" y="318"/>
                      </a:moveTo>
                      <a:lnTo>
                        <a:pt x="654" y="318"/>
                      </a:lnTo>
                      <a:cubicBezTo>
                        <a:pt x="650" y="329"/>
                        <a:pt x="591" y="350"/>
                        <a:pt x="490" y="350"/>
                      </a:cubicBezTo>
                      <a:cubicBezTo>
                        <a:pt x="460" y="350"/>
                        <a:pt x="400" y="347"/>
                        <a:pt x="373" y="342"/>
                      </a:cubicBezTo>
                      <a:cubicBezTo>
                        <a:pt x="373" y="291"/>
                        <a:pt x="373" y="291"/>
                        <a:pt x="373" y="291"/>
                      </a:cubicBezTo>
                      <a:cubicBezTo>
                        <a:pt x="372" y="291"/>
                        <a:pt x="372" y="291"/>
                        <a:pt x="372" y="291"/>
                      </a:cubicBezTo>
                      <a:cubicBezTo>
                        <a:pt x="372" y="290"/>
                        <a:pt x="373" y="289"/>
                        <a:pt x="373" y="288"/>
                      </a:cubicBezTo>
                      <a:cubicBezTo>
                        <a:pt x="373" y="283"/>
                        <a:pt x="371" y="278"/>
                        <a:pt x="368" y="274"/>
                      </a:cubicBezTo>
                      <a:cubicBezTo>
                        <a:pt x="406" y="283"/>
                        <a:pt x="455" y="286"/>
                        <a:pt x="490" y="286"/>
                      </a:cubicBezTo>
                      <a:cubicBezTo>
                        <a:pt x="540" y="286"/>
                        <a:pt x="615" y="280"/>
                        <a:pt x="654" y="259"/>
                      </a:cubicBezTo>
                      <a:lnTo>
                        <a:pt x="654" y="318"/>
                      </a:lnTo>
                      <a:close/>
                      <a:moveTo>
                        <a:pt x="654" y="230"/>
                      </a:moveTo>
                      <a:lnTo>
                        <a:pt x="654" y="230"/>
                      </a:lnTo>
                      <a:cubicBezTo>
                        <a:pt x="650" y="242"/>
                        <a:pt x="591" y="262"/>
                        <a:pt x="490" y="262"/>
                      </a:cubicBezTo>
                      <a:cubicBezTo>
                        <a:pt x="388" y="262"/>
                        <a:pt x="329" y="242"/>
                        <a:pt x="327" y="230"/>
                      </a:cubicBezTo>
                      <a:cubicBezTo>
                        <a:pt x="327" y="172"/>
                        <a:pt x="327" y="172"/>
                        <a:pt x="327" y="172"/>
                      </a:cubicBezTo>
                      <a:cubicBezTo>
                        <a:pt x="364" y="193"/>
                        <a:pt x="439" y="199"/>
                        <a:pt x="490" y="199"/>
                      </a:cubicBezTo>
                      <a:cubicBezTo>
                        <a:pt x="540" y="199"/>
                        <a:pt x="615" y="193"/>
                        <a:pt x="654" y="172"/>
                      </a:cubicBezTo>
                      <a:lnTo>
                        <a:pt x="654" y="230"/>
                      </a:lnTo>
                      <a:close/>
                      <a:moveTo>
                        <a:pt x="654" y="143"/>
                      </a:moveTo>
                      <a:lnTo>
                        <a:pt x="654" y="143"/>
                      </a:lnTo>
                      <a:cubicBezTo>
                        <a:pt x="650" y="154"/>
                        <a:pt x="591" y="175"/>
                        <a:pt x="490" y="175"/>
                      </a:cubicBezTo>
                      <a:cubicBezTo>
                        <a:pt x="388" y="175"/>
                        <a:pt x="329" y="154"/>
                        <a:pt x="327" y="143"/>
                      </a:cubicBezTo>
                      <a:cubicBezTo>
                        <a:pt x="327" y="84"/>
                        <a:pt x="327" y="84"/>
                        <a:pt x="327" y="84"/>
                      </a:cubicBezTo>
                      <a:cubicBezTo>
                        <a:pt x="364" y="105"/>
                        <a:pt x="439" y="111"/>
                        <a:pt x="490" y="111"/>
                      </a:cubicBezTo>
                      <a:cubicBezTo>
                        <a:pt x="540" y="111"/>
                        <a:pt x="615" y="105"/>
                        <a:pt x="654" y="84"/>
                      </a:cubicBezTo>
                      <a:lnTo>
                        <a:pt x="654" y="143"/>
                      </a:lnTo>
                      <a:close/>
                      <a:moveTo>
                        <a:pt x="490" y="23"/>
                      </a:moveTo>
                      <a:lnTo>
                        <a:pt x="490" y="23"/>
                      </a:lnTo>
                      <a:cubicBezTo>
                        <a:pt x="591" y="23"/>
                        <a:pt x="650" y="45"/>
                        <a:pt x="654" y="55"/>
                      </a:cubicBezTo>
                      <a:cubicBezTo>
                        <a:pt x="650" y="67"/>
                        <a:pt x="591" y="87"/>
                        <a:pt x="490" y="87"/>
                      </a:cubicBezTo>
                      <a:cubicBezTo>
                        <a:pt x="388" y="87"/>
                        <a:pt x="329" y="67"/>
                        <a:pt x="327" y="55"/>
                      </a:cubicBezTo>
                      <a:cubicBezTo>
                        <a:pt x="329" y="45"/>
                        <a:pt x="388" y="23"/>
                        <a:pt x="490" y="23"/>
                      </a:cubicBezTo>
                      <a:close/>
                      <a:moveTo>
                        <a:pt x="186" y="257"/>
                      </a:moveTo>
                      <a:lnTo>
                        <a:pt x="186" y="257"/>
                      </a:lnTo>
                      <a:cubicBezTo>
                        <a:pt x="288" y="257"/>
                        <a:pt x="347" y="278"/>
                        <a:pt x="350" y="288"/>
                      </a:cubicBezTo>
                      <a:cubicBezTo>
                        <a:pt x="347" y="300"/>
                        <a:pt x="288" y="321"/>
                        <a:pt x="186" y="321"/>
                      </a:cubicBezTo>
                      <a:cubicBezTo>
                        <a:pt x="85" y="321"/>
                        <a:pt x="25" y="300"/>
                        <a:pt x="23" y="289"/>
                      </a:cubicBezTo>
                      <a:cubicBezTo>
                        <a:pt x="25" y="278"/>
                        <a:pt x="85" y="257"/>
                        <a:pt x="186" y="257"/>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nvGrpSpPr>
          <p:cNvPr id="40" name="Group 39"/>
          <p:cNvGrpSpPr/>
          <p:nvPr/>
        </p:nvGrpSpPr>
        <p:grpSpPr>
          <a:xfrm>
            <a:off x="4066555" y="5127703"/>
            <a:ext cx="4581723" cy="923330"/>
            <a:chOff x="2541965" y="5063027"/>
            <a:chExt cx="4581723" cy="923330"/>
          </a:xfrm>
        </p:grpSpPr>
        <p:sp>
          <p:nvSpPr>
            <p:cNvPr id="120" name="Rectangle 119"/>
            <p:cNvSpPr/>
            <p:nvPr/>
          </p:nvSpPr>
          <p:spPr>
            <a:xfrm>
              <a:off x="3581812" y="5063027"/>
              <a:ext cx="3541876" cy="923330"/>
            </a:xfrm>
            <a:prstGeom prst="rect">
              <a:avLst/>
            </a:prstGeom>
            <a:ln w="19050">
              <a:solidFill>
                <a:srgbClr val="3896F3"/>
              </a:solidFill>
            </a:ln>
          </p:spPr>
          <p:txBody>
            <a:bodyPr wrap="square">
              <a:spAutoFit/>
            </a:bodyPr>
            <a:lstStyle/>
            <a:p>
              <a:pPr lvl="0"/>
              <a:r>
                <a:rPr lang="en-US" dirty="0"/>
                <a:t>Global regulation driving lengthy and complex retention requirements and audit </a:t>
              </a:r>
            </a:p>
          </p:txBody>
        </p:sp>
        <p:grpSp>
          <p:nvGrpSpPr>
            <p:cNvPr id="39" name="Group 38"/>
            <p:cNvGrpSpPr/>
            <p:nvPr/>
          </p:nvGrpSpPr>
          <p:grpSpPr>
            <a:xfrm>
              <a:off x="2541965" y="5089659"/>
              <a:ext cx="927468" cy="870067"/>
              <a:chOff x="2577134" y="5253201"/>
              <a:chExt cx="927468" cy="870067"/>
            </a:xfrm>
          </p:grpSpPr>
          <p:sp>
            <p:nvSpPr>
              <p:cNvPr id="122" name="Rectangle 121"/>
              <p:cNvSpPr/>
              <p:nvPr/>
            </p:nvSpPr>
            <p:spPr>
              <a:xfrm>
                <a:off x="2595939" y="5753936"/>
                <a:ext cx="889859" cy="369332"/>
              </a:xfrm>
              <a:prstGeom prst="rect">
                <a:avLst/>
              </a:prstGeom>
            </p:spPr>
            <p:txBody>
              <a:bodyPr wrap="none">
                <a:spAutoFit/>
              </a:bodyPr>
              <a:lstStyle/>
              <a:p>
                <a:r>
                  <a:rPr lang="en-US" b="1" dirty="0"/>
                  <a:t>Control</a:t>
                </a:r>
                <a:endParaRPr lang="en-GB" sz="3600" b="1" dirty="0"/>
              </a:p>
            </p:txBody>
          </p:sp>
          <p:grpSp>
            <p:nvGrpSpPr>
              <p:cNvPr id="38" name="Group 37"/>
              <p:cNvGrpSpPr/>
              <p:nvPr/>
            </p:nvGrpSpPr>
            <p:grpSpPr>
              <a:xfrm>
                <a:off x="2577134" y="5253201"/>
                <a:ext cx="927468" cy="470127"/>
                <a:chOff x="4295163" y="6182655"/>
                <a:chExt cx="927468" cy="470127"/>
              </a:xfrm>
            </p:grpSpPr>
            <p:sp>
              <p:nvSpPr>
                <p:cNvPr id="131" name="Freeform 40"/>
                <p:cNvSpPr>
                  <a:spLocks noChangeAspect="1" noChangeArrowheads="1"/>
                </p:cNvSpPr>
                <p:nvPr/>
              </p:nvSpPr>
              <p:spPr bwMode="auto">
                <a:xfrm>
                  <a:off x="4295163" y="6182655"/>
                  <a:ext cx="493799" cy="470127"/>
                </a:xfrm>
                <a:custGeom>
                  <a:avLst/>
                  <a:gdLst>
                    <a:gd name="T0" fmla="*/ 628 w 642"/>
                    <a:gd name="T1" fmla="*/ 554 h 614"/>
                    <a:gd name="T2" fmla="*/ 611 w 642"/>
                    <a:gd name="T3" fmla="*/ 530 h 614"/>
                    <a:gd name="T4" fmla="*/ 575 w 642"/>
                    <a:gd name="T5" fmla="*/ 517 h 614"/>
                    <a:gd name="T6" fmla="*/ 583 w 642"/>
                    <a:gd name="T7" fmla="*/ 259 h 614"/>
                    <a:gd name="T8" fmla="*/ 595 w 642"/>
                    <a:gd name="T9" fmla="*/ 200 h 614"/>
                    <a:gd name="T10" fmla="*/ 640 w 642"/>
                    <a:gd name="T11" fmla="*/ 188 h 614"/>
                    <a:gd name="T12" fmla="*/ 631 w 642"/>
                    <a:gd name="T13" fmla="*/ 120 h 614"/>
                    <a:gd name="T14" fmla="*/ 326 w 642"/>
                    <a:gd name="T15" fmla="*/ 1 h 614"/>
                    <a:gd name="T16" fmla="*/ 4 w 642"/>
                    <a:gd name="T17" fmla="*/ 131 h 614"/>
                    <a:gd name="T18" fmla="*/ 15 w 642"/>
                    <a:gd name="T19" fmla="*/ 200 h 614"/>
                    <a:gd name="T20" fmla="*/ 47 w 642"/>
                    <a:gd name="T21" fmla="*/ 247 h 614"/>
                    <a:gd name="T22" fmla="*/ 68 w 642"/>
                    <a:gd name="T23" fmla="*/ 259 h 614"/>
                    <a:gd name="T24" fmla="*/ 42 w 642"/>
                    <a:gd name="T25" fmla="*/ 517 h 614"/>
                    <a:gd name="T26" fmla="*/ 31 w 642"/>
                    <a:gd name="T27" fmla="*/ 554 h 614"/>
                    <a:gd name="T28" fmla="*/ 0 w 642"/>
                    <a:gd name="T29" fmla="*/ 565 h 614"/>
                    <a:gd name="T30" fmla="*/ 12 w 642"/>
                    <a:gd name="T31" fmla="*/ 613 h 614"/>
                    <a:gd name="T32" fmla="*/ 641 w 642"/>
                    <a:gd name="T33" fmla="*/ 602 h 614"/>
                    <a:gd name="T34" fmla="*/ 628 w 642"/>
                    <a:gd name="T35" fmla="*/ 554 h 614"/>
                    <a:gd name="T36" fmla="*/ 26 w 642"/>
                    <a:gd name="T37" fmla="*/ 177 h 614"/>
                    <a:gd name="T38" fmla="*/ 330 w 642"/>
                    <a:gd name="T39" fmla="*/ 25 h 614"/>
                    <a:gd name="T40" fmla="*/ 616 w 642"/>
                    <a:gd name="T41" fmla="*/ 177 h 614"/>
                    <a:gd name="T42" fmla="*/ 485 w 642"/>
                    <a:gd name="T43" fmla="*/ 235 h 614"/>
                    <a:gd name="T44" fmla="*/ 475 w 642"/>
                    <a:gd name="T45" fmla="*/ 235 h 614"/>
                    <a:gd name="T46" fmla="*/ 572 w 642"/>
                    <a:gd name="T47" fmla="*/ 201 h 614"/>
                    <a:gd name="T48" fmla="*/ 563 w 642"/>
                    <a:gd name="T49" fmla="*/ 235 h 614"/>
                    <a:gd name="T50" fmla="*/ 551 w 642"/>
                    <a:gd name="T51" fmla="*/ 517 h 614"/>
                    <a:gd name="T52" fmla="*/ 496 w 642"/>
                    <a:gd name="T53" fmla="*/ 247 h 614"/>
                    <a:gd name="T54" fmla="*/ 464 w 642"/>
                    <a:gd name="T55" fmla="*/ 259 h 614"/>
                    <a:gd name="T56" fmla="*/ 472 w 642"/>
                    <a:gd name="T57" fmla="*/ 259 h 614"/>
                    <a:gd name="T58" fmla="*/ 372 w 642"/>
                    <a:gd name="T59" fmla="*/ 517 h 614"/>
                    <a:gd name="T60" fmla="*/ 382 w 642"/>
                    <a:gd name="T61" fmla="*/ 259 h 614"/>
                    <a:gd name="T62" fmla="*/ 393 w 642"/>
                    <a:gd name="T63" fmla="*/ 200 h 614"/>
                    <a:gd name="T64" fmla="*/ 452 w 642"/>
                    <a:gd name="T65" fmla="*/ 247 h 614"/>
                    <a:gd name="T66" fmla="*/ 282 w 642"/>
                    <a:gd name="T67" fmla="*/ 235 h 614"/>
                    <a:gd name="T68" fmla="*/ 273 w 642"/>
                    <a:gd name="T69" fmla="*/ 235 h 614"/>
                    <a:gd name="T70" fmla="*/ 369 w 642"/>
                    <a:gd name="T71" fmla="*/ 201 h 614"/>
                    <a:gd name="T72" fmla="*/ 361 w 642"/>
                    <a:gd name="T73" fmla="*/ 235 h 614"/>
                    <a:gd name="T74" fmla="*/ 349 w 642"/>
                    <a:gd name="T75" fmla="*/ 517 h 614"/>
                    <a:gd name="T76" fmla="*/ 293 w 642"/>
                    <a:gd name="T77" fmla="*/ 247 h 614"/>
                    <a:gd name="T78" fmla="*/ 262 w 642"/>
                    <a:gd name="T79" fmla="*/ 259 h 614"/>
                    <a:gd name="T80" fmla="*/ 270 w 642"/>
                    <a:gd name="T81" fmla="*/ 259 h 614"/>
                    <a:gd name="T82" fmla="*/ 170 w 642"/>
                    <a:gd name="T83" fmla="*/ 517 h 614"/>
                    <a:gd name="T84" fmla="*/ 179 w 642"/>
                    <a:gd name="T85" fmla="*/ 259 h 614"/>
                    <a:gd name="T86" fmla="*/ 190 w 642"/>
                    <a:gd name="T87" fmla="*/ 200 h 614"/>
                    <a:gd name="T88" fmla="*/ 249 w 642"/>
                    <a:gd name="T89" fmla="*/ 247 h 614"/>
                    <a:gd name="T90" fmla="*/ 80 w 642"/>
                    <a:gd name="T91" fmla="*/ 235 h 614"/>
                    <a:gd name="T92" fmla="*/ 70 w 642"/>
                    <a:gd name="T93" fmla="*/ 235 h 614"/>
                    <a:gd name="T94" fmla="*/ 167 w 642"/>
                    <a:gd name="T95" fmla="*/ 201 h 614"/>
                    <a:gd name="T96" fmla="*/ 159 w 642"/>
                    <a:gd name="T97" fmla="*/ 235 h 614"/>
                    <a:gd name="T98" fmla="*/ 146 w 642"/>
                    <a:gd name="T99" fmla="*/ 517 h 614"/>
                    <a:gd name="T100" fmla="*/ 91 w 642"/>
                    <a:gd name="T101" fmla="*/ 247 h 614"/>
                    <a:gd name="T102" fmla="*/ 617 w 642"/>
                    <a:gd name="T103" fmla="*/ 590 h 614"/>
                    <a:gd name="T104" fmla="*/ 24 w 642"/>
                    <a:gd name="T105" fmla="*/ 590 h 614"/>
                    <a:gd name="T106" fmla="*/ 42 w 642"/>
                    <a:gd name="T107" fmla="*/ 577 h 614"/>
                    <a:gd name="T108" fmla="*/ 54 w 642"/>
                    <a:gd name="T109" fmla="*/ 541 h 614"/>
                    <a:gd name="T110" fmla="*/ 80 w 642"/>
                    <a:gd name="T111" fmla="*/ 541 h 614"/>
                    <a:gd name="T112" fmla="*/ 159 w 642"/>
                    <a:gd name="T113" fmla="*/ 541 h 614"/>
                    <a:gd name="T114" fmla="*/ 282 w 642"/>
                    <a:gd name="T115" fmla="*/ 541 h 614"/>
                    <a:gd name="T116" fmla="*/ 361 w 642"/>
                    <a:gd name="T117" fmla="*/ 541 h 614"/>
                    <a:gd name="T118" fmla="*/ 485 w 642"/>
                    <a:gd name="T119" fmla="*/ 541 h 614"/>
                    <a:gd name="T120" fmla="*/ 564 w 642"/>
                    <a:gd name="T121" fmla="*/ 541 h 614"/>
                    <a:gd name="T122" fmla="*/ 587 w 642"/>
                    <a:gd name="T123" fmla="*/ 565 h 614"/>
                    <a:gd name="T124" fmla="*/ 617 w 642"/>
                    <a:gd name="T125" fmla="*/ 577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42" h="614">
                      <a:moveTo>
                        <a:pt x="628" y="554"/>
                      </a:moveTo>
                      <a:lnTo>
                        <a:pt x="628" y="554"/>
                      </a:lnTo>
                      <a:cubicBezTo>
                        <a:pt x="611" y="554"/>
                        <a:pt x="611" y="554"/>
                        <a:pt x="611" y="554"/>
                      </a:cubicBezTo>
                      <a:cubicBezTo>
                        <a:pt x="611" y="530"/>
                        <a:pt x="611" y="530"/>
                        <a:pt x="611" y="530"/>
                      </a:cubicBezTo>
                      <a:cubicBezTo>
                        <a:pt x="611" y="523"/>
                        <a:pt x="605" y="517"/>
                        <a:pt x="599" y="517"/>
                      </a:cubicBezTo>
                      <a:cubicBezTo>
                        <a:pt x="575" y="517"/>
                        <a:pt x="575" y="517"/>
                        <a:pt x="575" y="517"/>
                      </a:cubicBezTo>
                      <a:cubicBezTo>
                        <a:pt x="575" y="259"/>
                        <a:pt x="575" y="259"/>
                        <a:pt x="575" y="259"/>
                      </a:cubicBezTo>
                      <a:cubicBezTo>
                        <a:pt x="583" y="259"/>
                        <a:pt x="583" y="259"/>
                        <a:pt x="583" y="259"/>
                      </a:cubicBezTo>
                      <a:cubicBezTo>
                        <a:pt x="590" y="259"/>
                        <a:pt x="595" y="254"/>
                        <a:pt x="595" y="247"/>
                      </a:cubicBezTo>
                      <a:cubicBezTo>
                        <a:pt x="595" y="200"/>
                        <a:pt x="595" y="200"/>
                        <a:pt x="595" y="200"/>
                      </a:cubicBezTo>
                      <a:cubicBezTo>
                        <a:pt x="627" y="200"/>
                        <a:pt x="627" y="200"/>
                        <a:pt x="627" y="200"/>
                      </a:cubicBezTo>
                      <a:cubicBezTo>
                        <a:pt x="633" y="200"/>
                        <a:pt x="640" y="195"/>
                        <a:pt x="640" y="188"/>
                      </a:cubicBezTo>
                      <a:cubicBezTo>
                        <a:pt x="640" y="131"/>
                        <a:pt x="640" y="131"/>
                        <a:pt x="640" y="131"/>
                      </a:cubicBezTo>
                      <a:cubicBezTo>
                        <a:pt x="640" y="126"/>
                        <a:pt x="637" y="122"/>
                        <a:pt x="631" y="120"/>
                      </a:cubicBezTo>
                      <a:cubicBezTo>
                        <a:pt x="335" y="1"/>
                        <a:pt x="335" y="1"/>
                        <a:pt x="335" y="1"/>
                      </a:cubicBezTo>
                      <a:cubicBezTo>
                        <a:pt x="332" y="0"/>
                        <a:pt x="328" y="0"/>
                        <a:pt x="326" y="1"/>
                      </a:cubicBezTo>
                      <a:cubicBezTo>
                        <a:pt x="11" y="120"/>
                        <a:pt x="11" y="120"/>
                        <a:pt x="11" y="120"/>
                      </a:cubicBezTo>
                      <a:cubicBezTo>
                        <a:pt x="7" y="122"/>
                        <a:pt x="4" y="126"/>
                        <a:pt x="4" y="131"/>
                      </a:cubicBezTo>
                      <a:cubicBezTo>
                        <a:pt x="4" y="188"/>
                        <a:pt x="4" y="188"/>
                        <a:pt x="4" y="188"/>
                      </a:cubicBezTo>
                      <a:cubicBezTo>
                        <a:pt x="4" y="195"/>
                        <a:pt x="9" y="200"/>
                        <a:pt x="15" y="200"/>
                      </a:cubicBezTo>
                      <a:cubicBezTo>
                        <a:pt x="47" y="200"/>
                        <a:pt x="47" y="200"/>
                        <a:pt x="47" y="200"/>
                      </a:cubicBezTo>
                      <a:cubicBezTo>
                        <a:pt x="47" y="247"/>
                        <a:pt x="47" y="247"/>
                        <a:pt x="47" y="247"/>
                      </a:cubicBezTo>
                      <a:cubicBezTo>
                        <a:pt x="47" y="254"/>
                        <a:pt x="53" y="259"/>
                        <a:pt x="59" y="259"/>
                      </a:cubicBezTo>
                      <a:cubicBezTo>
                        <a:pt x="68" y="259"/>
                        <a:pt x="68" y="259"/>
                        <a:pt x="68" y="259"/>
                      </a:cubicBezTo>
                      <a:cubicBezTo>
                        <a:pt x="68" y="517"/>
                        <a:pt x="68" y="517"/>
                        <a:pt x="68" y="517"/>
                      </a:cubicBezTo>
                      <a:cubicBezTo>
                        <a:pt x="42" y="517"/>
                        <a:pt x="42" y="517"/>
                        <a:pt x="42" y="517"/>
                      </a:cubicBezTo>
                      <a:cubicBezTo>
                        <a:pt x="36" y="517"/>
                        <a:pt x="31" y="523"/>
                        <a:pt x="31" y="530"/>
                      </a:cubicBezTo>
                      <a:cubicBezTo>
                        <a:pt x="31" y="554"/>
                        <a:pt x="31" y="554"/>
                        <a:pt x="31" y="554"/>
                      </a:cubicBezTo>
                      <a:cubicBezTo>
                        <a:pt x="12" y="554"/>
                        <a:pt x="12" y="554"/>
                        <a:pt x="12" y="554"/>
                      </a:cubicBezTo>
                      <a:cubicBezTo>
                        <a:pt x="6" y="554"/>
                        <a:pt x="0" y="559"/>
                        <a:pt x="0" y="565"/>
                      </a:cubicBezTo>
                      <a:cubicBezTo>
                        <a:pt x="0" y="602"/>
                        <a:pt x="0" y="602"/>
                        <a:pt x="0" y="602"/>
                      </a:cubicBezTo>
                      <a:cubicBezTo>
                        <a:pt x="0" y="608"/>
                        <a:pt x="6" y="613"/>
                        <a:pt x="12" y="613"/>
                      </a:cubicBezTo>
                      <a:cubicBezTo>
                        <a:pt x="628" y="613"/>
                        <a:pt x="628" y="613"/>
                        <a:pt x="628" y="613"/>
                      </a:cubicBezTo>
                      <a:cubicBezTo>
                        <a:pt x="636" y="613"/>
                        <a:pt x="641" y="608"/>
                        <a:pt x="641" y="602"/>
                      </a:cubicBezTo>
                      <a:cubicBezTo>
                        <a:pt x="641" y="565"/>
                        <a:pt x="641" y="565"/>
                        <a:pt x="641" y="565"/>
                      </a:cubicBezTo>
                      <a:cubicBezTo>
                        <a:pt x="641" y="559"/>
                        <a:pt x="636" y="554"/>
                        <a:pt x="628" y="554"/>
                      </a:cubicBezTo>
                      <a:close/>
                      <a:moveTo>
                        <a:pt x="26" y="177"/>
                      </a:moveTo>
                      <a:lnTo>
                        <a:pt x="26" y="177"/>
                      </a:lnTo>
                      <a:cubicBezTo>
                        <a:pt x="26" y="140"/>
                        <a:pt x="26" y="140"/>
                        <a:pt x="26" y="140"/>
                      </a:cubicBezTo>
                      <a:cubicBezTo>
                        <a:pt x="330" y="25"/>
                        <a:pt x="330" y="25"/>
                        <a:pt x="330" y="25"/>
                      </a:cubicBezTo>
                      <a:cubicBezTo>
                        <a:pt x="616" y="139"/>
                        <a:pt x="616" y="139"/>
                        <a:pt x="616" y="139"/>
                      </a:cubicBezTo>
                      <a:cubicBezTo>
                        <a:pt x="616" y="177"/>
                        <a:pt x="616" y="177"/>
                        <a:pt x="616" y="177"/>
                      </a:cubicBezTo>
                      <a:lnTo>
                        <a:pt x="26" y="177"/>
                      </a:lnTo>
                      <a:close/>
                      <a:moveTo>
                        <a:pt x="485" y="235"/>
                      </a:moveTo>
                      <a:lnTo>
                        <a:pt x="485" y="235"/>
                      </a:lnTo>
                      <a:cubicBezTo>
                        <a:pt x="475" y="235"/>
                        <a:pt x="475" y="235"/>
                        <a:pt x="475" y="235"/>
                      </a:cubicBezTo>
                      <a:cubicBezTo>
                        <a:pt x="475" y="201"/>
                        <a:pt x="475" y="201"/>
                        <a:pt x="475" y="201"/>
                      </a:cubicBezTo>
                      <a:cubicBezTo>
                        <a:pt x="572" y="201"/>
                        <a:pt x="572" y="201"/>
                        <a:pt x="572" y="201"/>
                      </a:cubicBezTo>
                      <a:cubicBezTo>
                        <a:pt x="572" y="235"/>
                        <a:pt x="572" y="235"/>
                        <a:pt x="572" y="235"/>
                      </a:cubicBezTo>
                      <a:cubicBezTo>
                        <a:pt x="563" y="235"/>
                        <a:pt x="563" y="235"/>
                        <a:pt x="563" y="235"/>
                      </a:cubicBezTo>
                      <a:cubicBezTo>
                        <a:pt x="556" y="235"/>
                        <a:pt x="551" y="241"/>
                        <a:pt x="551" y="247"/>
                      </a:cubicBezTo>
                      <a:cubicBezTo>
                        <a:pt x="551" y="517"/>
                        <a:pt x="551" y="517"/>
                        <a:pt x="551" y="517"/>
                      </a:cubicBezTo>
                      <a:cubicBezTo>
                        <a:pt x="496" y="517"/>
                        <a:pt x="496" y="517"/>
                        <a:pt x="496" y="517"/>
                      </a:cubicBezTo>
                      <a:cubicBezTo>
                        <a:pt x="496" y="247"/>
                        <a:pt x="496" y="247"/>
                        <a:pt x="496" y="247"/>
                      </a:cubicBezTo>
                      <a:cubicBezTo>
                        <a:pt x="496" y="241"/>
                        <a:pt x="491" y="235"/>
                        <a:pt x="485" y="235"/>
                      </a:cubicBezTo>
                      <a:close/>
                      <a:moveTo>
                        <a:pt x="464" y="259"/>
                      </a:moveTo>
                      <a:lnTo>
                        <a:pt x="464" y="259"/>
                      </a:lnTo>
                      <a:cubicBezTo>
                        <a:pt x="472" y="259"/>
                        <a:pt x="472" y="259"/>
                        <a:pt x="472" y="259"/>
                      </a:cubicBezTo>
                      <a:cubicBezTo>
                        <a:pt x="472" y="517"/>
                        <a:pt x="472" y="517"/>
                        <a:pt x="472" y="517"/>
                      </a:cubicBezTo>
                      <a:cubicBezTo>
                        <a:pt x="372" y="517"/>
                        <a:pt x="372" y="517"/>
                        <a:pt x="372" y="517"/>
                      </a:cubicBezTo>
                      <a:cubicBezTo>
                        <a:pt x="372" y="259"/>
                        <a:pt x="372" y="259"/>
                        <a:pt x="372" y="259"/>
                      </a:cubicBezTo>
                      <a:cubicBezTo>
                        <a:pt x="382" y="259"/>
                        <a:pt x="382" y="259"/>
                        <a:pt x="382" y="259"/>
                      </a:cubicBezTo>
                      <a:cubicBezTo>
                        <a:pt x="388" y="259"/>
                        <a:pt x="393" y="254"/>
                        <a:pt x="393" y="247"/>
                      </a:cubicBezTo>
                      <a:cubicBezTo>
                        <a:pt x="393" y="200"/>
                        <a:pt x="393" y="200"/>
                        <a:pt x="393" y="200"/>
                      </a:cubicBezTo>
                      <a:cubicBezTo>
                        <a:pt x="452" y="200"/>
                        <a:pt x="452" y="200"/>
                        <a:pt x="452" y="200"/>
                      </a:cubicBezTo>
                      <a:cubicBezTo>
                        <a:pt x="452" y="247"/>
                        <a:pt x="452" y="247"/>
                        <a:pt x="452" y="247"/>
                      </a:cubicBezTo>
                      <a:cubicBezTo>
                        <a:pt x="452" y="254"/>
                        <a:pt x="458" y="259"/>
                        <a:pt x="464" y="259"/>
                      </a:cubicBezTo>
                      <a:close/>
                      <a:moveTo>
                        <a:pt x="282" y="235"/>
                      </a:moveTo>
                      <a:lnTo>
                        <a:pt x="282" y="235"/>
                      </a:lnTo>
                      <a:cubicBezTo>
                        <a:pt x="273" y="235"/>
                        <a:pt x="273" y="235"/>
                        <a:pt x="273" y="235"/>
                      </a:cubicBezTo>
                      <a:cubicBezTo>
                        <a:pt x="273" y="201"/>
                        <a:pt x="273" y="201"/>
                        <a:pt x="273" y="201"/>
                      </a:cubicBezTo>
                      <a:cubicBezTo>
                        <a:pt x="369" y="201"/>
                        <a:pt x="369" y="201"/>
                        <a:pt x="369" y="201"/>
                      </a:cubicBezTo>
                      <a:cubicBezTo>
                        <a:pt x="369" y="235"/>
                        <a:pt x="369" y="235"/>
                        <a:pt x="369" y="235"/>
                      </a:cubicBezTo>
                      <a:cubicBezTo>
                        <a:pt x="361" y="235"/>
                        <a:pt x="361" y="235"/>
                        <a:pt x="361" y="235"/>
                      </a:cubicBezTo>
                      <a:cubicBezTo>
                        <a:pt x="354" y="235"/>
                        <a:pt x="349" y="241"/>
                        <a:pt x="349" y="247"/>
                      </a:cubicBezTo>
                      <a:cubicBezTo>
                        <a:pt x="349" y="517"/>
                        <a:pt x="349" y="517"/>
                        <a:pt x="349" y="517"/>
                      </a:cubicBezTo>
                      <a:cubicBezTo>
                        <a:pt x="293" y="517"/>
                        <a:pt x="293" y="517"/>
                        <a:pt x="293" y="517"/>
                      </a:cubicBezTo>
                      <a:cubicBezTo>
                        <a:pt x="293" y="247"/>
                        <a:pt x="293" y="247"/>
                        <a:pt x="293" y="247"/>
                      </a:cubicBezTo>
                      <a:cubicBezTo>
                        <a:pt x="293" y="241"/>
                        <a:pt x="288" y="235"/>
                        <a:pt x="282" y="235"/>
                      </a:cubicBezTo>
                      <a:close/>
                      <a:moveTo>
                        <a:pt x="262" y="259"/>
                      </a:moveTo>
                      <a:lnTo>
                        <a:pt x="262" y="259"/>
                      </a:lnTo>
                      <a:cubicBezTo>
                        <a:pt x="270" y="259"/>
                        <a:pt x="270" y="259"/>
                        <a:pt x="270" y="259"/>
                      </a:cubicBezTo>
                      <a:cubicBezTo>
                        <a:pt x="270" y="517"/>
                        <a:pt x="270" y="517"/>
                        <a:pt x="270" y="517"/>
                      </a:cubicBezTo>
                      <a:cubicBezTo>
                        <a:pt x="170" y="517"/>
                        <a:pt x="170" y="517"/>
                        <a:pt x="170" y="517"/>
                      </a:cubicBezTo>
                      <a:cubicBezTo>
                        <a:pt x="170" y="259"/>
                        <a:pt x="170" y="259"/>
                        <a:pt x="170" y="259"/>
                      </a:cubicBezTo>
                      <a:cubicBezTo>
                        <a:pt x="179" y="259"/>
                        <a:pt x="179" y="259"/>
                        <a:pt x="179" y="259"/>
                      </a:cubicBezTo>
                      <a:cubicBezTo>
                        <a:pt x="185" y="259"/>
                        <a:pt x="190" y="254"/>
                        <a:pt x="190" y="247"/>
                      </a:cubicBezTo>
                      <a:cubicBezTo>
                        <a:pt x="190" y="200"/>
                        <a:pt x="190" y="200"/>
                        <a:pt x="190" y="200"/>
                      </a:cubicBezTo>
                      <a:cubicBezTo>
                        <a:pt x="249" y="200"/>
                        <a:pt x="249" y="200"/>
                        <a:pt x="249" y="200"/>
                      </a:cubicBezTo>
                      <a:cubicBezTo>
                        <a:pt x="249" y="247"/>
                        <a:pt x="249" y="247"/>
                        <a:pt x="249" y="247"/>
                      </a:cubicBezTo>
                      <a:cubicBezTo>
                        <a:pt x="249" y="254"/>
                        <a:pt x="255" y="259"/>
                        <a:pt x="262" y="259"/>
                      </a:cubicBezTo>
                      <a:close/>
                      <a:moveTo>
                        <a:pt x="80" y="235"/>
                      </a:moveTo>
                      <a:lnTo>
                        <a:pt x="80" y="235"/>
                      </a:lnTo>
                      <a:cubicBezTo>
                        <a:pt x="70" y="235"/>
                        <a:pt x="70" y="235"/>
                        <a:pt x="70" y="235"/>
                      </a:cubicBezTo>
                      <a:cubicBezTo>
                        <a:pt x="70" y="201"/>
                        <a:pt x="70" y="201"/>
                        <a:pt x="70" y="201"/>
                      </a:cubicBezTo>
                      <a:cubicBezTo>
                        <a:pt x="167" y="201"/>
                        <a:pt x="167" y="201"/>
                        <a:pt x="167" y="201"/>
                      </a:cubicBezTo>
                      <a:cubicBezTo>
                        <a:pt x="167" y="235"/>
                        <a:pt x="167" y="235"/>
                        <a:pt x="167" y="235"/>
                      </a:cubicBezTo>
                      <a:cubicBezTo>
                        <a:pt x="159" y="235"/>
                        <a:pt x="159" y="235"/>
                        <a:pt x="159" y="235"/>
                      </a:cubicBezTo>
                      <a:cubicBezTo>
                        <a:pt x="151" y="235"/>
                        <a:pt x="146" y="241"/>
                        <a:pt x="146" y="247"/>
                      </a:cubicBezTo>
                      <a:cubicBezTo>
                        <a:pt x="146" y="517"/>
                        <a:pt x="146" y="517"/>
                        <a:pt x="146" y="517"/>
                      </a:cubicBezTo>
                      <a:cubicBezTo>
                        <a:pt x="91" y="517"/>
                        <a:pt x="91" y="517"/>
                        <a:pt x="91" y="517"/>
                      </a:cubicBezTo>
                      <a:cubicBezTo>
                        <a:pt x="91" y="247"/>
                        <a:pt x="91" y="247"/>
                        <a:pt x="91" y="247"/>
                      </a:cubicBezTo>
                      <a:cubicBezTo>
                        <a:pt x="91" y="241"/>
                        <a:pt x="86" y="235"/>
                        <a:pt x="80" y="235"/>
                      </a:cubicBezTo>
                      <a:close/>
                      <a:moveTo>
                        <a:pt x="617" y="590"/>
                      </a:moveTo>
                      <a:lnTo>
                        <a:pt x="617" y="590"/>
                      </a:lnTo>
                      <a:cubicBezTo>
                        <a:pt x="24" y="590"/>
                        <a:pt x="24" y="590"/>
                        <a:pt x="24" y="590"/>
                      </a:cubicBezTo>
                      <a:cubicBezTo>
                        <a:pt x="24" y="577"/>
                        <a:pt x="24" y="577"/>
                        <a:pt x="24" y="577"/>
                      </a:cubicBezTo>
                      <a:cubicBezTo>
                        <a:pt x="42" y="577"/>
                        <a:pt x="42" y="577"/>
                        <a:pt x="42" y="577"/>
                      </a:cubicBezTo>
                      <a:cubicBezTo>
                        <a:pt x="48" y="577"/>
                        <a:pt x="54" y="572"/>
                        <a:pt x="54" y="565"/>
                      </a:cubicBezTo>
                      <a:cubicBezTo>
                        <a:pt x="54" y="541"/>
                        <a:pt x="54" y="541"/>
                        <a:pt x="54" y="541"/>
                      </a:cubicBezTo>
                      <a:cubicBezTo>
                        <a:pt x="80" y="541"/>
                        <a:pt x="80" y="541"/>
                        <a:pt x="80" y="541"/>
                      </a:cubicBezTo>
                      <a:lnTo>
                        <a:pt x="80" y="541"/>
                      </a:lnTo>
                      <a:cubicBezTo>
                        <a:pt x="159" y="541"/>
                        <a:pt x="159" y="541"/>
                        <a:pt x="159" y="541"/>
                      </a:cubicBezTo>
                      <a:lnTo>
                        <a:pt x="159" y="541"/>
                      </a:lnTo>
                      <a:cubicBezTo>
                        <a:pt x="282" y="541"/>
                        <a:pt x="282" y="541"/>
                        <a:pt x="282" y="541"/>
                      </a:cubicBezTo>
                      <a:lnTo>
                        <a:pt x="282" y="541"/>
                      </a:lnTo>
                      <a:cubicBezTo>
                        <a:pt x="361" y="541"/>
                        <a:pt x="361" y="541"/>
                        <a:pt x="361" y="541"/>
                      </a:cubicBezTo>
                      <a:lnTo>
                        <a:pt x="361" y="541"/>
                      </a:lnTo>
                      <a:cubicBezTo>
                        <a:pt x="484" y="541"/>
                        <a:pt x="484" y="541"/>
                        <a:pt x="484" y="541"/>
                      </a:cubicBezTo>
                      <a:lnTo>
                        <a:pt x="485" y="541"/>
                      </a:lnTo>
                      <a:cubicBezTo>
                        <a:pt x="563" y="541"/>
                        <a:pt x="563" y="541"/>
                        <a:pt x="563" y="541"/>
                      </a:cubicBezTo>
                      <a:cubicBezTo>
                        <a:pt x="564" y="541"/>
                        <a:pt x="564" y="541"/>
                        <a:pt x="564" y="541"/>
                      </a:cubicBezTo>
                      <a:cubicBezTo>
                        <a:pt x="587" y="541"/>
                        <a:pt x="587" y="541"/>
                        <a:pt x="587" y="541"/>
                      </a:cubicBezTo>
                      <a:cubicBezTo>
                        <a:pt x="587" y="565"/>
                        <a:pt x="587" y="565"/>
                        <a:pt x="587" y="565"/>
                      </a:cubicBezTo>
                      <a:cubicBezTo>
                        <a:pt x="587" y="572"/>
                        <a:pt x="592" y="577"/>
                        <a:pt x="599" y="577"/>
                      </a:cubicBezTo>
                      <a:cubicBezTo>
                        <a:pt x="617" y="577"/>
                        <a:pt x="617" y="577"/>
                        <a:pt x="617" y="577"/>
                      </a:cubicBezTo>
                      <a:lnTo>
                        <a:pt x="617" y="590"/>
                      </a:ln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132" name="Group 131"/>
                <p:cNvGrpSpPr>
                  <a:grpSpLocks noChangeAspect="1"/>
                </p:cNvGrpSpPr>
                <p:nvPr/>
              </p:nvGrpSpPr>
              <p:grpSpPr>
                <a:xfrm>
                  <a:off x="4895918" y="6254361"/>
                  <a:ext cx="326713" cy="326713"/>
                  <a:chOff x="3963532" y="4359643"/>
                  <a:chExt cx="324146" cy="324146"/>
                </a:xfrm>
                <a:solidFill>
                  <a:srgbClr val="0078EF"/>
                </a:solidFill>
              </p:grpSpPr>
              <p:sp>
                <p:nvSpPr>
                  <p:cNvPr id="133" name="Freeform 74"/>
                  <p:cNvSpPr>
                    <a:spLocks noChangeArrowheads="1"/>
                  </p:cNvSpPr>
                  <p:nvPr/>
                </p:nvSpPr>
                <p:spPr bwMode="auto">
                  <a:xfrm>
                    <a:off x="4059849" y="4454109"/>
                    <a:ext cx="133363" cy="133363"/>
                  </a:xfrm>
                  <a:custGeom>
                    <a:avLst/>
                    <a:gdLst>
                      <a:gd name="T0" fmla="*/ 158 w 318"/>
                      <a:gd name="T1" fmla="*/ 0 h 318"/>
                      <a:gd name="T2" fmla="*/ 158 w 318"/>
                      <a:gd name="T3" fmla="*/ 0 h 318"/>
                      <a:gd name="T4" fmla="*/ 0 w 318"/>
                      <a:gd name="T5" fmla="*/ 159 h 318"/>
                      <a:gd name="T6" fmla="*/ 158 w 318"/>
                      <a:gd name="T7" fmla="*/ 317 h 318"/>
                      <a:gd name="T8" fmla="*/ 317 w 318"/>
                      <a:gd name="T9" fmla="*/ 159 h 318"/>
                      <a:gd name="T10" fmla="*/ 158 w 318"/>
                      <a:gd name="T11" fmla="*/ 0 h 318"/>
                      <a:gd name="T12" fmla="*/ 158 w 318"/>
                      <a:gd name="T13" fmla="*/ 294 h 318"/>
                      <a:gd name="T14" fmla="*/ 158 w 318"/>
                      <a:gd name="T15" fmla="*/ 294 h 318"/>
                      <a:gd name="T16" fmla="*/ 23 w 318"/>
                      <a:gd name="T17" fmla="*/ 159 h 318"/>
                      <a:gd name="T18" fmla="*/ 158 w 318"/>
                      <a:gd name="T19" fmla="*/ 23 h 318"/>
                      <a:gd name="T20" fmla="*/ 294 w 318"/>
                      <a:gd name="T21" fmla="*/ 159 h 318"/>
                      <a:gd name="T22" fmla="*/ 158 w 318"/>
                      <a:gd name="T23" fmla="*/ 294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18" h="318">
                        <a:moveTo>
                          <a:pt x="158" y="0"/>
                        </a:moveTo>
                        <a:lnTo>
                          <a:pt x="158" y="0"/>
                        </a:lnTo>
                        <a:cubicBezTo>
                          <a:pt x="71" y="0"/>
                          <a:pt x="0" y="71"/>
                          <a:pt x="0" y="159"/>
                        </a:cubicBezTo>
                        <a:cubicBezTo>
                          <a:pt x="0" y="246"/>
                          <a:pt x="71" y="317"/>
                          <a:pt x="158" y="317"/>
                        </a:cubicBezTo>
                        <a:cubicBezTo>
                          <a:pt x="247" y="317"/>
                          <a:pt x="317" y="246"/>
                          <a:pt x="317" y="159"/>
                        </a:cubicBezTo>
                        <a:cubicBezTo>
                          <a:pt x="317" y="71"/>
                          <a:pt x="247" y="0"/>
                          <a:pt x="158" y="0"/>
                        </a:cubicBezTo>
                        <a:close/>
                        <a:moveTo>
                          <a:pt x="158" y="294"/>
                        </a:moveTo>
                        <a:lnTo>
                          <a:pt x="158" y="294"/>
                        </a:lnTo>
                        <a:cubicBezTo>
                          <a:pt x="84" y="294"/>
                          <a:pt x="23" y="234"/>
                          <a:pt x="23" y="159"/>
                        </a:cubicBezTo>
                        <a:cubicBezTo>
                          <a:pt x="23" y="84"/>
                          <a:pt x="84" y="23"/>
                          <a:pt x="158" y="23"/>
                        </a:cubicBezTo>
                        <a:cubicBezTo>
                          <a:pt x="233" y="23"/>
                          <a:pt x="294" y="84"/>
                          <a:pt x="294" y="159"/>
                        </a:cubicBezTo>
                        <a:cubicBezTo>
                          <a:pt x="294" y="234"/>
                          <a:pt x="233" y="294"/>
                          <a:pt x="158" y="29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34" name="Freeform 75"/>
                  <p:cNvSpPr>
                    <a:spLocks noChangeArrowheads="1"/>
                  </p:cNvSpPr>
                  <p:nvPr/>
                </p:nvSpPr>
                <p:spPr bwMode="auto">
                  <a:xfrm>
                    <a:off x="3963532" y="4359643"/>
                    <a:ext cx="324146" cy="324146"/>
                  </a:xfrm>
                  <a:custGeom>
                    <a:avLst/>
                    <a:gdLst>
                      <a:gd name="T0" fmla="*/ 738 w 773"/>
                      <a:gd name="T1" fmla="*/ 315 h 773"/>
                      <a:gd name="T2" fmla="*/ 644 w 773"/>
                      <a:gd name="T3" fmla="*/ 227 h 773"/>
                      <a:gd name="T4" fmla="*/ 694 w 773"/>
                      <a:gd name="T5" fmla="*/ 162 h 773"/>
                      <a:gd name="T6" fmla="*/ 635 w 773"/>
                      <a:gd name="T7" fmla="*/ 88 h 773"/>
                      <a:gd name="T8" fmla="*/ 610 w 773"/>
                      <a:gd name="T9" fmla="*/ 78 h 773"/>
                      <a:gd name="T10" fmla="*/ 545 w 773"/>
                      <a:gd name="T11" fmla="*/ 128 h 773"/>
                      <a:gd name="T12" fmla="*/ 457 w 773"/>
                      <a:gd name="T13" fmla="*/ 35 h 773"/>
                      <a:gd name="T14" fmla="*/ 352 w 773"/>
                      <a:gd name="T15" fmla="*/ 0 h 773"/>
                      <a:gd name="T16" fmla="*/ 316 w 773"/>
                      <a:gd name="T17" fmla="*/ 91 h 773"/>
                      <a:gd name="T18" fmla="*/ 188 w 773"/>
                      <a:gd name="T19" fmla="*/ 88 h 773"/>
                      <a:gd name="T20" fmla="*/ 163 w 773"/>
                      <a:gd name="T21" fmla="*/ 78 h 773"/>
                      <a:gd name="T22" fmla="*/ 88 w 773"/>
                      <a:gd name="T23" fmla="*/ 137 h 773"/>
                      <a:gd name="T24" fmla="*/ 88 w 773"/>
                      <a:gd name="T25" fmla="*/ 187 h 773"/>
                      <a:gd name="T26" fmla="*/ 91 w 773"/>
                      <a:gd name="T27" fmla="*/ 315 h 773"/>
                      <a:gd name="T28" fmla="*/ 0 w 773"/>
                      <a:gd name="T29" fmla="*/ 350 h 773"/>
                      <a:gd name="T30" fmla="*/ 35 w 773"/>
                      <a:gd name="T31" fmla="*/ 456 h 773"/>
                      <a:gd name="T32" fmla="*/ 128 w 773"/>
                      <a:gd name="T33" fmla="*/ 544 h 773"/>
                      <a:gd name="T34" fmla="*/ 88 w 773"/>
                      <a:gd name="T35" fmla="*/ 634 h 773"/>
                      <a:gd name="T36" fmla="*/ 188 w 773"/>
                      <a:gd name="T37" fmla="*/ 684 h 773"/>
                      <a:gd name="T38" fmla="*/ 316 w 773"/>
                      <a:gd name="T39" fmla="*/ 680 h 773"/>
                      <a:gd name="T40" fmla="*/ 352 w 773"/>
                      <a:gd name="T41" fmla="*/ 772 h 773"/>
                      <a:gd name="T42" fmla="*/ 457 w 773"/>
                      <a:gd name="T43" fmla="*/ 737 h 773"/>
                      <a:gd name="T44" fmla="*/ 545 w 773"/>
                      <a:gd name="T45" fmla="*/ 644 h 773"/>
                      <a:gd name="T46" fmla="*/ 635 w 773"/>
                      <a:gd name="T47" fmla="*/ 684 h 773"/>
                      <a:gd name="T48" fmla="*/ 685 w 773"/>
                      <a:gd name="T49" fmla="*/ 585 h 773"/>
                      <a:gd name="T50" fmla="*/ 682 w 773"/>
                      <a:gd name="T51" fmla="*/ 456 h 773"/>
                      <a:gd name="T52" fmla="*/ 772 w 773"/>
                      <a:gd name="T53" fmla="*/ 421 h 773"/>
                      <a:gd name="T54" fmla="*/ 738 w 773"/>
                      <a:gd name="T55" fmla="*/ 315 h 773"/>
                      <a:gd name="T56" fmla="*/ 749 w 773"/>
                      <a:gd name="T57" fmla="*/ 421 h 773"/>
                      <a:gd name="T58" fmla="*/ 662 w 773"/>
                      <a:gd name="T59" fmla="*/ 433 h 773"/>
                      <a:gd name="T60" fmla="*/ 620 w 773"/>
                      <a:gd name="T61" fmla="*/ 540 h 773"/>
                      <a:gd name="T62" fmla="*/ 668 w 773"/>
                      <a:gd name="T63" fmla="*/ 600 h 773"/>
                      <a:gd name="T64" fmla="*/ 618 w 773"/>
                      <a:gd name="T65" fmla="*/ 667 h 773"/>
                      <a:gd name="T66" fmla="*/ 548 w 773"/>
                      <a:gd name="T67" fmla="*/ 614 h 773"/>
                      <a:gd name="T68" fmla="*/ 442 w 773"/>
                      <a:gd name="T69" fmla="*/ 660 h 773"/>
                      <a:gd name="T70" fmla="*/ 433 w 773"/>
                      <a:gd name="T71" fmla="*/ 737 h 773"/>
                      <a:gd name="T72" fmla="*/ 352 w 773"/>
                      <a:gd name="T73" fmla="*/ 748 h 773"/>
                      <a:gd name="T74" fmla="*/ 339 w 773"/>
                      <a:gd name="T75" fmla="*/ 662 h 773"/>
                      <a:gd name="T76" fmla="*/ 232 w 773"/>
                      <a:gd name="T77" fmla="*/ 619 h 773"/>
                      <a:gd name="T78" fmla="*/ 172 w 773"/>
                      <a:gd name="T79" fmla="*/ 667 h 773"/>
                      <a:gd name="T80" fmla="*/ 105 w 773"/>
                      <a:gd name="T81" fmla="*/ 617 h 773"/>
                      <a:gd name="T82" fmla="*/ 158 w 773"/>
                      <a:gd name="T83" fmla="*/ 547 h 773"/>
                      <a:gd name="T84" fmla="*/ 112 w 773"/>
                      <a:gd name="T85" fmla="*/ 442 h 773"/>
                      <a:gd name="T86" fmla="*/ 35 w 773"/>
                      <a:gd name="T87" fmla="*/ 433 h 773"/>
                      <a:gd name="T88" fmla="*/ 24 w 773"/>
                      <a:gd name="T89" fmla="*/ 350 h 773"/>
                      <a:gd name="T90" fmla="*/ 110 w 773"/>
                      <a:gd name="T91" fmla="*/ 339 h 773"/>
                      <a:gd name="T92" fmla="*/ 153 w 773"/>
                      <a:gd name="T93" fmla="*/ 232 h 773"/>
                      <a:gd name="T94" fmla="*/ 105 w 773"/>
                      <a:gd name="T95" fmla="*/ 170 h 773"/>
                      <a:gd name="T96" fmla="*/ 105 w 773"/>
                      <a:gd name="T97" fmla="*/ 154 h 773"/>
                      <a:gd name="T98" fmla="*/ 163 w 773"/>
                      <a:gd name="T99" fmla="*/ 101 h 773"/>
                      <a:gd name="T100" fmla="*/ 225 w 773"/>
                      <a:gd name="T101" fmla="*/ 158 h 773"/>
                      <a:gd name="T102" fmla="*/ 330 w 773"/>
                      <a:gd name="T103" fmla="*/ 112 h 773"/>
                      <a:gd name="T104" fmla="*/ 339 w 773"/>
                      <a:gd name="T105" fmla="*/ 35 h 773"/>
                      <a:gd name="T106" fmla="*/ 421 w 773"/>
                      <a:gd name="T107" fmla="*/ 23 h 773"/>
                      <a:gd name="T108" fmla="*/ 433 w 773"/>
                      <a:gd name="T109" fmla="*/ 110 h 773"/>
                      <a:gd name="T110" fmla="*/ 540 w 773"/>
                      <a:gd name="T111" fmla="*/ 153 h 773"/>
                      <a:gd name="T112" fmla="*/ 602 w 773"/>
                      <a:gd name="T113" fmla="*/ 104 h 773"/>
                      <a:gd name="T114" fmla="*/ 668 w 773"/>
                      <a:gd name="T115" fmla="*/ 154 h 773"/>
                      <a:gd name="T116" fmla="*/ 668 w 773"/>
                      <a:gd name="T117" fmla="*/ 170 h 773"/>
                      <a:gd name="T118" fmla="*/ 620 w 773"/>
                      <a:gd name="T119" fmla="*/ 232 h 773"/>
                      <a:gd name="T120" fmla="*/ 662 w 773"/>
                      <a:gd name="T121" fmla="*/ 339 h 773"/>
                      <a:gd name="T122" fmla="*/ 749 w 773"/>
                      <a:gd name="T123" fmla="*/ 350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73" h="773">
                        <a:moveTo>
                          <a:pt x="738" y="315"/>
                        </a:moveTo>
                        <a:lnTo>
                          <a:pt x="738" y="315"/>
                        </a:lnTo>
                        <a:cubicBezTo>
                          <a:pt x="682" y="315"/>
                          <a:pt x="682" y="315"/>
                          <a:pt x="682" y="315"/>
                        </a:cubicBezTo>
                        <a:cubicBezTo>
                          <a:pt x="674" y="284"/>
                          <a:pt x="662" y="255"/>
                          <a:pt x="644" y="227"/>
                        </a:cubicBezTo>
                        <a:cubicBezTo>
                          <a:pt x="685" y="187"/>
                          <a:pt x="685" y="187"/>
                          <a:pt x="685" y="187"/>
                        </a:cubicBezTo>
                        <a:cubicBezTo>
                          <a:pt x="691" y="181"/>
                          <a:pt x="694" y="171"/>
                          <a:pt x="694" y="162"/>
                        </a:cubicBezTo>
                        <a:cubicBezTo>
                          <a:pt x="694" y="153"/>
                          <a:pt x="691" y="144"/>
                          <a:pt x="685" y="137"/>
                        </a:cubicBezTo>
                        <a:cubicBezTo>
                          <a:pt x="635" y="88"/>
                          <a:pt x="635" y="88"/>
                          <a:pt x="635" y="88"/>
                        </a:cubicBezTo>
                        <a:cubicBezTo>
                          <a:pt x="629" y="81"/>
                          <a:pt x="619" y="78"/>
                          <a:pt x="610" y="78"/>
                        </a:cubicBezTo>
                        <a:lnTo>
                          <a:pt x="610" y="78"/>
                        </a:lnTo>
                        <a:cubicBezTo>
                          <a:pt x="601" y="78"/>
                          <a:pt x="592" y="81"/>
                          <a:pt x="585" y="88"/>
                        </a:cubicBezTo>
                        <a:cubicBezTo>
                          <a:pt x="545" y="128"/>
                          <a:pt x="545" y="128"/>
                          <a:pt x="545" y="128"/>
                        </a:cubicBezTo>
                        <a:cubicBezTo>
                          <a:pt x="518" y="111"/>
                          <a:pt x="488" y="98"/>
                          <a:pt x="457" y="91"/>
                        </a:cubicBezTo>
                        <a:cubicBezTo>
                          <a:pt x="457" y="35"/>
                          <a:pt x="457" y="35"/>
                          <a:pt x="457" y="35"/>
                        </a:cubicBezTo>
                        <a:cubicBezTo>
                          <a:pt x="457" y="15"/>
                          <a:pt x="441" y="0"/>
                          <a:pt x="421" y="0"/>
                        </a:cubicBezTo>
                        <a:cubicBezTo>
                          <a:pt x="352" y="0"/>
                          <a:pt x="352" y="0"/>
                          <a:pt x="352" y="0"/>
                        </a:cubicBezTo>
                        <a:cubicBezTo>
                          <a:pt x="332" y="0"/>
                          <a:pt x="316" y="15"/>
                          <a:pt x="316" y="35"/>
                        </a:cubicBezTo>
                        <a:cubicBezTo>
                          <a:pt x="316" y="91"/>
                          <a:pt x="316" y="91"/>
                          <a:pt x="316" y="91"/>
                        </a:cubicBezTo>
                        <a:cubicBezTo>
                          <a:pt x="285" y="98"/>
                          <a:pt x="255" y="111"/>
                          <a:pt x="228" y="128"/>
                        </a:cubicBezTo>
                        <a:cubicBezTo>
                          <a:pt x="188" y="88"/>
                          <a:pt x="188" y="88"/>
                          <a:pt x="188" y="88"/>
                        </a:cubicBezTo>
                        <a:cubicBezTo>
                          <a:pt x="181" y="81"/>
                          <a:pt x="173" y="78"/>
                          <a:pt x="163" y="78"/>
                        </a:cubicBezTo>
                        <a:lnTo>
                          <a:pt x="163" y="78"/>
                        </a:lnTo>
                        <a:cubicBezTo>
                          <a:pt x="154" y="78"/>
                          <a:pt x="144" y="81"/>
                          <a:pt x="138" y="88"/>
                        </a:cubicBezTo>
                        <a:cubicBezTo>
                          <a:pt x="88" y="137"/>
                          <a:pt x="88" y="137"/>
                          <a:pt x="88" y="137"/>
                        </a:cubicBezTo>
                        <a:cubicBezTo>
                          <a:pt x="82" y="144"/>
                          <a:pt x="78" y="153"/>
                          <a:pt x="78" y="162"/>
                        </a:cubicBezTo>
                        <a:cubicBezTo>
                          <a:pt x="78" y="171"/>
                          <a:pt x="82" y="181"/>
                          <a:pt x="88" y="187"/>
                        </a:cubicBezTo>
                        <a:cubicBezTo>
                          <a:pt x="128" y="227"/>
                          <a:pt x="128" y="227"/>
                          <a:pt x="128" y="227"/>
                        </a:cubicBezTo>
                        <a:cubicBezTo>
                          <a:pt x="111" y="255"/>
                          <a:pt x="99" y="284"/>
                          <a:pt x="91" y="315"/>
                        </a:cubicBezTo>
                        <a:cubicBezTo>
                          <a:pt x="35" y="315"/>
                          <a:pt x="35" y="315"/>
                          <a:pt x="35" y="315"/>
                        </a:cubicBezTo>
                        <a:cubicBezTo>
                          <a:pt x="16" y="315"/>
                          <a:pt x="0" y="331"/>
                          <a:pt x="0" y="350"/>
                        </a:cubicBezTo>
                        <a:cubicBezTo>
                          <a:pt x="0" y="421"/>
                          <a:pt x="0" y="421"/>
                          <a:pt x="0" y="421"/>
                        </a:cubicBezTo>
                        <a:cubicBezTo>
                          <a:pt x="0" y="440"/>
                          <a:pt x="16" y="456"/>
                          <a:pt x="35" y="456"/>
                        </a:cubicBezTo>
                        <a:cubicBezTo>
                          <a:pt x="91" y="456"/>
                          <a:pt x="91" y="456"/>
                          <a:pt x="91" y="456"/>
                        </a:cubicBezTo>
                        <a:cubicBezTo>
                          <a:pt x="99" y="487"/>
                          <a:pt x="111" y="517"/>
                          <a:pt x="128" y="544"/>
                        </a:cubicBezTo>
                        <a:cubicBezTo>
                          <a:pt x="88" y="585"/>
                          <a:pt x="88" y="585"/>
                          <a:pt x="88" y="585"/>
                        </a:cubicBezTo>
                        <a:cubicBezTo>
                          <a:pt x="75" y="598"/>
                          <a:pt x="75" y="620"/>
                          <a:pt x="88" y="634"/>
                        </a:cubicBezTo>
                        <a:cubicBezTo>
                          <a:pt x="138" y="684"/>
                          <a:pt x="138" y="684"/>
                          <a:pt x="138" y="684"/>
                        </a:cubicBezTo>
                        <a:cubicBezTo>
                          <a:pt x="152" y="697"/>
                          <a:pt x="175" y="697"/>
                          <a:pt x="188" y="684"/>
                        </a:cubicBezTo>
                        <a:cubicBezTo>
                          <a:pt x="228" y="644"/>
                          <a:pt x="228" y="644"/>
                          <a:pt x="228" y="644"/>
                        </a:cubicBezTo>
                        <a:cubicBezTo>
                          <a:pt x="255" y="661"/>
                          <a:pt x="285" y="673"/>
                          <a:pt x="316" y="680"/>
                        </a:cubicBezTo>
                        <a:cubicBezTo>
                          <a:pt x="316" y="737"/>
                          <a:pt x="316" y="737"/>
                          <a:pt x="316" y="737"/>
                        </a:cubicBezTo>
                        <a:cubicBezTo>
                          <a:pt x="316" y="756"/>
                          <a:pt x="332" y="772"/>
                          <a:pt x="352" y="772"/>
                        </a:cubicBezTo>
                        <a:cubicBezTo>
                          <a:pt x="421" y="772"/>
                          <a:pt x="421" y="772"/>
                          <a:pt x="421" y="772"/>
                        </a:cubicBezTo>
                        <a:cubicBezTo>
                          <a:pt x="441" y="772"/>
                          <a:pt x="457" y="756"/>
                          <a:pt x="457" y="737"/>
                        </a:cubicBezTo>
                        <a:cubicBezTo>
                          <a:pt x="457" y="680"/>
                          <a:pt x="457" y="680"/>
                          <a:pt x="457" y="680"/>
                        </a:cubicBezTo>
                        <a:cubicBezTo>
                          <a:pt x="488" y="673"/>
                          <a:pt x="517" y="661"/>
                          <a:pt x="545" y="644"/>
                        </a:cubicBezTo>
                        <a:cubicBezTo>
                          <a:pt x="585" y="684"/>
                          <a:pt x="585" y="684"/>
                          <a:pt x="585" y="684"/>
                        </a:cubicBezTo>
                        <a:cubicBezTo>
                          <a:pt x="598" y="697"/>
                          <a:pt x="621" y="697"/>
                          <a:pt x="635" y="684"/>
                        </a:cubicBezTo>
                        <a:cubicBezTo>
                          <a:pt x="685" y="634"/>
                          <a:pt x="685" y="634"/>
                          <a:pt x="685" y="634"/>
                        </a:cubicBezTo>
                        <a:cubicBezTo>
                          <a:pt x="698" y="620"/>
                          <a:pt x="698" y="598"/>
                          <a:pt x="685" y="585"/>
                        </a:cubicBezTo>
                        <a:cubicBezTo>
                          <a:pt x="644" y="544"/>
                          <a:pt x="644" y="544"/>
                          <a:pt x="644" y="544"/>
                        </a:cubicBezTo>
                        <a:cubicBezTo>
                          <a:pt x="662" y="517"/>
                          <a:pt x="674" y="487"/>
                          <a:pt x="682" y="456"/>
                        </a:cubicBezTo>
                        <a:cubicBezTo>
                          <a:pt x="738" y="456"/>
                          <a:pt x="738" y="456"/>
                          <a:pt x="738" y="456"/>
                        </a:cubicBezTo>
                        <a:cubicBezTo>
                          <a:pt x="757" y="456"/>
                          <a:pt x="772" y="440"/>
                          <a:pt x="772" y="421"/>
                        </a:cubicBezTo>
                        <a:cubicBezTo>
                          <a:pt x="772" y="350"/>
                          <a:pt x="772" y="350"/>
                          <a:pt x="772" y="350"/>
                        </a:cubicBezTo>
                        <a:cubicBezTo>
                          <a:pt x="772" y="331"/>
                          <a:pt x="757" y="315"/>
                          <a:pt x="738" y="315"/>
                        </a:cubicBezTo>
                        <a:close/>
                        <a:moveTo>
                          <a:pt x="749" y="421"/>
                        </a:moveTo>
                        <a:lnTo>
                          <a:pt x="749" y="421"/>
                        </a:lnTo>
                        <a:cubicBezTo>
                          <a:pt x="749" y="427"/>
                          <a:pt x="744" y="433"/>
                          <a:pt x="738" y="433"/>
                        </a:cubicBezTo>
                        <a:cubicBezTo>
                          <a:pt x="662" y="433"/>
                          <a:pt x="662" y="433"/>
                          <a:pt x="662" y="433"/>
                        </a:cubicBezTo>
                        <a:cubicBezTo>
                          <a:pt x="661" y="442"/>
                          <a:pt x="661" y="442"/>
                          <a:pt x="661" y="442"/>
                        </a:cubicBezTo>
                        <a:cubicBezTo>
                          <a:pt x="654" y="476"/>
                          <a:pt x="640" y="510"/>
                          <a:pt x="620" y="540"/>
                        </a:cubicBezTo>
                        <a:cubicBezTo>
                          <a:pt x="615" y="547"/>
                          <a:pt x="615" y="547"/>
                          <a:pt x="615" y="547"/>
                        </a:cubicBezTo>
                        <a:cubicBezTo>
                          <a:pt x="668" y="600"/>
                          <a:pt x="668" y="600"/>
                          <a:pt x="668" y="600"/>
                        </a:cubicBezTo>
                        <a:cubicBezTo>
                          <a:pt x="672" y="606"/>
                          <a:pt x="672" y="613"/>
                          <a:pt x="668" y="617"/>
                        </a:cubicBezTo>
                        <a:cubicBezTo>
                          <a:pt x="618" y="667"/>
                          <a:pt x="618" y="667"/>
                          <a:pt x="618" y="667"/>
                        </a:cubicBezTo>
                        <a:cubicBezTo>
                          <a:pt x="614" y="671"/>
                          <a:pt x="606" y="671"/>
                          <a:pt x="602" y="667"/>
                        </a:cubicBezTo>
                        <a:cubicBezTo>
                          <a:pt x="548" y="614"/>
                          <a:pt x="548" y="614"/>
                          <a:pt x="548" y="614"/>
                        </a:cubicBezTo>
                        <a:cubicBezTo>
                          <a:pt x="540" y="619"/>
                          <a:pt x="540" y="619"/>
                          <a:pt x="540" y="619"/>
                        </a:cubicBezTo>
                        <a:cubicBezTo>
                          <a:pt x="510" y="639"/>
                          <a:pt x="478" y="652"/>
                          <a:pt x="442" y="660"/>
                        </a:cubicBezTo>
                        <a:cubicBezTo>
                          <a:pt x="433" y="662"/>
                          <a:pt x="433" y="662"/>
                          <a:pt x="433" y="662"/>
                        </a:cubicBezTo>
                        <a:cubicBezTo>
                          <a:pt x="433" y="737"/>
                          <a:pt x="433" y="737"/>
                          <a:pt x="433" y="737"/>
                        </a:cubicBezTo>
                        <a:cubicBezTo>
                          <a:pt x="433" y="743"/>
                          <a:pt x="428" y="748"/>
                          <a:pt x="421" y="748"/>
                        </a:cubicBezTo>
                        <a:cubicBezTo>
                          <a:pt x="352" y="748"/>
                          <a:pt x="352" y="748"/>
                          <a:pt x="352" y="748"/>
                        </a:cubicBezTo>
                        <a:cubicBezTo>
                          <a:pt x="344" y="748"/>
                          <a:pt x="339" y="743"/>
                          <a:pt x="339" y="737"/>
                        </a:cubicBezTo>
                        <a:cubicBezTo>
                          <a:pt x="339" y="662"/>
                          <a:pt x="339" y="662"/>
                          <a:pt x="339" y="662"/>
                        </a:cubicBezTo>
                        <a:cubicBezTo>
                          <a:pt x="330" y="660"/>
                          <a:pt x="330" y="660"/>
                          <a:pt x="330" y="660"/>
                        </a:cubicBezTo>
                        <a:cubicBezTo>
                          <a:pt x="295" y="652"/>
                          <a:pt x="262" y="639"/>
                          <a:pt x="232" y="619"/>
                        </a:cubicBezTo>
                        <a:cubicBezTo>
                          <a:pt x="225" y="614"/>
                          <a:pt x="225" y="614"/>
                          <a:pt x="225" y="614"/>
                        </a:cubicBezTo>
                        <a:cubicBezTo>
                          <a:pt x="172" y="667"/>
                          <a:pt x="172" y="667"/>
                          <a:pt x="172" y="667"/>
                        </a:cubicBezTo>
                        <a:cubicBezTo>
                          <a:pt x="167" y="671"/>
                          <a:pt x="159" y="671"/>
                          <a:pt x="155" y="667"/>
                        </a:cubicBezTo>
                        <a:cubicBezTo>
                          <a:pt x="105" y="617"/>
                          <a:pt x="105" y="617"/>
                          <a:pt x="105" y="617"/>
                        </a:cubicBezTo>
                        <a:cubicBezTo>
                          <a:pt x="101" y="613"/>
                          <a:pt x="101" y="606"/>
                          <a:pt x="105" y="600"/>
                        </a:cubicBezTo>
                        <a:cubicBezTo>
                          <a:pt x="158" y="547"/>
                          <a:pt x="158" y="547"/>
                          <a:pt x="158" y="547"/>
                        </a:cubicBezTo>
                        <a:cubicBezTo>
                          <a:pt x="153" y="540"/>
                          <a:pt x="153" y="540"/>
                          <a:pt x="153" y="540"/>
                        </a:cubicBezTo>
                        <a:cubicBezTo>
                          <a:pt x="133" y="510"/>
                          <a:pt x="119" y="476"/>
                          <a:pt x="112" y="442"/>
                        </a:cubicBezTo>
                        <a:cubicBezTo>
                          <a:pt x="110" y="433"/>
                          <a:pt x="110" y="433"/>
                          <a:pt x="110" y="433"/>
                        </a:cubicBezTo>
                        <a:cubicBezTo>
                          <a:pt x="35" y="433"/>
                          <a:pt x="35" y="433"/>
                          <a:pt x="35" y="433"/>
                        </a:cubicBezTo>
                        <a:cubicBezTo>
                          <a:pt x="29" y="433"/>
                          <a:pt x="24" y="427"/>
                          <a:pt x="24" y="421"/>
                        </a:cubicBezTo>
                        <a:cubicBezTo>
                          <a:pt x="24" y="350"/>
                          <a:pt x="24" y="350"/>
                          <a:pt x="24" y="350"/>
                        </a:cubicBezTo>
                        <a:cubicBezTo>
                          <a:pt x="24" y="344"/>
                          <a:pt x="29" y="339"/>
                          <a:pt x="35" y="339"/>
                        </a:cubicBezTo>
                        <a:cubicBezTo>
                          <a:pt x="110" y="339"/>
                          <a:pt x="110" y="339"/>
                          <a:pt x="110" y="339"/>
                        </a:cubicBezTo>
                        <a:cubicBezTo>
                          <a:pt x="112" y="330"/>
                          <a:pt x="112" y="330"/>
                          <a:pt x="112" y="330"/>
                        </a:cubicBezTo>
                        <a:cubicBezTo>
                          <a:pt x="119" y="294"/>
                          <a:pt x="133" y="262"/>
                          <a:pt x="153" y="232"/>
                        </a:cubicBezTo>
                        <a:cubicBezTo>
                          <a:pt x="158" y="223"/>
                          <a:pt x="158" y="223"/>
                          <a:pt x="158" y="223"/>
                        </a:cubicBezTo>
                        <a:cubicBezTo>
                          <a:pt x="105" y="170"/>
                          <a:pt x="105" y="170"/>
                          <a:pt x="105" y="170"/>
                        </a:cubicBezTo>
                        <a:cubicBezTo>
                          <a:pt x="103" y="168"/>
                          <a:pt x="102" y="165"/>
                          <a:pt x="102" y="162"/>
                        </a:cubicBezTo>
                        <a:cubicBezTo>
                          <a:pt x="102" y="159"/>
                          <a:pt x="103" y="156"/>
                          <a:pt x="105" y="154"/>
                        </a:cubicBezTo>
                        <a:cubicBezTo>
                          <a:pt x="155" y="105"/>
                          <a:pt x="155" y="105"/>
                          <a:pt x="155" y="105"/>
                        </a:cubicBezTo>
                        <a:cubicBezTo>
                          <a:pt x="157" y="102"/>
                          <a:pt x="160" y="101"/>
                          <a:pt x="163" y="101"/>
                        </a:cubicBezTo>
                        <a:cubicBezTo>
                          <a:pt x="166" y="101"/>
                          <a:pt x="169" y="102"/>
                          <a:pt x="172" y="105"/>
                        </a:cubicBezTo>
                        <a:cubicBezTo>
                          <a:pt x="225" y="158"/>
                          <a:pt x="225" y="158"/>
                          <a:pt x="225" y="158"/>
                        </a:cubicBezTo>
                        <a:cubicBezTo>
                          <a:pt x="232" y="153"/>
                          <a:pt x="232" y="153"/>
                          <a:pt x="232" y="153"/>
                        </a:cubicBezTo>
                        <a:cubicBezTo>
                          <a:pt x="262" y="133"/>
                          <a:pt x="295" y="118"/>
                          <a:pt x="330" y="112"/>
                        </a:cubicBezTo>
                        <a:cubicBezTo>
                          <a:pt x="339" y="110"/>
                          <a:pt x="339" y="110"/>
                          <a:pt x="339" y="110"/>
                        </a:cubicBezTo>
                        <a:cubicBezTo>
                          <a:pt x="339" y="35"/>
                          <a:pt x="339" y="35"/>
                          <a:pt x="339" y="35"/>
                        </a:cubicBezTo>
                        <a:cubicBezTo>
                          <a:pt x="339" y="28"/>
                          <a:pt x="345" y="23"/>
                          <a:pt x="352" y="23"/>
                        </a:cubicBezTo>
                        <a:cubicBezTo>
                          <a:pt x="421" y="23"/>
                          <a:pt x="421" y="23"/>
                          <a:pt x="421" y="23"/>
                        </a:cubicBezTo>
                        <a:cubicBezTo>
                          <a:pt x="428" y="23"/>
                          <a:pt x="433" y="28"/>
                          <a:pt x="433" y="35"/>
                        </a:cubicBezTo>
                        <a:cubicBezTo>
                          <a:pt x="433" y="110"/>
                          <a:pt x="433" y="110"/>
                          <a:pt x="433" y="110"/>
                        </a:cubicBezTo>
                        <a:cubicBezTo>
                          <a:pt x="442" y="112"/>
                          <a:pt x="442" y="112"/>
                          <a:pt x="442" y="112"/>
                        </a:cubicBezTo>
                        <a:cubicBezTo>
                          <a:pt x="478" y="118"/>
                          <a:pt x="511" y="133"/>
                          <a:pt x="540" y="153"/>
                        </a:cubicBezTo>
                        <a:cubicBezTo>
                          <a:pt x="548" y="158"/>
                          <a:pt x="548" y="158"/>
                          <a:pt x="548" y="158"/>
                        </a:cubicBezTo>
                        <a:cubicBezTo>
                          <a:pt x="602" y="104"/>
                          <a:pt x="602" y="104"/>
                          <a:pt x="602" y="104"/>
                        </a:cubicBezTo>
                        <a:cubicBezTo>
                          <a:pt x="606" y="100"/>
                          <a:pt x="614" y="100"/>
                          <a:pt x="618" y="105"/>
                        </a:cubicBezTo>
                        <a:cubicBezTo>
                          <a:pt x="668" y="154"/>
                          <a:pt x="668" y="154"/>
                          <a:pt x="668" y="154"/>
                        </a:cubicBezTo>
                        <a:cubicBezTo>
                          <a:pt x="670" y="156"/>
                          <a:pt x="671" y="159"/>
                          <a:pt x="671" y="162"/>
                        </a:cubicBezTo>
                        <a:cubicBezTo>
                          <a:pt x="671" y="165"/>
                          <a:pt x="670" y="168"/>
                          <a:pt x="668" y="170"/>
                        </a:cubicBezTo>
                        <a:cubicBezTo>
                          <a:pt x="615" y="223"/>
                          <a:pt x="615" y="223"/>
                          <a:pt x="615" y="223"/>
                        </a:cubicBezTo>
                        <a:cubicBezTo>
                          <a:pt x="620" y="232"/>
                          <a:pt x="620" y="232"/>
                          <a:pt x="620" y="232"/>
                        </a:cubicBezTo>
                        <a:cubicBezTo>
                          <a:pt x="640" y="262"/>
                          <a:pt x="654" y="294"/>
                          <a:pt x="661" y="330"/>
                        </a:cubicBezTo>
                        <a:cubicBezTo>
                          <a:pt x="662" y="339"/>
                          <a:pt x="662" y="339"/>
                          <a:pt x="662" y="339"/>
                        </a:cubicBezTo>
                        <a:cubicBezTo>
                          <a:pt x="738" y="339"/>
                          <a:pt x="738" y="339"/>
                          <a:pt x="738" y="339"/>
                        </a:cubicBezTo>
                        <a:cubicBezTo>
                          <a:pt x="744" y="339"/>
                          <a:pt x="749" y="344"/>
                          <a:pt x="749" y="350"/>
                        </a:cubicBezTo>
                        <a:lnTo>
                          <a:pt x="749" y="42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spTree>
    <p:extLst>
      <p:ext uri="{BB962C8B-B14F-4D97-AF65-F5344CB8AC3E}">
        <p14:creationId xmlns:p14="http://schemas.microsoft.com/office/powerpoint/2010/main" val="1284637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Global trends are affecting the management of business content</a:t>
            </a:r>
            <a:endParaRPr lang="en-US" dirty="0"/>
          </a:p>
        </p:txBody>
      </p:sp>
      <p:grpSp>
        <p:nvGrpSpPr>
          <p:cNvPr id="8" name="Group 7"/>
          <p:cNvGrpSpPr/>
          <p:nvPr/>
        </p:nvGrpSpPr>
        <p:grpSpPr>
          <a:xfrm>
            <a:off x="9611820" y="2322945"/>
            <a:ext cx="2025802" cy="1800633"/>
            <a:chOff x="9611820" y="2322945"/>
            <a:chExt cx="2025802" cy="1800633"/>
          </a:xfrm>
        </p:grpSpPr>
        <p:sp>
          <p:nvSpPr>
            <p:cNvPr id="38" name="L-Shape 37"/>
            <p:cNvSpPr/>
            <p:nvPr/>
          </p:nvSpPr>
          <p:spPr>
            <a:xfrm rot="5400000">
              <a:off x="10015190" y="1919575"/>
              <a:ext cx="1215010" cy="2021749"/>
            </a:xfrm>
            <a:prstGeom prst="corner">
              <a:avLst>
                <a:gd name="adj1" fmla="val 16120"/>
                <a:gd name="adj2" fmla="val 161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39" name="Freeform 38"/>
            <p:cNvSpPr/>
            <p:nvPr/>
          </p:nvSpPr>
          <p:spPr>
            <a:xfrm>
              <a:off x="9812375" y="2523642"/>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defTabSz="711200">
                <a:lnSpc>
                  <a:spcPct val="90000"/>
                </a:lnSpc>
                <a:spcBef>
                  <a:spcPct val="0"/>
                </a:spcBef>
                <a:spcAft>
                  <a:spcPct val="35000"/>
                </a:spcAft>
              </a:pPr>
              <a:r>
                <a:rPr lang="en-AU" sz="1600" dirty="0">
                  <a:solidFill>
                    <a:prstClr val="black">
                      <a:hueOff val="0"/>
                      <a:satOff val="0"/>
                      <a:lumOff val="0"/>
                      <a:alphaOff val="0"/>
                    </a:prstClr>
                  </a:solidFill>
                </a:rPr>
                <a:t>Global Transparency</a:t>
              </a:r>
              <a:endParaRPr lang="en-US" sz="16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Statutory compliance</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Privacy &amp; security</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Safe Harbor, GDPR</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Auditable records/archive</a:t>
              </a:r>
            </a:p>
          </p:txBody>
        </p:sp>
      </p:grpSp>
      <p:grpSp>
        <p:nvGrpSpPr>
          <p:cNvPr id="7" name="Group 6"/>
          <p:cNvGrpSpPr/>
          <p:nvPr/>
        </p:nvGrpSpPr>
        <p:grpSpPr>
          <a:xfrm>
            <a:off x="7377361" y="2323650"/>
            <a:ext cx="2025802" cy="2352847"/>
            <a:chOff x="7377361" y="2323650"/>
            <a:chExt cx="2025802" cy="2352847"/>
          </a:xfrm>
        </p:grpSpPr>
        <p:sp>
          <p:nvSpPr>
            <p:cNvPr id="35" name="L-Shape 34"/>
            <p:cNvSpPr/>
            <p:nvPr/>
          </p:nvSpPr>
          <p:spPr>
            <a:xfrm rot="5400000">
              <a:off x="7780731" y="2472494"/>
              <a:ext cx="1215010" cy="2021749"/>
            </a:xfrm>
            <a:prstGeom prst="corner">
              <a:avLst>
                <a:gd name="adj1" fmla="val 16120"/>
                <a:gd name="adj2" fmla="val 161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6" name="Freeform 35"/>
            <p:cNvSpPr/>
            <p:nvPr/>
          </p:nvSpPr>
          <p:spPr>
            <a:xfrm>
              <a:off x="7577916" y="3076561"/>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defTabSz="711200">
                <a:lnSpc>
                  <a:spcPct val="90000"/>
                </a:lnSpc>
                <a:spcBef>
                  <a:spcPct val="0"/>
                </a:spcBef>
                <a:spcAft>
                  <a:spcPct val="35000"/>
                </a:spcAft>
              </a:pPr>
              <a:r>
                <a:rPr lang="en-AU" sz="1600" dirty="0">
                  <a:solidFill>
                    <a:prstClr val="black">
                      <a:hueOff val="0"/>
                      <a:satOff val="0"/>
                      <a:lumOff val="0"/>
                      <a:alphaOff val="0"/>
                    </a:prstClr>
                  </a:solidFill>
                </a:rPr>
                <a:t>Cloud</a:t>
              </a:r>
              <a:endParaRPr lang="en-US" sz="16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Cost of legacy systems</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Scalability &amp; flexibility</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Data sovereignty</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Private, Public or Hybrid</a:t>
              </a:r>
            </a:p>
          </p:txBody>
        </p:sp>
        <p:sp>
          <p:nvSpPr>
            <p:cNvPr id="37" name="Isosceles Triangle 36"/>
            <p:cNvSpPr/>
            <p:nvPr/>
          </p:nvSpPr>
          <p:spPr>
            <a:xfrm>
              <a:off x="9058777" y="2323650"/>
              <a:ext cx="344386" cy="344386"/>
            </a:xfrm>
            <a:prstGeom prst="triangle">
              <a:avLst>
                <a:gd name="adj" fmla="val 100000"/>
              </a:avLst>
            </a:prstGeom>
            <a:solidFill>
              <a:srgbClr val="7424AD"/>
            </a:solidFill>
            <a:ln>
              <a:solidFill>
                <a:srgbClr val="7424AD"/>
              </a:solid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grpSp>
      <p:grpSp>
        <p:nvGrpSpPr>
          <p:cNvPr id="6" name="Group 5"/>
          <p:cNvGrpSpPr/>
          <p:nvPr/>
        </p:nvGrpSpPr>
        <p:grpSpPr>
          <a:xfrm>
            <a:off x="5142902" y="2876569"/>
            <a:ext cx="2025802" cy="2352847"/>
            <a:chOff x="5142902" y="2876569"/>
            <a:chExt cx="2025802" cy="2352847"/>
          </a:xfrm>
        </p:grpSpPr>
        <p:sp>
          <p:nvSpPr>
            <p:cNvPr id="32" name="L-Shape 31"/>
            <p:cNvSpPr/>
            <p:nvPr/>
          </p:nvSpPr>
          <p:spPr>
            <a:xfrm rot="5400000">
              <a:off x="5546272" y="3025413"/>
              <a:ext cx="1215010" cy="2021749"/>
            </a:xfrm>
            <a:prstGeom prst="corner">
              <a:avLst>
                <a:gd name="adj1" fmla="val 16120"/>
                <a:gd name="adj2" fmla="val 161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33" name="Freeform 32"/>
            <p:cNvSpPr/>
            <p:nvPr/>
          </p:nvSpPr>
          <p:spPr>
            <a:xfrm>
              <a:off x="5343457" y="3629480"/>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defTabSz="711200">
                <a:lnSpc>
                  <a:spcPct val="90000"/>
                </a:lnSpc>
                <a:spcBef>
                  <a:spcPct val="0"/>
                </a:spcBef>
                <a:spcAft>
                  <a:spcPct val="35000"/>
                </a:spcAft>
              </a:pPr>
              <a:r>
                <a:rPr lang="en-AU" sz="1600" dirty="0">
                  <a:solidFill>
                    <a:prstClr val="black">
                      <a:hueOff val="0"/>
                      <a:satOff val="0"/>
                      <a:lumOff val="0"/>
                      <a:alphaOff val="0"/>
                    </a:prstClr>
                  </a:solidFill>
                </a:rPr>
                <a:t>Mobility</a:t>
              </a:r>
              <a:endParaRPr lang="en-US" sz="16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Access anywhere</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Range of devices</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Support field workers</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Asset management</a:t>
              </a:r>
              <a:endParaRPr lang="en-US" sz="1200" dirty="0">
                <a:solidFill>
                  <a:prstClr val="black">
                    <a:hueOff val="0"/>
                    <a:satOff val="0"/>
                    <a:lumOff val="0"/>
                    <a:alphaOff val="0"/>
                  </a:prstClr>
                </a:solidFill>
              </a:endParaRPr>
            </a:p>
          </p:txBody>
        </p:sp>
        <p:sp>
          <p:nvSpPr>
            <p:cNvPr id="34" name="Isosceles Triangle 33"/>
            <p:cNvSpPr/>
            <p:nvPr/>
          </p:nvSpPr>
          <p:spPr>
            <a:xfrm>
              <a:off x="6824318" y="2876569"/>
              <a:ext cx="344386" cy="344386"/>
            </a:xfrm>
            <a:prstGeom prst="triangle">
              <a:avLst>
                <a:gd name="adj" fmla="val 100000"/>
              </a:avLst>
            </a:prstGeom>
            <a:solidFill>
              <a:srgbClr val="2FD6C3"/>
            </a:solidFill>
            <a:ln>
              <a:solidFill>
                <a:srgbClr val="2FD6C3"/>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grpSp>
      <p:grpSp>
        <p:nvGrpSpPr>
          <p:cNvPr id="3" name="Group 2"/>
          <p:cNvGrpSpPr/>
          <p:nvPr/>
        </p:nvGrpSpPr>
        <p:grpSpPr>
          <a:xfrm>
            <a:off x="673984" y="3982407"/>
            <a:ext cx="2025801" cy="2352848"/>
            <a:chOff x="673984" y="3982407"/>
            <a:chExt cx="2025801" cy="2352848"/>
          </a:xfrm>
        </p:grpSpPr>
        <p:sp>
          <p:nvSpPr>
            <p:cNvPr id="26" name="L-Shape 25"/>
            <p:cNvSpPr/>
            <p:nvPr/>
          </p:nvSpPr>
          <p:spPr>
            <a:xfrm rot="5400000">
              <a:off x="1077354" y="4131251"/>
              <a:ext cx="1215010" cy="2021749"/>
            </a:xfrm>
            <a:prstGeom prst="corner">
              <a:avLst>
                <a:gd name="adj1" fmla="val 16120"/>
                <a:gd name="adj2" fmla="val 161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7" name="Freeform 26"/>
            <p:cNvSpPr/>
            <p:nvPr/>
          </p:nvSpPr>
          <p:spPr>
            <a:xfrm>
              <a:off x="874538" y="4735319"/>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defTabSz="711200">
                <a:lnSpc>
                  <a:spcPct val="90000"/>
                </a:lnSpc>
                <a:spcBef>
                  <a:spcPct val="0"/>
                </a:spcBef>
                <a:spcAft>
                  <a:spcPct val="35000"/>
                </a:spcAft>
              </a:pPr>
              <a:r>
                <a:rPr lang="en-AU" sz="1600" dirty="0">
                  <a:solidFill>
                    <a:prstClr val="black">
                      <a:hueOff val="0"/>
                      <a:satOff val="0"/>
                      <a:lumOff val="0"/>
                      <a:alphaOff val="0"/>
                    </a:prstClr>
                  </a:solidFill>
                </a:rPr>
                <a:t>Evolving Services</a:t>
              </a:r>
              <a:endParaRPr lang="en-US" sz="16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Online 24/7</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Single view</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Timeliness &amp; accuracy</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Efficiency of service</a:t>
              </a:r>
              <a:endParaRPr lang="en-US" sz="12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AU" sz="1200" dirty="0">
                  <a:solidFill>
                    <a:prstClr val="black">
                      <a:hueOff val="0"/>
                      <a:satOff val="0"/>
                      <a:lumOff val="0"/>
                      <a:alphaOff val="0"/>
                    </a:prstClr>
                  </a:solidFill>
                </a:rPr>
                <a:t>Productivity &amp; delivery</a:t>
              </a:r>
              <a:endParaRPr lang="en-US" sz="1200" dirty="0">
                <a:solidFill>
                  <a:prstClr val="black">
                    <a:hueOff val="0"/>
                    <a:satOff val="0"/>
                    <a:lumOff val="0"/>
                    <a:alphaOff val="0"/>
                  </a:prstClr>
                </a:solidFill>
              </a:endParaRPr>
            </a:p>
          </p:txBody>
        </p:sp>
        <p:sp>
          <p:nvSpPr>
            <p:cNvPr id="28" name="Isosceles Triangle 27"/>
            <p:cNvSpPr/>
            <p:nvPr/>
          </p:nvSpPr>
          <p:spPr>
            <a:xfrm>
              <a:off x="2355399" y="3982407"/>
              <a:ext cx="344386" cy="344386"/>
            </a:xfrm>
            <a:prstGeom prst="triangle">
              <a:avLst>
                <a:gd name="adj" fmla="val 100000"/>
              </a:avLst>
            </a:prstGeom>
            <a:solidFill>
              <a:srgbClr val="231CA5"/>
            </a:solidFill>
            <a:ln>
              <a:solidFill>
                <a:srgbClr val="231CA5"/>
              </a:solid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grpSp>
      <p:grpSp>
        <p:nvGrpSpPr>
          <p:cNvPr id="5" name="Group 4"/>
          <p:cNvGrpSpPr/>
          <p:nvPr/>
        </p:nvGrpSpPr>
        <p:grpSpPr>
          <a:xfrm>
            <a:off x="2908443" y="3429488"/>
            <a:ext cx="2025801" cy="2352847"/>
            <a:chOff x="2908443" y="3429488"/>
            <a:chExt cx="2025801" cy="2352847"/>
          </a:xfrm>
        </p:grpSpPr>
        <p:sp>
          <p:nvSpPr>
            <p:cNvPr id="29" name="L-Shape 28"/>
            <p:cNvSpPr/>
            <p:nvPr/>
          </p:nvSpPr>
          <p:spPr>
            <a:xfrm rot="5400000">
              <a:off x="3311813" y="3578332"/>
              <a:ext cx="1215010" cy="2021749"/>
            </a:xfrm>
            <a:prstGeom prst="corner">
              <a:avLst>
                <a:gd name="adj1" fmla="val 16120"/>
                <a:gd name="adj2" fmla="val 161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0" name="Freeform 29"/>
            <p:cNvSpPr/>
            <p:nvPr/>
          </p:nvSpPr>
          <p:spPr>
            <a:xfrm>
              <a:off x="3108997" y="4182399"/>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defTabSz="711200">
                <a:lnSpc>
                  <a:spcPct val="90000"/>
                </a:lnSpc>
                <a:spcBef>
                  <a:spcPct val="0"/>
                </a:spcBef>
                <a:spcAft>
                  <a:spcPct val="35000"/>
                </a:spcAft>
              </a:pPr>
              <a:r>
                <a:rPr lang="en-AU" sz="1600" dirty="0">
                  <a:solidFill>
                    <a:prstClr val="black">
                      <a:hueOff val="0"/>
                      <a:satOff val="0"/>
                      <a:lumOff val="0"/>
                      <a:alphaOff val="0"/>
                    </a:prstClr>
                  </a:solidFill>
                </a:rPr>
                <a:t>Digital Transformation</a:t>
              </a:r>
              <a:endParaRPr lang="en-US" sz="1600" dirty="0">
                <a:solidFill>
                  <a:prstClr val="black">
                    <a:hueOff val="0"/>
                    <a:satOff val="0"/>
                    <a:lumOff val="0"/>
                    <a:alphaOff val="0"/>
                  </a:prstClr>
                </a:solidFill>
              </a:endParaRP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Cost to manage paper</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Manual vs Automation</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Volume &amp; variety</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Streamlined processes</a:t>
              </a:r>
            </a:p>
            <a:p>
              <a:pPr marL="114300" lvl="1" indent="-114300" defTabSz="533400">
                <a:lnSpc>
                  <a:spcPct val="90000"/>
                </a:lnSpc>
                <a:spcBef>
                  <a:spcPct val="0"/>
                </a:spcBef>
                <a:spcAft>
                  <a:spcPct val="15000"/>
                </a:spcAft>
                <a:buFontTx/>
                <a:buChar char="••"/>
              </a:pPr>
              <a:r>
                <a:rPr lang="en-US" sz="1200" dirty="0">
                  <a:solidFill>
                    <a:prstClr val="black">
                      <a:hueOff val="0"/>
                      <a:satOff val="0"/>
                      <a:lumOff val="0"/>
                      <a:alphaOff val="0"/>
                    </a:prstClr>
                  </a:solidFill>
                </a:rPr>
                <a:t>Long term accessibility </a:t>
              </a:r>
            </a:p>
          </p:txBody>
        </p:sp>
        <p:sp>
          <p:nvSpPr>
            <p:cNvPr id="31" name="Isosceles Triangle 30"/>
            <p:cNvSpPr/>
            <p:nvPr/>
          </p:nvSpPr>
          <p:spPr>
            <a:xfrm>
              <a:off x="4589858" y="3429488"/>
              <a:ext cx="344386" cy="344386"/>
            </a:xfrm>
            <a:prstGeom prst="triangle">
              <a:avLst>
                <a:gd name="adj" fmla="val 100000"/>
              </a:avLst>
            </a:prstGeom>
            <a:solidFill>
              <a:srgbClr val="C6179D"/>
            </a:solidFill>
            <a:ln>
              <a:solidFill>
                <a:srgbClr val="C6179D"/>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grpSp>
    </p:spTree>
    <p:extLst>
      <p:ext uri="{BB962C8B-B14F-4D97-AF65-F5344CB8AC3E}">
        <p14:creationId xmlns:p14="http://schemas.microsoft.com/office/powerpoint/2010/main" val="147293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Challenges </a:t>
            </a:r>
          </a:p>
        </p:txBody>
      </p:sp>
    </p:spTree>
    <p:extLst>
      <p:ext uri="{BB962C8B-B14F-4D97-AF65-F5344CB8AC3E}">
        <p14:creationId xmlns:p14="http://schemas.microsoft.com/office/powerpoint/2010/main" val="99907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changing enterprise content management landscape</a:t>
            </a:r>
            <a:endParaRPr lang="en-US" dirty="0"/>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7</a:t>
            </a:fld>
            <a:endParaRPr lang="en-US">
              <a:solidFill>
                <a:srgbClr val="617D78"/>
              </a:solidFill>
            </a:endParaRPr>
          </a:p>
        </p:txBody>
      </p:sp>
      <p:grpSp>
        <p:nvGrpSpPr>
          <p:cNvPr id="8" name="Group 7"/>
          <p:cNvGrpSpPr/>
          <p:nvPr/>
        </p:nvGrpSpPr>
        <p:grpSpPr>
          <a:xfrm>
            <a:off x="9611820" y="2089030"/>
            <a:ext cx="2025802" cy="1800633"/>
            <a:chOff x="9611820" y="2322945"/>
            <a:chExt cx="2025802" cy="1800633"/>
          </a:xfrm>
        </p:grpSpPr>
        <p:sp>
          <p:nvSpPr>
            <p:cNvPr id="38" name="L-Shape 37"/>
            <p:cNvSpPr/>
            <p:nvPr/>
          </p:nvSpPr>
          <p:spPr>
            <a:xfrm rot="5400000">
              <a:off x="10015190" y="1919575"/>
              <a:ext cx="1215010" cy="2021749"/>
            </a:xfrm>
            <a:prstGeom prst="corner">
              <a:avLst>
                <a:gd name="adj1" fmla="val 16120"/>
                <a:gd name="adj2" fmla="val 16110"/>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39" name="Freeform 38"/>
            <p:cNvSpPr/>
            <p:nvPr/>
          </p:nvSpPr>
          <p:spPr>
            <a:xfrm>
              <a:off x="9812375" y="2523642"/>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r>
                <a:rPr lang="en-GB" sz="2400" b="1" dirty="0">
                  <a:solidFill>
                    <a:prstClr val="black">
                      <a:hueOff val="0"/>
                      <a:satOff val="0"/>
                      <a:lumOff val="0"/>
                      <a:alphaOff val="0"/>
                    </a:prstClr>
                  </a:solidFill>
                </a:rPr>
                <a:t>Privacy &amp; Security</a:t>
              </a:r>
              <a:endParaRPr lang="en-US" sz="2400" b="1" dirty="0">
                <a:solidFill>
                  <a:prstClr val="black">
                    <a:hueOff val="0"/>
                    <a:satOff val="0"/>
                    <a:lumOff val="0"/>
                    <a:alphaOff val="0"/>
                  </a:prstClr>
                </a:solidFill>
              </a:endParaRPr>
            </a:p>
          </p:txBody>
        </p:sp>
      </p:grpSp>
      <p:grpSp>
        <p:nvGrpSpPr>
          <p:cNvPr id="7" name="Group 6"/>
          <p:cNvGrpSpPr/>
          <p:nvPr/>
        </p:nvGrpSpPr>
        <p:grpSpPr>
          <a:xfrm>
            <a:off x="7377361" y="2089735"/>
            <a:ext cx="2025802" cy="2352847"/>
            <a:chOff x="7377361" y="2323650"/>
            <a:chExt cx="2025802" cy="2352847"/>
          </a:xfrm>
        </p:grpSpPr>
        <p:sp>
          <p:nvSpPr>
            <p:cNvPr id="35" name="L-Shape 34"/>
            <p:cNvSpPr/>
            <p:nvPr/>
          </p:nvSpPr>
          <p:spPr>
            <a:xfrm rot="5400000">
              <a:off x="7780731" y="2472494"/>
              <a:ext cx="1215010" cy="2021749"/>
            </a:xfrm>
            <a:prstGeom prst="corner">
              <a:avLst>
                <a:gd name="adj1" fmla="val 16120"/>
                <a:gd name="adj2" fmla="val 16110"/>
              </a:avLst>
            </a:pr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36" name="Freeform 35"/>
            <p:cNvSpPr/>
            <p:nvPr/>
          </p:nvSpPr>
          <p:spPr>
            <a:xfrm>
              <a:off x="7577916" y="3076561"/>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r>
                <a:rPr lang="en-GB" sz="2400" b="1" dirty="0">
                  <a:solidFill>
                    <a:prstClr val="black">
                      <a:hueOff val="0"/>
                      <a:satOff val="0"/>
                      <a:lumOff val="0"/>
                      <a:alphaOff val="0"/>
                    </a:prstClr>
                  </a:solidFill>
                </a:rPr>
                <a:t>Cost</a:t>
              </a:r>
              <a:endParaRPr lang="en-US" sz="2400" b="1" dirty="0">
                <a:solidFill>
                  <a:prstClr val="black">
                    <a:hueOff val="0"/>
                    <a:satOff val="0"/>
                    <a:lumOff val="0"/>
                    <a:alphaOff val="0"/>
                  </a:prstClr>
                </a:solidFill>
              </a:endParaRPr>
            </a:p>
          </p:txBody>
        </p:sp>
        <p:sp>
          <p:nvSpPr>
            <p:cNvPr id="37" name="Isosceles Triangle 36"/>
            <p:cNvSpPr/>
            <p:nvPr/>
          </p:nvSpPr>
          <p:spPr>
            <a:xfrm>
              <a:off x="9058777" y="2323650"/>
              <a:ext cx="344386" cy="344386"/>
            </a:xfrm>
            <a:prstGeom prst="triangle">
              <a:avLst>
                <a:gd name="adj" fmla="val 100000"/>
              </a:avLst>
            </a:prstGeom>
            <a:solidFill>
              <a:srgbClr val="7424AD"/>
            </a:solidFill>
            <a:ln>
              <a:solidFill>
                <a:srgbClr val="7424AD"/>
              </a:solidFill>
            </a:ln>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grpSp>
      <p:grpSp>
        <p:nvGrpSpPr>
          <p:cNvPr id="6" name="Group 5"/>
          <p:cNvGrpSpPr/>
          <p:nvPr/>
        </p:nvGrpSpPr>
        <p:grpSpPr>
          <a:xfrm>
            <a:off x="5142902" y="2642654"/>
            <a:ext cx="2025802" cy="2352847"/>
            <a:chOff x="5142902" y="2876569"/>
            <a:chExt cx="2025802" cy="2352847"/>
          </a:xfrm>
        </p:grpSpPr>
        <p:sp>
          <p:nvSpPr>
            <p:cNvPr id="32" name="L-Shape 31"/>
            <p:cNvSpPr/>
            <p:nvPr/>
          </p:nvSpPr>
          <p:spPr>
            <a:xfrm rot="5400000">
              <a:off x="5546272" y="3025413"/>
              <a:ext cx="1215010" cy="2021749"/>
            </a:xfrm>
            <a:prstGeom prst="corner">
              <a:avLst>
                <a:gd name="adj1" fmla="val 16120"/>
                <a:gd name="adj2" fmla="val 16110"/>
              </a:avLst>
            </a:prstGeom>
          </p:spPr>
          <p:style>
            <a:lnRef idx="2">
              <a:schemeClr val="accent6">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33" name="Freeform 32"/>
            <p:cNvSpPr/>
            <p:nvPr/>
          </p:nvSpPr>
          <p:spPr>
            <a:xfrm>
              <a:off x="5343457" y="3629480"/>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r>
                <a:rPr lang="en-GB" sz="2400" b="1" dirty="0">
                  <a:solidFill>
                    <a:prstClr val="black">
                      <a:hueOff val="0"/>
                      <a:satOff val="0"/>
                      <a:lumOff val="0"/>
                      <a:alphaOff val="0"/>
                    </a:prstClr>
                  </a:solidFill>
                </a:rPr>
                <a:t>Productivity</a:t>
              </a:r>
              <a:endParaRPr lang="en-US" sz="2400" b="1" dirty="0">
                <a:solidFill>
                  <a:prstClr val="black">
                    <a:hueOff val="0"/>
                    <a:satOff val="0"/>
                    <a:lumOff val="0"/>
                    <a:alphaOff val="0"/>
                  </a:prstClr>
                </a:solidFill>
              </a:endParaRPr>
            </a:p>
          </p:txBody>
        </p:sp>
        <p:sp>
          <p:nvSpPr>
            <p:cNvPr id="34" name="Isosceles Triangle 33"/>
            <p:cNvSpPr/>
            <p:nvPr/>
          </p:nvSpPr>
          <p:spPr>
            <a:xfrm>
              <a:off x="6824318" y="2876569"/>
              <a:ext cx="344386" cy="344386"/>
            </a:xfrm>
            <a:prstGeom prst="triangle">
              <a:avLst>
                <a:gd name="adj" fmla="val 100000"/>
              </a:avLst>
            </a:prstGeom>
            <a:solidFill>
              <a:srgbClr val="2FD6C3"/>
            </a:solidFill>
            <a:ln>
              <a:solidFill>
                <a:srgbClr val="2FD6C3"/>
              </a:solidFill>
            </a:ln>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grpSp>
      <p:grpSp>
        <p:nvGrpSpPr>
          <p:cNvPr id="3" name="Group 2"/>
          <p:cNvGrpSpPr/>
          <p:nvPr/>
        </p:nvGrpSpPr>
        <p:grpSpPr>
          <a:xfrm>
            <a:off x="673984" y="3769757"/>
            <a:ext cx="2025801" cy="2352848"/>
            <a:chOff x="673984" y="3982407"/>
            <a:chExt cx="2025801" cy="2352848"/>
          </a:xfrm>
        </p:grpSpPr>
        <p:sp>
          <p:nvSpPr>
            <p:cNvPr id="26" name="L-Shape 25"/>
            <p:cNvSpPr/>
            <p:nvPr/>
          </p:nvSpPr>
          <p:spPr>
            <a:xfrm rot="5400000">
              <a:off x="1077354" y="4131251"/>
              <a:ext cx="1215010" cy="2021749"/>
            </a:xfrm>
            <a:prstGeom prst="corner">
              <a:avLst>
                <a:gd name="adj1" fmla="val 16120"/>
                <a:gd name="adj2" fmla="val 16110"/>
              </a:avLst>
            </a:pr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27" name="Freeform 26"/>
            <p:cNvSpPr/>
            <p:nvPr/>
          </p:nvSpPr>
          <p:spPr>
            <a:xfrm>
              <a:off x="874538" y="4735319"/>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r>
                <a:rPr lang="en-GB" sz="2400" b="1" dirty="0">
                  <a:solidFill>
                    <a:prstClr val="black">
                      <a:hueOff val="0"/>
                      <a:satOff val="0"/>
                      <a:lumOff val="0"/>
                      <a:alphaOff val="0"/>
                    </a:prstClr>
                  </a:solidFill>
                </a:rPr>
                <a:t>Customer Focus</a:t>
              </a:r>
              <a:endParaRPr lang="en-US" sz="2400" b="1" dirty="0">
                <a:solidFill>
                  <a:prstClr val="black">
                    <a:hueOff val="0"/>
                    <a:satOff val="0"/>
                    <a:lumOff val="0"/>
                    <a:alphaOff val="0"/>
                  </a:prstClr>
                </a:solidFill>
              </a:endParaRPr>
            </a:p>
          </p:txBody>
        </p:sp>
        <p:sp>
          <p:nvSpPr>
            <p:cNvPr id="28" name="Isosceles Triangle 27"/>
            <p:cNvSpPr/>
            <p:nvPr/>
          </p:nvSpPr>
          <p:spPr>
            <a:xfrm>
              <a:off x="2355399" y="3982407"/>
              <a:ext cx="344386" cy="344386"/>
            </a:xfrm>
            <a:prstGeom prst="triangle">
              <a:avLst>
                <a:gd name="adj" fmla="val 100000"/>
              </a:avLst>
            </a:prstGeom>
            <a:solidFill>
              <a:srgbClr val="231CA5"/>
            </a:solidFill>
            <a:ln>
              <a:solidFill>
                <a:srgbClr val="231CA5"/>
              </a:solidFill>
            </a:ln>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grpSp>
      <p:grpSp>
        <p:nvGrpSpPr>
          <p:cNvPr id="5" name="Group 4"/>
          <p:cNvGrpSpPr/>
          <p:nvPr/>
        </p:nvGrpSpPr>
        <p:grpSpPr>
          <a:xfrm>
            <a:off x="2908443" y="3195573"/>
            <a:ext cx="2025801" cy="2352847"/>
            <a:chOff x="2908443" y="3429488"/>
            <a:chExt cx="2025801" cy="2352847"/>
          </a:xfrm>
        </p:grpSpPr>
        <p:sp>
          <p:nvSpPr>
            <p:cNvPr id="29" name="L-Shape 28"/>
            <p:cNvSpPr/>
            <p:nvPr/>
          </p:nvSpPr>
          <p:spPr>
            <a:xfrm rot="5400000">
              <a:off x="3311813" y="3578332"/>
              <a:ext cx="1215010" cy="2021749"/>
            </a:xfrm>
            <a:prstGeom prst="corner">
              <a:avLst>
                <a:gd name="adj1" fmla="val 16120"/>
                <a:gd name="adj2" fmla="val 16110"/>
              </a:avLst>
            </a:pr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0" name="Freeform 29"/>
            <p:cNvSpPr/>
            <p:nvPr/>
          </p:nvSpPr>
          <p:spPr>
            <a:xfrm>
              <a:off x="3108997" y="4182399"/>
              <a:ext cx="1825247" cy="1599936"/>
            </a:xfrm>
            <a:custGeom>
              <a:avLst/>
              <a:gdLst>
                <a:gd name="connsiteX0" fmla="*/ 0 w 1825247"/>
                <a:gd name="connsiteY0" fmla="*/ 0 h 1599936"/>
                <a:gd name="connsiteX1" fmla="*/ 1825247 w 1825247"/>
                <a:gd name="connsiteY1" fmla="*/ 0 h 1599936"/>
                <a:gd name="connsiteX2" fmla="*/ 1825247 w 1825247"/>
                <a:gd name="connsiteY2" fmla="*/ 1599936 h 1599936"/>
                <a:gd name="connsiteX3" fmla="*/ 0 w 1825247"/>
                <a:gd name="connsiteY3" fmla="*/ 1599936 h 1599936"/>
                <a:gd name="connsiteX4" fmla="*/ 0 w 1825247"/>
                <a:gd name="connsiteY4" fmla="*/ 0 h 15999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247" h="1599936">
                  <a:moveTo>
                    <a:pt x="0" y="0"/>
                  </a:moveTo>
                  <a:lnTo>
                    <a:pt x="1825247" y="0"/>
                  </a:lnTo>
                  <a:lnTo>
                    <a:pt x="1825247" y="1599936"/>
                  </a:lnTo>
                  <a:lnTo>
                    <a:pt x="0" y="159993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60960" tIns="60960" rIns="60960" bIns="60960" numCol="1" spcCol="1270" anchor="t" anchorCtr="0">
              <a:noAutofit/>
            </a:bodyPr>
            <a:lstStyle/>
            <a:p>
              <a:pPr algn="ctr" defTabSz="711200">
                <a:lnSpc>
                  <a:spcPct val="90000"/>
                </a:lnSpc>
                <a:spcBef>
                  <a:spcPct val="0"/>
                </a:spcBef>
                <a:spcAft>
                  <a:spcPct val="35000"/>
                </a:spcAft>
              </a:pPr>
              <a:r>
                <a:rPr lang="en-GB" sz="2400" b="1" dirty="0">
                  <a:solidFill>
                    <a:prstClr val="black">
                      <a:hueOff val="0"/>
                      <a:satOff val="0"/>
                      <a:lumOff val="0"/>
                      <a:alphaOff val="0"/>
                    </a:prstClr>
                  </a:solidFill>
                </a:rPr>
                <a:t>Time to Market</a:t>
              </a:r>
              <a:endParaRPr lang="en-US" sz="2400" b="1" dirty="0">
                <a:solidFill>
                  <a:prstClr val="black">
                    <a:hueOff val="0"/>
                    <a:satOff val="0"/>
                    <a:lumOff val="0"/>
                    <a:alphaOff val="0"/>
                  </a:prstClr>
                </a:solidFill>
              </a:endParaRPr>
            </a:p>
          </p:txBody>
        </p:sp>
        <p:sp>
          <p:nvSpPr>
            <p:cNvPr id="31" name="Isosceles Triangle 30"/>
            <p:cNvSpPr/>
            <p:nvPr/>
          </p:nvSpPr>
          <p:spPr>
            <a:xfrm>
              <a:off x="4589858" y="3429488"/>
              <a:ext cx="344386" cy="344386"/>
            </a:xfrm>
            <a:prstGeom prst="triangle">
              <a:avLst>
                <a:gd name="adj" fmla="val 100000"/>
              </a:avLst>
            </a:prstGeom>
            <a:solidFill>
              <a:srgbClr val="C6179D"/>
            </a:solidFill>
            <a:ln>
              <a:solidFill>
                <a:srgbClr val="C6179D"/>
              </a:solidFill>
            </a:ln>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grpSp>
      <p:sp>
        <p:nvSpPr>
          <p:cNvPr id="9" name="Rectangle 8"/>
          <p:cNvSpPr/>
          <p:nvPr/>
        </p:nvSpPr>
        <p:spPr>
          <a:xfrm>
            <a:off x="673984" y="5657747"/>
            <a:ext cx="10959586" cy="492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Policy-driven management of enterprise content</a:t>
            </a:r>
          </a:p>
        </p:txBody>
      </p:sp>
    </p:spTree>
    <p:extLst>
      <p:ext uri="{BB962C8B-B14F-4D97-AF65-F5344CB8AC3E}">
        <p14:creationId xmlns:p14="http://schemas.microsoft.com/office/powerpoint/2010/main" val="173457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customers looking to achieve?</a:t>
            </a:r>
            <a:endParaRPr lang="en-US" dirty="0"/>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8</a:t>
            </a:fld>
            <a:endParaRPr lang="en-US">
              <a:solidFill>
                <a:srgbClr val="617D78"/>
              </a:solidFill>
            </a:endParaRPr>
          </a:p>
        </p:txBody>
      </p:sp>
      <p:graphicFrame>
        <p:nvGraphicFramePr>
          <p:cNvPr id="18" name="Diagram 17"/>
          <p:cNvGraphicFramePr/>
          <p:nvPr>
            <p:extLst>
              <p:ext uri="{D42A27DB-BD31-4B8C-83A1-F6EECF244321}">
                <p14:modId xmlns:p14="http://schemas.microsoft.com/office/powerpoint/2010/main" val="3562968377"/>
              </p:ext>
            </p:extLst>
          </p:nvPr>
        </p:nvGraphicFramePr>
        <p:xfrm>
          <a:off x="729816" y="1639094"/>
          <a:ext cx="10729192" cy="51075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4351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Roles and Drivers</a:t>
            </a:r>
            <a:endParaRPr lang="en-US" dirty="0"/>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9</a:t>
            </a:fld>
            <a:endParaRPr lang="en-US">
              <a:solidFill>
                <a:srgbClr val="617D78"/>
              </a:solidFill>
            </a:endParaRPr>
          </a:p>
        </p:txBody>
      </p:sp>
      <p:grpSp>
        <p:nvGrpSpPr>
          <p:cNvPr id="5" name="Group 4"/>
          <p:cNvGrpSpPr/>
          <p:nvPr/>
        </p:nvGrpSpPr>
        <p:grpSpPr>
          <a:xfrm>
            <a:off x="835741" y="456055"/>
            <a:ext cx="10380174" cy="7237805"/>
            <a:chOff x="1430826" y="122226"/>
            <a:chExt cx="10380174" cy="7237805"/>
          </a:xfrm>
        </p:grpSpPr>
        <p:sp>
          <p:nvSpPr>
            <p:cNvPr id="6" name="Rectangle 5"/>
            <p:cNvSpPr/>
            <p:nvPr/>
          </p:nvSpPr>
          <p:spPr>
            <a:xfrm>
              <a:off x="7509211" y="1031795"/>
              <a:ext cx="4301789" cy="5418667"/>
            </a:xfrm>
            <a:prstGeom prst="rect">
              <a:avLst/>
            </a:prstGeom>
            <a:ln>
              <a:noFill/>
            </a:ln>
          </p:spPr>
        </p:sp>
        <p:sp>
          <p:nvSpPr>
            <p:cNvPr id="7" name="Block Arc 6"/>
            <p:cNvSpPr/>
            <p:nvPr/>
          </p:nvSpPr>
          <p:spPr>
            <a:xfrm>
              <a:off x="1430826" y="122226"/>
              <a:ext cx="7237805" cy="7237805"/>
            </a:xfrm>
            <a:prstGeom prst="blockArc">
              <a:avLst>
                <a:gd name="adj1" fmla="val 18900000"/>
                <a:gd name="adj2" fmla="val 2700000"/>
                <a:gd name="adj3" fmla="val 298"/>
              </a:avLst>
            </a:prstGeom>
            <a:ln w="38100" cap="rnd">
              <a:solidFill>
                <a:srgbClr val="231CA5"/>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8" name="Freeform 7"/>
            <p:cNvSpPr/>
            <p:nvPr/>
          </p:nvSpPr>
          <p:spPr>
            <a:xfrm>
              <a:off x="8255571" y="1590234"/>
              <a:ext cx="3481222" cy="1075447"/>
            </a:xfrm>
            <a:custGeom>
              <a:avLst/>
              <a:gdLst>
                <a:gd name="connsiteX0" fmla="*/ 0 w 3481222"/>
                <a:gd name="connsiteY0" fmla="*/ 0 h 1075447"/>
                <a:gd name="connsiteX1" fmla="*/ 3481222 w 3481222"/>
                <a:gd name="connsiteY1" fmla="*/ 0 h 1075447"/>
                <a:gd name="connsiteX2" fmla="*/ 3481222 w 3481222"/>
                <a:gd name="connsiteY2" fmla="*/ 1075447 h 1075447"/>
                <a:gd name="connsiteX3" fmla="*/ 0 w 3481222"/>
                <a:gd name="connsiteY3" fmla="*/ 1075447 h 1075447"/>
                <a:gd name="connsiteX4" fmla="*/ 0 w 3481222"/>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1222" h="1075447">
                  <a:moveTo>
                    <a:pt x="0" y="0"/>
                  </a:moveTo>
                  <a:lnTo>
                    <a:pt x="3481222" y="0"/>
                  </a:lnTo>
                  <a:lnTo>
                    <a:pt x="3481222" y="1075447"/>
                  </a:lnTo>
                  <a:lnTo>
                    <a:pt x="0" y="1075447"/>
                  </a:lnTo>
                  <a:lnTo>
                    <a:pt x="0" y="0"/>
                  </a:lnTo>
                  <a:close/>
                </a:path>
              </a:pathLst>
            </a:custGeom>
            <a:solidFill>
              <a:srgbClr val="3896F3"/>
            </a:solidFill>
            <a:ln>
              <a:solidFill>
                <a:srgbClr val="3896F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lgn="l" defTabSz="889000">
                <a:lnSpc>
                  <a:spcPct val="90000"/>
                </a:lnSpc>
                <a:spcBef>
                  <a:spcPct val="0"/>
                </a:spcBef>
                <a:spcAft>
                  <a:spcPct val="35000"/>
                </a:spcAft>
              </a:pPr>
              <a:r>
                <a:rPr lang="en-GB" sz="2000" kern="1200" dirty="0"/>
                <a:t>Management of information within the organization</a:t>
              </a:r>
              <a:endParaRPr lang="en-US" sz="2000" kern="1200" dirty="0"/>
            </a:p>
          </p:txBody>
        </p:sp>
        <p:sp>
          <p:nvSpPr>
            <p:cNvPr id="9" name="Oval 8"/>
            <p:cNvSpPr/>
            <p:nvPr/>
          </p:nvSpPr>
          <p:spPr>
            <a:xfrm>
              <a:off x="7583416" y="1455803"/>
              <a:ext cx="1344309" cy="1344309"/>
            </a:xfrm>
            <a:prstGeom prst="ellipse">
              <a:avLst/>
            </a:prstGeom>
            <a:ln>
              <a:solidFill>
                <a:srgbClr val="3896F3"/>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Freeform 9"/>
            <p:cNvSpPr/>
            <p:nvPr/>
          </p:nvSpPr>
          <p:spPr>
            <a:xfrm>
              <a:off x="8646496" y="3203404"/>
              <a:ext cx="3090297" cy="1075447"/>
            </a:xfrm>
            <a:custGeom>
              <a:avLst/>
              <a:gdLst>
                <a:gd name="connsiteX0" fmla="*/ 0 w 3090297"/>
                <a:gd name="connsiteY0" fmla="*/ 0 h 1075447"/>
                <a:gd name="connsiteX1" fmla="*/ 3090297 w 3090297"/>
                <a:gd name="connsiteY1" fmla="*/ 0 h 1075447"/>
                <a:gd name="connsiteX2" fmla="*/ 3090297 w 3090297"/>
                <a:gd name="connsiteY2" fmla="*/ 1075447 h 1075447"/>
                <a:gd name="connsiteX3" fmla="*/ 0 w 3090297"/>
                <a:gd name="connsiteY3" fmla="*/ 1075447 h 1075447"/>
                <a:gd name="connsiteX4" fmla="*/ 0 w 3090297"/>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0297" h="1075447">
                  <a:moveTo>
                    <a:pt x="0" y="0"/>
                  </a:moveTo>
                  <a:lnTo>
                    <a:pt x="3090297" y="0"/>
                  </a:lnTo>
                  <a:lnTo>
                    <a:pt x="3090297" y="1075447"/>
                  </a:lnTo>
                  <a:lnTo>
                    <a:pt x="0" y="1075447"/>
                  </a:lnTo>
                  <a:lnTo>
                    <a:pt x="0" y="0"/>
                  </a:lnTo>
                  <a:close/>
                </a:path>
              </a:pathLst>
            </a:custGeom>
            <a:solidFill>
              <a:srgbClr val="7424AD"/>
            </a:solidFill>
            <a:ln>
              <a:solidFill>
                <a:srgbClr val="7424AD"/>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lgn="l" defTabSz="889000">
                <a:lnSpc>
                  <a:spcPct val="90000"/>
                </a:lnSpc>
                <a:spcBef>
                  <a:spcPct val="0"/>
                </a:spcBef>
                <a:spcAft>
                  <a:spcPts val="0"/>
                </a:spcAft>
              </a:pPr>
              <a:r>
                <a:rPr lang="en-US" sz="2000" kern="1200" dirty="0"/>
                <a:t>Risk Management &amp; Litigation Readiness</a:t>
              </a:r>
            </a:p>
          </p:txBody>
        </p:sp>
        <p:sp>
          <p:nvSpPr>
            <p:cNvPr id="11" name="Oval 10"/>
            <p:cNvSpPr/>
            <p:nvPr/>
          </p:nvSpPr>
          <p:spPr>
            <a:xfrm>
              <a:off x="7974341" y="3068973"/>
              <a:ext cx="1344309" cy="1344309"/>
            </a:xfrm>
            <a:prstGeom prst="ellipse">
              <a:avLst/>
            </a:prstGeom>
            <a:ln>
              <a:solidFill>
                <a:srgbClr val="7424AD"/>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Freeform 11"/>
            <p:cNvSpPr/>
            <p:nvPr/>
          </p:nvSpPr>
          <p:spPr>
            <a:xfrm>
              <a:off x="8255571" y="4816575"/>
              <a:ext cx="3481222" cy="1075447"/>
            </a:xfrm>
            <a:custGeom>
              <a:avLst/>
              <a:gdLst>
                <a:gd name="connsiteX0" fmla="*/ 0 w 3481222"/>
                <a:gd name="connsiteY0" fmla="*/ 0 h 1075447"/>
                <a:gd name="connsiteX1" fmla="*/ 3481222 w 3481222"/>
                <a:gd name="connsiteY1" fmla="*/ 0 h 1075447"/>
                <a:gd name="connsiteX2" fmla="*/ 3481222 w 3481222"/>
                <a:gd name="connsiteY2" fmla="*/ 1075447 h 1075447"/>
                <a:gd name="connsiteX3" fmla="*/ 0 w 3481222"/>
                <a:gd name="connsiteY3" fmla="*/ 1075447 h 1075447"/>
                <a:gd name="connsiteX4" fmla="*/ 0 w 3481222"/>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1222" h="1075447">
                  <a:moveTo>
                    <a:pt x="0" y="0"/>
                  </a:moveTo>
                  <a:lnTo>
                    <a:pt x="3481222" y="0"/>
                  </a:lnTo>
                  <a:lnTo>
                    <a:pt x="3481222" y="1075447"/>
                  </a:lnTo>
                  <a:lnTo>
                    <a:pt x="0" y="1075447"/>
                  </a:lnTo>
                  <a:lnTo>
                    <a:pt x="0" y="0"/>
                  </a:lnTo>
                  <a:close/>
                </a:path>
              </a:pathLst>
            </a:custGeom>
            <a:solidFill>
              <a:srgbClr val="2FD6C3"/>
            </a:solidFill>
            <a:ln>
              <a:solidFill>
                <a:srgbClr val="2FD6C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lgn="l" defTabSz="889000">
                <a:lnSpc>
                  <a:spcPct val="90000"/>
                </a:lnSpc>
                <a:spcBef>
                  <a:spcPct val="0"/>
                </a:spcBef>
                <a:spcAft>
                  <a:spcPts val="0"/>
                </a:spcAft>
              </a:pPr>
              <a:r>
                <a:rPr lang="en-US" sz="2000" b="0" kern="1200" dirty="0"/>
                <a:t>IT Optimization and Productivity</a:t>
              </a:r>
            </a:p>
          </p:txBody>
        </p:sp>
        <p:sp>
          <p:nvSpPr>
            <p:cNvPr id="13" name="Oval 12"/>
            <p:cNvSpPr/>
            <p:nvPr/>
          </p:nvSpPr>
          <p:spPr>
            <a:xfrm>
              <a:off x="7583416" y="4682144"/>
              <a:ext cx="1344309" cy="1344309"/>
            </a:xfrm>
            <a:prstGeom prst="ellipse">
              <a:avLst/>
            </a:prstGeom>
            <a:ln>
              <a:solidFill>
                <a:srgbClr val="2FD6C3"/>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grpSp>
        <p:nvGrpSpPr>
          <p:cNvPr id="14" name="Group 13"/>
          <p:cNvGrpSpPr/>
          <p:nvPr/>
        </p:nvGrpSpPr>
        <p:grpSpPr>
          <a:xfrm>
            <a:off x="1311775" y="1993053"/>
            <a:ext cx="6303886" cy="4215132"/>
            <a:chOff x="1906860" y="1659224"/>
            <a:chExt cx="6303886" cy="4215132"/>
          </a:xfrm>
        </p:grpSpPr>
        <p:sp>
          <p:nvSpPr>
            <p:cNvPr id="15" name="Rectangle 14"/>
            <p:cNvSpPr/>
            <p:nvPr/>
          </p:nvSpPr>
          <p:spPr>
            <a:xfrm>
              <a:off x="1906860" y="1821668"/>
              <a:ext cx="2092645" cy="726595"/>
            </a:xfrm>
            <a:prstGeom prst="rect">
              <a:avLst/>
            </a:prstGeom>
            <a:solidFill>
              <a:schemeClr val="bg1"/>
            </a:solidFill>
            <a:ln w="19050">
              <a:solidFill>
                <a:srgbClr val="3896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a:solidFill>
                    <a:schemeClr val="tx1"/>
                  </a:solidFill>
                </a:rPr>
                <a:t>Director of Information Services / Records Management </a:t>
              </a:r>
            </a:p>
          </p:txBody>
        </p:sp>
        <p:sp>
          <p:nvSpPr>
            <p:cNvPr id="16" name="TextBox 15"/>
            <p:cNvSpPr txBox="1"/>
            <p:nvPr/>
          </p:nvSpPr>
          <p:spPr>
            <a:xfrm>
              <a:off x="4196102" y="1659224"/>
              <a:ext cx="4014644" cy="1051570"/>
            </a:xfrm>
            <a:prstGeom prst="rect">
              <a:avLst/>
            </a:prstGeom>
            <a:noFill/>
          </p:spPr>
          <p:txBody>
            <a:bodyPr wrap="square" rtlCol="0">
              <a:spAutoFit/>
            </a:bodyPr>
            <a:lstStyle/>
            <a:p>
              <a:pPr defTabSz="573603">
                <a:spcAft>
                  <a:spcPts val="533"/>
                </a:spcAft>
                <a:buSzPct val="100000"/>
              </a:pPr>
              <a:r>
                <a:rPr lang="en-US" dirty="0">
                  <a:solidFill>
                    <a:srgbClr val="000000"/>
                  </a:solidFill>
                  <a:cs typeface="HP Simplified" pitchFamily="34" charset="0"/>
                </a:rPr>
                <a:t>Manage retention/disposal</a:t>
              </a:r>
            </a:p>
            <a:p>
              <a:pPr defTabSz="573603">
                <a:spcAft>
                  <a:spcPts val="533"/>
                </a:spcAft>
                <a:buSzPct val="100000"/>
              </a:pPr>
              <a:r>
                <a:rPr lang="en-GB" dirty="0">
                  <a:solidFill>
                    <a:srgbClr val="000000"/>
                  </a:solidFill>
                  <a:cs typeface="HP Simplified" pitchFamily="34" charset="0"/>
                </a:rPr>
                <a:t>Providing access to information</a:t>
              </a:r>
            </a:p>
            <a:p>
              <a:pPr defTabSz="573603">
                <a:spcAft>
                  <a:spcPts val="533"/>
                </a:spcAft>
                <a:buSzPct val="100000"/>
              </a:pPr>
              <a:r>
                <a:rPr lang="en-GB" dirty="0">
                  <a:solidFill>
                    <a:srgbClr val="000000"/>
                  </a:solidFill>
                  <a:cs typeface="HP Simplified" pitchFamily="34" charset="0"/>
                </a:rPr>
                <a:t>Securing business information</a:t>
              </a:r>
              <a:endParaRPr lang="en-US" dirty="0">
                <a:solidFill>
                  <a:srgbClr val="000000"/>
                </a:solidFill>
                <a:cs typeface="HP Simplified" pitchFamily="34" charset="0"/>
              </a:endParaRPr>
            </a:p>
          </p:txBody>
        </p:sp>
        <p:sp>
          <p:nvSpPr>
            <p:cNvPr id="17" name="Rectangle 16"/>
            <p:cNvSpPr/>
            <p:nvPr/>
          </p:nvSpPr>
          <p:spPr>
            <a:xfrm>
              <a:off x="1906860" y="4969788"/>
              <a:ext cx="2092645" cy="726595"/>
            </a:xfrm>
            <a:prstGeom prst="rect">
              <a:avLst/>
            </a:prstGeom>
            <a:solidFill>
              <a:schemeClr val="bg1"/>
            </a:solidFill>
            <a:ln w="19050">
              <a:solidFill>
                <a:srgbClr val="2FD6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a:solidFill>
                    <a:schemeClr val="tx1"/>
                  </a:solidFill>
                </a:rPr>
                <a:t>CIO</a:t>
              </a:r>
            </a:p>
          </p:txBody>
        </p:sp>
        <p:sp>
          <p:nvSpPr>
            <p:cNvPr id="19" name="TextBox 18"/>
            <p:cNvSpPr txBox="1"/>
            <p:nvPr/>
          </p:nvSpPr>
          <p:spPr>
            <a:xfrm>
              <a:off x="4196102" y="4791816"/>
              <a:ext cx="3559779" cy="1082540"/>
            </a:xfrm>
            <a:prstGeom prst="rect">
              <a:avLst/>
            </a:prstGeom>
            <a:noFill/>
          </p:spPr>
          <p:txBody>
            <a:bodyPr wrap="square" rtlCol="0">
              <a:spAutoFit/>
            </a:bodyPr>
            <a:lstStyle/>
            <a:p>
              <a:pPr defTabSz="573603">
                <a:spcAft>
                  <a:spcPts val="533"/>
                </a:spcAft>
                <a:buSzPct val="100000"/>
              </a:pPr>
              <a:r>
                <a:rPr lang="en-US" sz="1867" dirty="0">
                  <a:cs typeface="HP Simplified" pitchFamily="34" charset="0"/>
                </a:rPr>
                <a:t>Lower IT operation costs</a:t>
              </a:r>
            </a:p>
            <a:p>
              <a:pPr defTabSz="573603">
                <a:spcAft>
                  <a:spcPts val="533"/>
                </a:spcAft>
                <a:buSzPct val="100000"/>
              </a:pPr>
              <a:r>
                <a:rPr lang="en-US" sz="1867" dirty="0">
                  <a:cs typeface="HP Simplified" pitchFamily="34" charset="0"/>
                </a:rPr>
                <a:t>Efficient access to information</a:t>
              </a:r>
            </a:p>
            <a:p>
              <a:pPr defTabSz="573603">
                <a:spcAft>
                  <a:spcPts val="533"/>
                </a:spcAft>
                <a:buSzPct val="100000"/>
              </a:pPr>
              <a:r>
                <a:rPr lang="en-US" sz="1867" dirty="0">
                  <a:cs typeface="HP Simplified" pitchFamily="34" charset="0"/>
                </a:rPr>
                <a:t>Control information footprint</a:t>
              </a:r>
            </a:p>
          </p:txBody>
        </p:sp>
        <p:sp>
          <p:nvSpPr>
            <p:cNvPr id="20" name="Rectangle 19"/>
            <p:cNvSpPr/>
            <p:nvPr/>
          </p:nvSpPr>
          <p:spPr>
            <a:xfrm>
              <a:off x="1906860" y="3374996"/>
              <a:ext cx="2092645" cy="726595"/>
            </a:xfrm>
            <a:prstGeom prst="rect">
              <a:avLst/>
            </a:prstGeom>
            <a:solidFill>
              <a:schemeClr val="bg1"/>
            </a:solidFill>
            <a:ln w="19050">
              <a:solidFill>
                <a:srgbClr val="7424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GB" sz="1400" b="1" dirty="0">
                  <a:solidFill>
                    <a:schemeClr val="tx1"/>
                  </a:solidFill>
                </a:rPr>
                <a:t>CCO</a:t>
              </a:r>
              <a:endParaRPr lang="en-US" sz="1400" b="1" dirty="0">
                <a:solidFill>
                  <a:schemeClr val="tx1"/>
                </a:solidFill>
              </a:endParaRPr>
            </a:p>
            <a:p>
              <a:pPr defTabSz="914400"/>
              <a:r>
                <a:rPr lang="en-US" sz="1400" b="1" dirty="0">
                  <a:solidFill>
                    <a:schemeClr val="tx1"/>
                  </a:solidFill>
                </a:rPr>
                <a:t>CLO</a:t>
              </a:r>
            </a:p>
            <a:p>
              <a:pPr defTabSz="914400"/>
              <a:r>
                <a:rPr lang="en-US" sz="1400" b="1" dirty="0">
                  <a:solidFill>
                    <a:schemeClr val="tx1"/>
                  </a:solidFill>
                </a:rPr>
                <a:t>General Counsel</a:t>
              </a:r>
            </a:p>
          </p:txBody>
        </p:sp>
        <p:sp>
          <p:nvSpPr>
            <p:cNvPr id="21" name="TextBox 20"/>
            <p:cNvSpPr txBox="1"/>
            <p:nvPr/>
          </p:nvSpPr>
          <p:spPr>
            <a:xfrm>
              <a:off x="4196102" y="3199858"/>
              <a:ext cx="3675279" cy="1082540"/>
            </a:xfrm>
            <a:prstGeom prst="rect">
              <a:avLst/>
            </a:prstGeom>
            <a:noFill/>
          </p:spPr>
          <p:txBody>
            <a:bodyPr wrap="square" rtlCol="0">
              <a:spAutoFit/>
            </a:bodyPr>
            <a:lstStyle/>
            <a:p>
              <a:pPr defTabSz="573603">
                <a:spcAft>
                  <a:spcPts val="533"/>
                </a:spcAft>
                <a:buSzPct val="100000"/>
              </a:pPr>
              <a:r>
                <a:rPr lang="en-US" sz="1867" dirty="0">
                  <a:cs typeface="HP Simplified" pitchFamily="34" charset="0"/>
                </a:rPr>
                <a:t>Govern data throughout lifecycle</a:t>
              </a:r>
            </a:p>
            <a:p>
              <a:pPr defTabSz="573603">
                <a:spcAft>
                  <a:spcPts val="533"/>
                </a:spcAft>
                <a:buSzPct val="100000"/>
              </a:pPr>
              <a:r>
                <a:rPr lang="en-US" sz="1867" dirty="0">
                  <a:cs typeface="HP Simplified" pitchFamily="34" charset="0"/>
                </a:rPr>
                <a:t>Improve preservation of data</a:t>
              </a:r>
            </a:p>
            <a:p>
              <a:pPr defTabSz="573603">
                <a:spcAft>
                  <a:spcPts val="533"/>
                </a:spcAft>
                <a:buSzPct val="100000"/>
              </a:pPr>
              <a:r>
                <a:rPr lang="en-US" sz="1867" dirty="0">
                  <a:cs typeface="HP Simplified" pitchFamily="34" charset="0"/>
                </a:rPr>
                <a:t>Greater insight to information</a:t>
              </a:r>
            </a:p>
          </p:txBody>
        </p:sp>
      </p:grpSp>
    </p:spTree>
    <p:extLst>
      <p:ext uri="{BB962C8B-B14F-4D97-AF65-F5344CB8AC3E}">
        <p14:creationId xmlns:p14="http://schemas.microsoft.com/office/powerpoint/2010/main" val="88127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Capabilities</a:t>
            </a:r>
          </a:p>
        </p:txBody>
      </p:sp>
    </p:spTree>
    <p:extLst>
      <p:ext uri="{BB962C8B-B14F-4D97-AF65-F5344CB8AC3E}">
        <p14:creationId xmlns:p14="http://schemas.microsoft.com/office/powerpoint/2010/main" val="403636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is our Top-Line Position</a:t>
            </a:r>
            <a:endParaRPr lang="en-US" dirty="0"/>
          </a:p>
        </p:txBody>
      </p:sp>
      <p:sp>
        <p:nvSpPr>
          <p:cNvPr id="22"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11</a:t>
            </a:fld>
            <a:endParaRPr lang="en-US">
              <a:solidFill>
                <a:srgbClr val="617D78"/>
              </a:solidFill>
            </a:endParaRPr>
          </a:p>
        </p:txBody>
      </p:sp>
      <p:sp>
        <p:nvSpPr>
          <p:cNvPr id="23" name="Rounded Rectangle 22"/>
          <p:cNvSpPr/>
          <p:nvPr/>
        </p:nvSpPr>
        <p:spPr bwMode="ltGray">
          <a:xfrm>
            <a:off x="881743" y="1284515"/>
            <a:ext cx="9873343" cy="1012372"/>
          </a:xfrm>
          <a:prstGeom prst="roundRect">
            <a:avLst/>
          </a:prstGeom>
          <a:solidFill>
            <a:schemeClr val="accent1"/>
          </a:solid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r>
              <a:rPr lang="en-US" sz="2800" dirty="0">
                <a:solidFill>
                  <a:prstClr val="white"/>
                </a:solidFill>
              </a:rPr>
              <a:t>Policy-based Enterprise Content Management</a:t>
            </a:r>
          </a:p>
        </p:txBody>
      </p:sp>
      <p:sp>
        <p:nvSpPr>
          <p:cNvPr id="24" name="Rounded Rectangle 23"/>
          <p:cNvSpPr/>
          <p:nvPr/>
        </p:nvSpPr>
        <p:spPr bwMode="ltGray">
          <a:xfrm>
            <a:off x="805543" y="2503714"/>
            <a:ext cx="2775857" cy="3450771"/>
          </a:xfrm>
          <a:prstGeom prst="roundRect">
            <a:avLst/>
          </a:prstGeom>
          <a:ln/>
          <a:effectLst/>
        </p:spPr>
        <p:style>
          <a:lnRef idx="0">
            <a:schemeClr val="accent3"/>
          </a:lnRef>
          <a:fillRef idx="3">
            <a:schemeClr val="accent3"/>
          </a:fillRef>
          <a:effectRef idx="3">
            <a:schemeClr val="accent3"/>
          </a:effectRef>
          <a:fontRef idx="minor">
            <a:schemeClr val="lt1"/>
          </a:fontRef>
        </p:style>
        <p:txBody>
          <a:bodyPr rtlCol="0" anchor="ctr"/>
          <a:lstStyle/>
          <a:p>
            <a:pPr algn="ctr" defTabSz="914400">
              <a:lnSpc>
                <a:spcPct val="90000"/>
              </a:lnSpc>
            </a:pPr>
            <a:r>
              <a:rPr lang="en-US" dirty="0">
                <a:solidFill>
                  <a:prstClr val="white"/>
                </a:solidFill>
              </a:rPr>
              <a:t>Create, manage, retain and consign all enterprise content -- human, structured and web – for the information entire lifecycle</a:t>
            </a:r>
          </a:p>
        </p:txBody>
      </p:sp>
      <p:sp>
        <p:nvSpPr>
          <p:cNvPr id="25" name="Rounded Rectangle 24"/>
          <p:cNvSpPr/>
          <p:nvPr/>
        </p:nvSpPr>
        <p:spPr bwMode="ltGray">
          <a:xfrm>
            <a:off x="4384221" y="2503712"/>
            <a:ext cx="2775857" cy="3450771"/>
          </a:xfrm>
          <a:prstGeom prst="roundRect">
            <a:avLst/>
          </a:prstGeom>
          <a:ln/>
          <a:effectLst/>
        </p:spPr>
        <p:style>
          <a:lnRef idx="0">
            <a:schemeClr val="accent4"/>
          </a:lnRef>
          <a:fillRef idx="3">
            <a:schemeClr val="accent4"/>
          </a:fillRef>
          <a:effectRef idx="3">
            <a:schemeClr val="accent4"/>
          </a:effectRef>
          <a:fontRef idx="minor">
            <a:schemeClr val="lt1"/>
          </a:fontRef>
        </p:style>
        <p:txBody>
          <a:bodyPr rtlCol="0" anchor="ctr"/>
          <a:lstStyle/>
          <a:p>
            <a:pPr algn="ctr" defTabSz="914400">
              <a:lnSpc>
                <a:spcPct val="90000"/>
              </a:lnSpc>
            </a:pPr>
            <a:r>
              <a:rPr lang="en-US" dirty="0">
                <a:solidFill>
                  <a:prstClr val="white"/>
                </a:solidFill>
              </a:rPr>
              <a:t>Provide control of content for access, privacy and security --Secure Content Management</a:t>
            </a:r>
          </a:p>
          <a:p>
            <a:pPr algn="ctr" defTabSz="914400">
              <a:lnSpc>
                <a:spcPct val="90000"/>
              </a:lnSpc>
            </a:pPr>
            <a:endParaRPr lang="en-US" dirty="0">
              <a:solidFill>
                <a:prstClr val="white"/>
              </a:solidFill>
            </a:endParaRPr>
          </a:p>
        </p:txBody>
      </p:sp>
      <p:sp>
        <p:nvSpPr>
          <p:cNvPr id="26" name="Rounded Rectangle 25"/>
          <p:cNvSpPr/>
          <p:nvPr/>
        </p:nvSpPr>
        <p:spPr bwMode="ltGray">
          <a:xfrm>
            <a:off x="7962900" y="2503713"/>
            <a:ext cx="2775857" cy="3450771"/>
          </a:xfrm>
          <a:prstGeom prst="roundRect">
            <a:avLst/>
          </a:prstGeom>
          <a:ln/>
          <a:effectLst/>
        </p:spPr>
        <p:style>
          <a:lnRef idx="0">
            <a:schemeClr val="accent5"/>
          </a:lnRef>
          <a:fillRef idx="3">
            <a:schemeClr val="accent5"/>
          </a:fillRef>
          <a:effectRef idx="3">
            <a:schemeClr val="accent5"/>
          </a:effectRef>
          <a:fontRef idx="minor">
            <a:schemeClr val="lt1"/>
          </a:fontRef>
        </p:style>
        <p:txBody>
          <a:bodyPr rtlCol="0" anchor="ctr"/>
          <a:lstStyle/>
          <a:p>
            <a:pPr algn="ctr" defTabSz="914400">
              <a:lnSpc>
                <a:spcPct val="90000"/>
              </a:lnSpc>
            </a:pPr>
            <a:r>
              <a:rPr lang="en-US" dirty="0">
                <a:solidFill>
                  <a:prstClr val="white"/>
                </a:solidFill>
              </a:rPr>
              <a:t>Leverage and enhance other content management systems for compliance and cost control</a:t>
            </a:r>
          </a:p>
        </p:txBody>
      </p:sp>
    </p:spTree>
    <p:extLst>
      <p:ext uri="{BB962C8B-B14F-4D97-AF65-F5344CB8AC3E}">
        <p14:creationId xmlns:p14="http://schemas.microsoft.com/office/powerpoint/2010/main" val="681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Manage Information Across the Lifecycle</a:t>
            </a:r>
            <a:endParaRPr lang="en-US" dirty="0"/>
          </a:p>
        </p:txBody>
      </p:sp>
      <p:sp>
        <p:nvSpPr>
          <p:cNvPr id="4" name="Text Placeholder 3"/>
          <p:cNvSpPr>
            <a:spLocks noGrp="1"/>
          </p:cNvSpPr>
          <p:nvPr>
            <p:ph type="body" sz="quarter" idx="13"/>
          </p:nvPr>
        </p:nvSpPr>
        <p:spPr/>
        <p:txBody>
          <a:bodyPr/>
          <a:lstStyle/>
          <a:p>
            <a:r>
              <a:rPr lang="en-GB" dirty="0"/>
              <a:t>Content Manager</a:t>
            </a:r>
          </a:p>
        </p:txBody>
      </p:sp>
      <p:grpSp>
        <p:nvGrpSpPr>
          <p:cNvPr id="10" name="Group 9"/>
          <p:cNvGrpSpPr/>
          <p:nvPr/>
        </p:nvGrpSpPr>
        <p:grpSpPr>
          <a:xfrm>
            <a:off x="643329" y="1743304"/>
            <a:ext cx="2556000" cy="3987341"/>
            <a:chOff x="440132" y="1743304"/>
            <a:chExt cx="2278480" cy="3987341"/>
          </a:xfrm>
          <a:effectLst/>
        </p:grpSpPr>
        <p:sp>
          <p:nvSpPr>
            <p:cNvPr id="11" name="Freeform 10"/>
            <p:cNvSpPr/>
            <p:nvPr/>
          </p:nvSpPr>
          <p:spPr>
            <a:xfrm>
              <a:off x="667980" y="2882544"/>
              <a:ext cx="227848" cy="2278481"/>
            </a:xfrm>
            <a:custGeom>
              <a:avLst/>
              <a:gdLst/>
              <a:ahLst/>
              <a:cxnLst/>
              <a:rect l="0" t="0" r="0" b="0"/>
              <a:pathLst>
                <a:path>
                  <a:moveTo>
                    <a:pt x="0" y="0"/>
                  </a:moveTo>
                  <a:lnTo>
                    <a:pt x="0" y="2278481"/>
                  </a:lnTo>
                  <a:lnTo>
                    <a:pt x="227848" y="2278481"/>
                  </a:lnTo>
                </a:path>
              </a:pathLst>
            </a:custGeom>
            <a:noFill/>
            <a:ln w="19050">
              <a:solidFill>
                <a:schemeClr val="accent2"/>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grpSp>
          <p:nvGrpSpPr>
            <p:cNvPr id="12" name="Group 11"/>
            <p:cNvGrpSpPr/>
            <p:nvPr/>
          </p:nvGrpSpPr>
          <p:grpSpPr>
            <a:xfrm>
              <a:off x="440132" y="1743304"/>
              <a:ext cx="2278480" cy="3987341"/>
              <a:chOff x="440132" y="1743304"/>
              <a:chExt cx="2278480" cy="3987341"/>
            </a:xfrm>
          </p:grpSpPr>
          <p:sp>
            <p:nvSpPr>
              <p:cNvPr id="13" name="Freeform 12"/>
              <p:cNvSpPr/>
              <p:nvPr/>
            </p:nvSpPr>
            <p:spPr>
              <a:xfrm>
                <a:off x="440132" y="1743304"/>
                <a:ext cx="2258182" cy="1139240"/>
              </a:xfrm>
              <a:custGeom>
                <a:avLst/>
                <a:gdLst>
                  <a:gd name="connsiteX0" fmla="*/ 0 w 2278481"/>
                  <a:gd name="connsiteY0" fmla="*/ 113924 h 1139240"/>
                  <a:gd name="connsiteX1" fmla="*/ 113924 w 2278481"/>
                  <a:gd name="connsiteY1" fmla="*/ 0 h 1139240"/>
                  <a:gd name="connsiteX2" fmla="*/ 2164557 w 2278481"/>
                  <a:gd name="connsiteY2" fmla="*/ 0 h 1139240"/>
                  <a:gd name="connsiteX3" fmla="*/ 2278481 w 2278481"/>
                  <a:gd name="connsiteY3" fmla="*/ 113924 h 1139240"/>
                  <a:gd name="connsiteX4" fmla="*/ 2278481 w 2278481"/>
                  <a:gd name="connsiteY4" fmla="*/ 1025316 h 1139240"/>
                  <a:gd name="connsiteX5" fmla="*/ 2164557 w 2278481"/>
                  <a:gd name="connsiteY5" fmla="*/ 1139240 h 1139240"/>
                  <a:gd name="connsiteX6" fmla="*/ 113924 w 2278481"/>
                  <a:gd name="connsiteY6" fmla="*/ 1139240 h 1139240"/>
                  <a:gd name="connsiteX7" fmla="*/ 0 w 2278481"/>
                  <a:gd name="connsiteY7" fmla="*/ 1025316 h 1139240"/>
                  <a:gd name="connsiteX8" fmla="*/ 0 w 2278481"/>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8481" h="1139240">
                    <a:moveTo>
                      <a:pt x="0" y="113924"/>
                    </a:moveTo>
                    <a:cubicBezTo>
                      <a:pt x="0" y="51006"/>
                      <a:pt x="51006" y="0"/>
                      <a:pt x="113924" y="0"/>
                    </a:cubicBezTo>
                    <a:lnTo>
                      <a:pt x="2164557" y="0"/>
                    </a:lnTo>
                    <a:cubicBezTo>
                      <a:pt x="2227475" y="0"/>
                      <a:pt x="2278481" y="51006"/>
                      <a:pt x="2278481" y="113924"/>
                    </a:cubicBezTo>
                    <a:lnTo>
                      <a:pt x="2278481" y="1025316"/>
                    </a:lnTo>
                    <a:cubicBezTo>
                      <a:pt x="2278481" y="1088234"/>
                      <a:pt x="2227475" y="1139240"/>
                      <a:pt x="2164557" y="1139240"/>
                    </a:cubicBezTo>
                    <a:lnTo>
                      <a:pt x="113924" y="1139240"/>
                    </a:lnTo>
                    <a:cubicBezTo>
                      <a:pt x="51006" y="1139240"/>
                      <a:pt x="0" y="1088234"/>
                      <a:pt x="0" y="1025316"/>
                    </a:cubicBezTo>
                    <a:lnTo>
                      <a:pt x="0" y="113924"/>
                    </a:lnTo>
                    <a:close/>
                  </a:path>
                </a:pathLst>
              </a:custGeom>
              <a:solidFill>
                <a:schemeClr val="accent2"/>
              </a:solidFill>
              <a:ln w="19050"/>
              <a:scene3d>
                <a:camera prst="orthographicFront"/>
                <a:lightRig rig="flat" dir="t"/>
              </a:scene3d>
              <a:sp3d prstMaterial="plastic">
                <a:bevelB w="88900" h="31750" prst="angle"/>
              </a:sp3d>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94327" tIns="74007" rIns="94327" bIns="74007" numCol="1" spcCol="1270" anchor="ctr" anchorCtr="0">
                <a:noAutofit/>
              </a:bodyPr>
              <a:lstStyle/>
              <a:p>
                <a:pPr algn="ctr" defTabSz="1422364">
                  <a:lnSpc>
                    <a:spcPct val="90000"/>
                  </a:lnSpc>
                  <a:spcBef>
                    <a:spcPct val="0"/>
                  </a:spcBef>
                  <a:spcAft>
                    <a:spcPct val="35000"/>
                  </a:spcAft>
                </a:pPr>
                <a:r>
                  <a:rPr lang="en-US" sz="3200" dirty="0">
                    <a:solidFill>
                      <a:prstClr val="white"/>
                    </a:solidFill>
                  </a:rPr>
                  <a:t>Capture</a:t>
                </a:r>
              </a:p>
            </p:txBody>
          </p:sp>
          <p:sp>
            <p:nvSpPr>
              <p:cNvPr id="14" name="Freeform 13"/>
              <p:cNvSpPr/>
              <p:nvPr/>
            </p:nvSpPr>
            <p:spPr>
              <a:xfrm>
                <a:off x="667980" y="2882544"/>
                <a:ext cx="227848" cy="854430"/>
              </a:xfrm>
              <a:custGeom>
                <a:avLst/>
                <a:gdLst/>
                <a:ahLst/>
                <a:cxnLst/>
                <a:rect l="0" t="0" r="0" b="0"/>
                <a:pathLst>
                  <a:path>
                    <a:moveTo>
                      <a:pt x="0" y="0"/>
                    </a:moveTo>
                    <a:lnTo>
                      <a:pt x="0" y="854430"/>
                    </a:lnTo>
                    <a:lnTo>
                      <a:pt x="227848" y="854430"/>
                    </a:lnTo>
                  </a:path>
                </a:pathLst>
              </a:custGeom>
              <a:noFill/>
              <a:ln w="19050">
                <a:solidFill>
                  <a:schemeClr val="accent2"/>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15" name="Freeform 14"/>
              <p:cNvSpPr/>
              <p:nvPr/>
            </p:nvSpPr>
            <p:spPr>
              <a:xfrm>
                <a:off x="895828" y="3167354"/>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2"/>
                </a:solidFill>
              </a:ln>
              <a:scene3d>
                <a:camera prst="orthographicFront"/>
                <a:lightRig rig="flat" dir="t"/>
              </a:scene3d>
              <a:sp3d z="-190500" extrusionH="12700" prstMaterial="plastic"/>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US" sz="1500" dirty="0">
                    <a:solidFill>
                      <a:prstClr val="black">
                        <a:hueOff val="0"/>
                        <a:satOff val="0"/>
                        <a:lumOff val="0"/>
                        <a:alphaOff val="0"/>
                      </a:prstClr>
                    </a:solidFill>
                  </a:rPr>
                  <a:t>All data, unstructured, structured, electronic &amp; physical, Email integration, </a:t>
                </a:r>
                <a:r>
                  <a:rPr lang="en-AU" sz="1500" dirty="0">
                    <a:solidFill>
                      <a:prstClr val="black">
                        <a:hueOff val="0"/>
                        <a:satOff val="0"/>
                        <a:lumOff val="0"/>
                        <a:alphaOff val="0"/>
                      </a:prstClr>
                    </a:solidFill>
                  </a:rPr>
                  <a:t>OCR</a:t>
                </a:r>
                <a:endParaRPr lang="en-US" sz="1500" dirty="0">
                  <a:solidFill>
                    <a:prstClr val="black">
                      <a:hueOff val="0"/>
                      <a:satOff val="0"/>
                      <a:lumOff val="0"/>
                      <a:alphaOff val="0"/>
                    </a:prstClr>
                  </a:solidFill>
                </a:endParaRPr>
              </a:p>
            </p:txBody>
          </p:sp>
          <p:sp>
            <p:nvSpPr>
              <p:cNvPr id="16" name="Freeform 15"/>
              <p:cNvSpPr/>
              <p:nvPr/>
            </p:nvSpPr>
            <p:spPr>
              <a:xfrm>
                <a:off x="895828" y="4591405"/>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2"/>
                </a:solidFill>
              </a:ln>
              <a:scene3d>
                <a:camera prst="orthographicFront"/>
                <a:lightRig rig="flat" dir="t"/>
              </a:scene3d>
              <a:sp3d z="-190500" extrusionH="12700" prstMaterial="plastic"/>
            </p:spPr>
            <p:style>
              <a:lnRef idx="1">
                <a:schemeClr val="accent3">
                  <a:hueOff val="-783109"/>
                  <a:satOff val="-7194"/>
                  <a:lumOff val="288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US" sz="1500" dirty="0">
                    <a:solidFill>
                      <a:prstClr val="black">
                        <a:hueOff val="0"/>
                        <a:satOff val="0"/>
                        <a:lumOff val="0"/>
                        <a:alphaOff val="0"/>
                      </a:prstClr>
                    </a:solidFill>
                  </a:rPr>
                  <a:t>Desktop, SharePoint &amp; LOB integration </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Manage-In-Place,</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High volume ingestion</a:t>
                </a:r>
              </a:p>
            </p:txBody>
          </p:sp>
        </p:grpSp>
      </p:grpSp>
      <p:grpSp>
        <p:nvGrpSpPr>
          <p:cNvPr id="17" name="Group 16"/>
          <p:cNvGrpSpPr/>
          <p:nvPr/>
        </p:nvGrpSpPr>
        <p:grpSpPr>
          <a:xfrm>
            <a:off x="3491429" y="1743304"/>
            <a:ext cx="2556000" cy="3987341"/>
            <a:chOff x="3288233" y="1743304"/>
            <a:chExt cx="2278481" cy="3987341"/>
          </a:xfrm>
        </p:grpSpPr>
        <p:sp>
          <p:nvSpPr>
            <p:cNvPr id="18" name="Freeform 17"/>
            <p:cNvSpPr/>
            <p:nvPr/>
          </p:nvSpPr>
          <p:spPr>
            <a:xfrm>
              <a:off x="3288233" y="1743304"/>
              <a:ext cx="2278481" cy="1139240"/>
            </a:xfrm>
            <a:custGeom>
              <a:avLst/>
              <a:gdLst>
                <a:gd name="connsiteX0" fmla="*/ 0 w 2278481"/>
                <a:gd name="connsiteY0" fmla="*/ 113924 h 1139240"/>
                <a:gd name="connsiteX1" fmla="*/ 113924 w 2278481"/>
                <a:gd name="connsiteY1" fmla="*/ 0 h 1139240"/>
                <a:gd name="connsiteX2" fmla="*/ 2164557 w 2278481"/>
                <a:gd name="connsiteY2" fmla="*/ 0 h 1139240"/>
                <a:gd name="connsiteX3" fmla="*/ 2278481 w 2278481"/>
                <a:gd name="connsiteY3" fmla="*/ 113924 h 1139240"/>
                <a:gd name="connsiteX4" fmla="*/ 2278481 w 2278481"/>
                <a:gd name="connsiteY4" fmla="*/ 1025316 h 1139240"/>
                <a:gd name="connsiteX5" fmla="*/ 2164557 w 2278481"/>
                <a:gd name="connsiteY5" fmla="*/ 1139240 h 1139240"/>
                <a:gd name="connsiteX6" fmla="*/ 113924 w 2278481"/>
                <a:gd name="connsiteY6" fmla="*/ 1139240 h 1139240"/>
                <a:gd name="connsiteX7" fmla="*/ 0 w 2278481"/>
                <a:gd name="connsiteY7" fmla="*/ 1025316 h 1139240"/>
                <a:gd name="connsiteX8" fmla="*/ 0 w 2278481"/>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8481" h="1139240">
                  <a:moveTo>
                    <a:pt x="0" y="113924"/>
                  </a:moveTo>
                  <a:cubicBezTo>
                    <a:pt x="0" y="51006"/>
                    <a:pt x="51006" y="0"/>
                    <a:pt x="113924" y="0"/>
                  </a:cubicBezTo>
                  <a:lnTo>
                    <a:pt x="2164557" y="0"/>
                  </a:lnTo>
                  <a:cubicBezTo>
                    <a:pt x="2227475" y="0"/>
                    <a:pt x="2278481" y="51006"/>
                    <a:pt x="2278481" y="113924"/>
                  </a:cubicBezTo>
                  <a:lnTo>
                    <a:pt x="2278481" y="1025316"/>
                  </a:lnTo>
                  <a:cubicBezTo>
                    <a:pt x="2278481" y="1088234"/>
                    <a:pt x="2227475" y="1139240"/>
                    <a:pt x="2164557" y="1139240"/>
                  </a:cubicBezTo>
                  <a:lnTo>
                    <a:pt x="113924" y="1139240"/>
                  </a:lnTo>
                  <a:cubicBezTo>
                    <a:pt x="51006" y="1139240"/>
                    <a:pt x="0" y="1088234"/>
                    <a:pt x="0" y="1025316"/>
                  </a:cubicBezTo>
                  <a:lnTo>
                    <a:pt x="0" y="113924"/>
                  </a:lnTo>
                  <a:close/>
                </a:path>
              </a:pathLst>
            </a:custGeom>
            <a:solidFill>
              <a:schemeClr val="accent3"/>
            </a:solidFill>
            <a:ln w="19050">
              <a:solidFill>
                <a:schemeClr val="accent3"/>
              </a:solidFill>
            </a:ln>
            <a:scene3d>
              <a:camera prst="orthographicFront"/>
              <a:lightRig rig="flat" dir="t"/>
            </a:scene3d>
            <a:sp3d prstMaterial="plastic">
              <a:bevelB w="88900" h="31750" prst="angle"/>
            </a:sp3d>
          </p:spPr>
          <p:style>
            <a:lnRef idx="0">
              <a:schemeClr val="lt1">
                <a:hueOff val="0"/>
                <a:satOff val="0"/>
                <a:lumOff val="0"/>
                <a:alphaOff val="0"/>
              </a:schemeClr>
            </a:lnRef>
            <a:fillRef idx="3">
              <a:schemeClr val="accent3">
                <a:hueOff val="-1827255"/>
                <a:satOff val="-16785"/>
                <a:lumOff val="6732"/>
                <a:alphaOff val="0"/>
              </a:schemeClr>
            </a:fillRef>
            <a:effectRef idx="2">
              <a:schemeClr val="accent3">
                <a:hueOff val="-1827255"/>
                <a:satOff val="-16785"/>
                <a:lumOff val="6732"/>
                <a:alphaOff val="0"/>
              </a:schemeClr>
            </a:effectRef>
            <a:fontRef idx="minor">
              <a:schemeClr val="lt1"/>
            </a:fontRef>
          </p:style>
          <p:txBody>
            <a:bodyPr spcFirstLastPara="0" vert="horz" wrap="square" lIns="94327" tIns="74007" rIns="94327" bIns="74007" numCol="1" spcCol="1270" anchor="ctr" anchorCtr="0">
              <a:noAutofit/>
            </a:bodyPr>
            <a:lstStyle/>
            <a:p>
              <a:pPr algn="ctr" defTabSz="1422364">
                <a:lnSpc>
                  <a:spcPct val="90000"/>
                </a:lnSpc>
                <a:spcBef>
                  <a:spcPct val="0"/>
                </a:spcBef>
                <a:spcAft>
                  <a:spcPct val="35000"/>
                </a:spcAft>
              </a:pPr>
              <a:r>
                <a:rPr lang="en-US" sz="3200" dirty="0">
                  <a:solidFill>
                    <a:prstClr val="white"/>
                  </a:solidFill>
                </a:rPr>
                <a:t>Manage</a:t>
              </a:r>
            </a:p>
          </p:txBody>
        </p:sp>
        <p:sp>
          <p:nvSpPr>
            <p:cNvPr id="19" name="Freeform 18"/>
            <p:cNvSpPr/>
            <p:nvPr/>
          </p:nvSpPr>
          <p:spPr>
            <a:xfrm>
              <a:off x="3516081" y="2882544"/>
              <a:ext cx="227848" cy="854430"/>
            </a:xfrm>
            <a:custGeom>
              <a:avLst/>
              <a:gdLst/>
              <a:ahLst/>
              <a:cxnLst/>
              <a:rect l="0" t="0" r="0" b="0"/>
              <a:pathLst>
                <a:path>
                  <a:moveTo>
                    <a:pt x="0" y="0"/>
                  </a:moveTo>
                  <a:lnTo>
                    <a:pt x="0" y="854430"/>
                  </a:lnTo>
                  <a:lnTo>
                    <a:pt x="227848" y="854430"/>
                  </a:lnTo>
                </a:path>
              </a:pathLst>
            </a:custGeom>
            <a:noFill/>
            <a:ln w="19050">
              <a:solidFill>
                <a:schemeClr val="accent3"/>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0" name="Freeform 19"/>
            <p:cNvSpPr/>
            <p:nvPr/>
          </p:nvSpPr>
          <p:spPr>
            <a:xfrm>
              <a:off x="3743930" y="3167354"/>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3"/>
              </a:solidFill>
            </a:ln>
            <a:scene3d>
              <a:camera prst="orthographicFront"/>
              <a:lightRig rig="flat" dir="t"/>
            </a:scene3d>
            <a:sp3d z="-190500" extrusionH="12700" prstMaterial="plastic"/>
          </p:spPr>
          <p:style>
            <a:lnRef idx="1">
              <a:schemeClr val="accent3">
                <a:hueOff val="-1566219"/>
                <a:satOff val="-14387"/>
                <a:lumOff val="577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US" sz="1500" dirty="0">
                  <a:solidFill>
                    <a:prstClr val="black">
                      <a:hueOff val="0"/>
                      <a:satOff val="0"/>
                      <a:lumOff val="0"/>
                      <a:alphaOff val="0"/>
                    </a:prstClr>
                  </a:solidFill>
                </a:rPr>
                <a:t>Auto-classification </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ISO15489, RM &amp; DM </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Check-in/out, Versioning, Renditions</a:t>
              </a:r>
            </a:p>
          </p:txBody>
        </p:sp>
        <p:sp>
          <p:nvSpPr>
            <p:cNvPr id="21" name="Freeform 20"/>
            <p:cNvSpPr/>
            <p:nvPr/>
          </p:nvSpPr>
          <p:spPr>
            <a:xfrm>
              <a:off x="3516081" y="2882544"/>
              <a:ext cx="227848" cy="2278481"/>
            </a:xfrm>
            <a:custGeom>
              <a:avLst/>
              <a:gdLst/>
              <a:ahLst/>
              <a:cxnLst/>
              <a:rect l="0" t="0" r="0" b="0"/>
              <a:pathLst>
                <a:path>
                  <a:moveTo>
                    <a:pt x="0" y="0"/>
                  </a:moveTo>
                  <a:lnTo>
                    <a:pt x="0" y="2278481"/>
                  </a:lnTo>
                  <a:lnTo>
                    <a:pt x="227848" y="2278481"/>
                  </a:lnTo>
                </a:path>
              </a:pathLst>
            </a:custGeom>
            <a:noFill/>
            <a:ln w="19050">
              <a:solidFill>
                <a:schemeClr val="accent3"/>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27" name="Freeform 26"/>
            <p:cNvSpPr/>
            <p:nvPr/>
          </p:nvSpPr>
          <p:spPr>
            <a:xfrm>
              <a:off x="3743930" y="4591405"/>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3"/>
              </a:solidFill>
            </a:ln>
            <a:scene3d>
              <a:camera prst="orthographicFront"/>
              <a:lightRig rig="flat" dir="t"/>
            </a:scene3d>
            <a:sp3d z="-190500" extrusionH="12700" prstMaterial="plastic"/>
          </p:spPr>
          <p:style>
            <a:lnRef idx="1">
              <a:schemeClr val="accent3">
                <a:hueOff val="-2349328"/>
                <a:satOff val="-21581"/>
                <a:lumOff val="865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US" sz="1500" dirty="0">
                  <a:solidFill>
                    <a:prstClr val="black">
                      <a:hueOff val="0"/>
                      <a:satOff val="0"/>
                      <a:lumOff val="0"/>
                      <a:alphaOff val="0"/>
                    </a:prstClr>
                  </a:solidFill>
                </a:rPr>
                <a:t>BCS or Matter Centric Extensive security</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Workflow, Approvals</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Reporting</a:t>
              </a:r>
            </a:p>
          </p:txBody>
        </p:sp>
      </p:grpSp>
      <p:grpSp>
        <p:nvGrpSpPr>
          <p:cNvPr id="28" name="Group 27"/>
          <p:cNvGrpSpPr/>
          <p:nvPr/>
        </p:nvGrpSpPr>
        <p:grpSpPr>
          <a:xfrm>
            <a:off x="9143797" y="1743304"/>
            <a:ext cx="2556000" cy="3987341"/>
            <a:chOff x="6136335" y="1743304"/>
            <a:chExt cx="2278481" cy="3987341"/>
          </a:xfrm>
        </p:grpSpPr>
        <p:sp>
          <p:nvSpPr>
            <p:cNvPr id="29" name="Freeform 28"/>
            <p:cNvSpPr/>
            <p:nvPr/>
          </p:nvSpPr>
          <p:spPr>
            <a:xfrm>
              <a:off x="6136335" y="1743304"/>
              <a:ext cx="2278481" cy="1139240"/>
            </a:xfrm>
            <a:custGeom>
              <a:avLst/>
              <a:gdLst>
                <a:gd name="connsiteX0" fmla="*/ 0 w 2278481"/>
                <a:gd name="connsiteY0" fmla="*/ 113924 h 1139240"/>
                <a:gd name="connsiteX1" fmla="*/ 113924 w 2278481"/>
                <a:gd name="connsiteY1" fmla="*/ 0 h 1139240"/>
                <a:gd name="connsiteX2" fmla="*/ 2164557 w 2278481"/>
                <a:gd name="connsiteY2" fmla="*/ 0 h 1139240"/>
                <a:gd name="connsiteX3" fmla="*/ 2278481 w 2278481"/>
                <a:gd name="connsiteY3" fmla="*/ 113924 h 1139240"/>
                <a:gd name="connsiteX4" fmla="*/ 2278481 w 2278481"/>
                <a:gd name="connsiteY4" fmla="*/ 1025316 h 1139240"/>
                <a:gd name="connsiteX5" fmla="*/ 2164557 w 2278481"/>
                <a:gd name="connsiteY5" fmla="*/ 1139240 h 1139240"/>
                <a:gd name="connsiteX6" fmla="*/ 113924 w 2278481"/>
                <a:gd name="connsiteY6" fmla="*/ 1139240 h 1139240"/>
                <a:gd name="connsiteX7" fmla="*/ 0 w 2278481"/>
                <a:gd name="connsiteY7" fmla="*/ 1025316 h 1139240"/>
                <a:gd name="connsiteX8" fmla="*/ 0 w 2278481"/>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8481" h="1139240">
                  <a:moveTo>
                    <a:pt x="0" y="113924"/>
                  </a:moveTo>
                  <a:cubicBezTo>
                    <a:pt x="0" y="51006"/>
                    <a:pt x="51006" y="0"/>
                    <a:pt x="113924" y="0"/>
                  </a:cubicBezTo>
                  <a:lnTo>
                    <a:pt x="2164557" y="0"/>
                  </a:lnTo>
                  <a:cubicBezTo>
                    <a:pt x="2227475" y="0"/>
                    <a:pt x="2278481" y="51006"/>
                    <a:pt x="2278481" y="113924"/>
                  </a:cubicBezTo>
                  <a:lnTo>
                    <a:pt x="2278481" y="1025316"/>
                  </a:lnTo>
                  <a:cubicBezTo>
                    <a:pt x="2278481" y="1088234"/>
                    <a:pt x="2227475" y="1139240"/>
                    <a:pt x="2164557" y="1139240"/>
                  </a:cubicBezTo>
                  <a:lnTo>
                    <a:pt x="113924" y="1139240"/>
                  </a:lnTo>
                  <a:cubicBezTo>
                    <a:pt x="51006" y="1139240"/>
                    <a:pt x="0" y="1088234"/>
                    <a:pt x="0" y="1025316"/>
                  </a:cubicBezTo>
                  <a:lnTo>
                    <a:pt x="0" y="113924"/>
                  </a:lnTo>
                  <a:close/>
                </a:path>
              </a:pathLst>
            </a:custGeom>
            <a:solidFill>
              <a:schemeClr val="accent1"/>
            </a:solidFill>
            <a:ln w="19050">
              <a:solidFill>
                <a:schemeClr val="accent1"/>
              </a:solidFill>
            </a:ln>
            <a:scene3d>
              <a:camera prst="orthographicFront"/>
              <a:lightRig rig="flat" dir="t"/>
            </a:scene3d>
            <a:sp3d prstMaterial="plastic">
              <a:bevelB w="88900" h="31750" prst="angle"/>
            </a:sp3d>
          </p:spPr>
          <p:style>
            <a:lnRef idx="0">
              <a:schemeClr val="lt1">
                <a:hueOff val="0"/>
                <a:satOff val="0"/>
                <a:lumOff val="0"/>
                <a:alphaOff val="0"/>
              </a:schemeClr>
            </a:lnRef>
            <a:fillRef idx="3">
              <a:schemeClr val="accent3">
                <a:hueOff val="-3654510"/>
                <a:satOff val="-33571"/>
                <a:lumOff val="13464"/>
                <a:alphaOff val="0"/>
              </a:schemeClr>
            </a:fillRef>
            <a:effectRef idx="2">
              <a:schemeClr val="accent3">
                <a:hueOff val="-3654510"/>
                <a:satOff val="-33571"/>
                <a:lumOff val="13464"/>
                <a:alphaOff val="0"/>
              </a:schemeClr>
            </a:effectRef>
            <a:fontRef idx="minor">
              <a:schemeClr val="lt1"/>
            </a:fontRef>
          </p:style>
          <p:txBody>
            <a:bodyPr spcFirstLastPara="0" vert="horz" wrap="square" lIns="94327" tIns="74007" rIns="94327" bIns="74007" numCol="1" spcCol="1270" anchor="ctr" anchorCtr="0">
              <a:noAutofit/>
            </a:bodyPr>
            <a:lstStyle/>
            <a:p>
              <a:pPr algn="ctr" defTabSz="1422364">
                <a:lnSpc>
                  <a:spcPct val="90000"/>
                </a:lnSpc>
                <a:spcBef>
                  <a:spcPct val="0"/>
                </a:spcBef>
                <a:spcAft>
                  <a:spcPct val="35000"/>
                </a:spcAft>
              </a:pPr>
              <a:r>
                <a:rPr lang="en-US" sz="3200" dirty="0">
                  <a:solidFill>
                    <a:prstClr val="white"/>
                  </a:solidFill>
                </a:rPr>
                <a:t>Retain</a:t>
              </a:r>
            </a:p>
          </p:txBody>
        </p:sp>
        <p:sp>
          <p:nvSpPr>
            <p:cNvPr id="30" name="Freeform 29"/>
            <p:cNvSpPr/>
            <p:nvPr/>
          </p:nvSpPr>
          <p:spPr>
            <a:xfrm>
              <a:off x="6364183" y="2882544"/>
              <a:ext cx="227848" cy="854430"/>
            </a:xfrm>
            <a:custGeom>
              <a:avLst/>
              <a:gdLst/>
              <a:ahLst/>
              <a:cxnLst/>
              <a:rect l="0" t="0" r="0" b="0"/>
              <a:pathLst>
                <a:path>
                  <a:moveTo>
                    <a:pt x="0" y="0"/>
                  </a:moveTo>
                  <a:lnTo>
                    <a:pt x="0" y="854430"/>
                  </a:lnTo>
                  <a:lnTo>
                    <a:pt x="227848" y="854430"/>
                  </a:lnTo>
                </a:path>
              </a:pathLst>
            </a:custGeom>
            <a:noFill/>
            <a:ln w="19050">
              <a:solidFill>
                <a:schemeClr val="accent1"/>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31" name="Freeform 30"/>
            <p:cNvSpPr/>
            <p:nvPr/>
          </p:nvSpPr>
          <p:spPr>
            <a:xfrm>
              <a:off x="6592031" y="3167354"/>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1"/>
              </a:solidFill>
            </a:ln>
            <a:scene3d>
              <a:camera prst="orthographicFront"/>
              <a:lightRig rig="flat" dir="t"/>
            </a:scene3d>
            <a:sp3d z="-190500" extrusionH="12700" prstMaterial="plastic"/>
          </p:spPr>
          <p:style>
            <a:lnRef idx="1">
              <a:schemeClr val="accent3">
                <a:hueOff val="-3132437"/>
                <a:satOff val="-28775"/>
                <a:lumOff val="11541"/>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US" sz="1500" dirty="0">
                  <a:solidFill>
                    <a:prstClr val="black">
                      <a:hueOff val="0"/>
                      <a:satOff val="0"/>
                      <a:lumOff val="0"/>
                      <a:alphaOff val="0"/>
                    </a:prstClr>
                  </a:solidFill>
                </a:rPr>
                <a:t>Detailed metadata,</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Retention &amp; disposal Complete audit trail VERS, Archiving </a:t>
              </a:r>
            </a:p>
          </p:txBody>
        </p:sp>
        <p:sp>
          <p:nvSpPr>
            <p:cNvPr id="32" name="Freeform 31"/>
            <p:cNvSpPr/>
            <p:nvPr/>
          </p:nvSpPr>
          <p:spPr>
            <a:xfrm>
              <a:off x="6364183" y="2882544"/>
              <a:ext cx="227848" cy="2278481"/>
            </a:xfrm>
            <a:custGeom>
              <a:avLst/>
              <a:gdLst/>
              <a:ahLst/>
              <a:cxnLst/>
              <a:rect l="0" t="0" r="0" b="0"/>
              <a:pathLst>
                <a:path>
                  <a:moveTo>
                    <a:pt x="0" y="0"/>
                  </a:moveTo>
                  <a:lnTo>
                    <a:pt x="0" y="2278481"/>
                  </a:lnTo>
                  <a:lnTo>
                    <a:pt x="227848" y="2278481"/>
                  </a:lnTo>
                </a:path>
              </a:pathLst>
            </a:custGeom>
            <a:noFill/>
            <a:ln w="19050">
              <a:solidFill>
                <a:schemeClr val="accent1"/>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33" name="Freeform 32"/>
            <p:cNvSpPr/>
            <p:nvPr/>
          </p:nvSpPr>
          <p:spPr>
            <a:xfrm>
              <a:off x="6592031" y="4591405"/>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1"/>
              </a:solidFill>
            </a:ln>
            <a:scene3d>
              <a:camera prst="orthographicFront"/>
              <a:lightRig rig="flat" dir="t"/>
            </a:scene3d>
            <a:sp3d z="-190500" extrusionH="12700" prstMaterial="plastic"/>
          </p:spPr>
          <p:style>
            <a:lnRef idx="1">
              <a:schemeClr val="accent3">
                <a:hueOff val="-3915547"/>
                <a:satOff val="-35969"/>
                <a:lumOff val="1442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US" sz="1500" dirty="0">
                  <a:solidFill>
                    <a:prstClr val="black">
                      <a:hueOff val="0"/>
                      <a:satOff val="0"/>
                      <a:lumOff val="0"/>
                      <a:alphaOff val="0"/>
                    </a:prstClr>
                  </a:solidFill>
                </a:rPr>
                <a:t>DoD5015.2 security, </a:t>
              </a:r>
              <a:br>
                <a:rPr lang="en-US" sz="1500" dirty="0">
                  <a:solidFill>
                    <a:prstClr val="black">
                      <a:hueOff val="0"/>
                      <a:satOff val="0"/>
                      <a:lumOff val="0"/>
                      <a:alphaOff val="0"/>
                    </a:prstClr>
                  </a:solidFill>
                </a:rPr>
              </a:br>
              <a:r>
                <a:rPr lang="en-US" sz="1500" dirty="0">
                  <a:solidFill>
                    <a:prstClr val="black">
                      <a:hueOff val="0"/>
                      <a:satOff val="0"/>
                      <a:lumOff val="0"/>
                      <a:alphaOff val="0"/>
                    </a:prstClr>
                  </a:solidFill>
                </a:rPr>
                <a:t>Single instancing</a:t>
              </a:r>
              <a:br>
                <a:rPr lang="en-US" sz="1500" dirty="0">
                  <a:solidFill>
                    <a:prstClr val="black">
                      <a:hueOff val="0"/>
                      <a:satOff val="0"/>
                      <a:lumOff val="0"/>
                      <a:alphaOff val="0"/>
                    </a:prstClr>
                  </a:solidFill>
                </a:rPr>
              </a:br>
              <a:r>
                <a:rPr lang="en-AU" sz="1500" dirty="0">
                  <a:solidFill>
                    <a:prstClr val="black">
                      <a:hueOff val="0"/>
                      <a:satOff val="0"/>
                      <a:lumOff val="0"/>
                      <a:alphaOff val="0"/>
                    </a:prstClr>
                  </a:solidFill>
                </a:rPr>
                <a:t>Tiered storage</a:t>
              </a:r>
              <a:br>
                <a:rPr lang="en-AU" sz="1500" dirty="0">
                  <a:solidFill>
                    <a:prstClr val="black">
                      <a:hueOff val="0"/>
                      <a:satOff val="0"/>
                      <a:lumOff val="0"/>
                      <a:alphaOff val="0"/>
                    </a:prstClr>
                  </a:solidFill>
                </a:rPr>
              </a:br>
              <a:r>
                <a:rPr lang="en-AU" sz="1500" dirty="0">
                  <a:solidFill>
                    <a:prstClr val="black">
                      <a:hueOff val="0"/>
                      <a:satOff val="0"/>
                      <a:lumOff val="0"/>
                      <a:alphaOff val="0"/>
                    </a:prstClr>
                  </a:solidFill>
                </a:rPr>
                <a:t>Retention policies &amp; triggers</a:t>
              </a:r>
              <a:endParaRPr lang="en-US" sz="1500" dirty="0">
                <a:solidFill>
                  <a:prstClr val="black">
                    <a:hueOff val="0"/>
                    <a:satOff val="0"/>
                    <a:lumOff val="0"/>
                    <a:alphaOff val="0"/>
                  </a:prstClr>
                </a:solidFill>
              </a:endParaRPr>
            </a:p>
          </p:txBody>
        </p:sp>
      </p:grpSp>
      <p:grpSp>
        <p:nvGrpSpPr>
          <p:cNvPr id="34" name="Group 33"/>
          <p:cNvGrpSpPr/>
          <p:nvPr/>
        </p:nvGrpSpPr>
        <p:grpSpPr>
          <a:xfrm>
            <a:off x="6335485" y="1743304"/>
            <a:ext cx="2556000" cy="3987341"/>
            <a:chOff x="8984436" y="1743304"/>
            <a:chExt cx="2278481" cy="3987341"/>
          </a:xfrm>
        </p:grpSpPr>
        <p:sp>
          <p:nvSpPr>
            <p:cNvPr id="35" name="Freeform 34"/>
            <p:cNvSpPr/>
            <p:nvPr/>
          </p:nvSpPr>
          <p:spPr>
            <a:xfrm>
              <a:off x="8984436" y="1743304"/>
              <a:ext cx="2278481" cy="1139240"/>
            </a:xfrm>
            <a:custGeom>
              <a:avLst/>
              <a:gdLst>
                <a:gd name="connsiteX0" fmla="*/ 0 w 2278481"/>
                <a:gd name="connsiteY0" fmla="*/ 113924 h 1139240"/>
                <a:gd name="connsiteX1" fmla="*/ 113924 w 2278481"/>
                <a:gd name="connsiteY1" fmla="*/ 0 h 1139240"/>
                <a:gd name="connsiteX2" fmla="*/ 2164557 w 2278481"/>
                <a:gd name="connsiteY2" fmla="*/ 0 h 1139240"/>
                <a:gd name="connsiteX3" fmla="*/ 2278481 w 2278481"/>
                <a:gd name="connsiteY3" fmla="*/ 113924 h 1139240"/>
                <a:gd name="connsiteX4" fmla="*/ 2278481 w 2278481"/>
                <a:gd name="connsiteY4" fmla="*/ 1025316 h 1139240"/>
                <a:gd name="connsiteX5" fmla="*/ 2164557 w 2278481"/>
                <a:gd name="connsiteY5" fmla="*/ 1139240 h 1139240"/>
                <a:gd name="connsiteX6" fmla="*/ 113924 w 2278481"/>
                <a:gd name="connsiteY6" fmla="*/ 1139240 h 1139240"/>
                <a:gd name="connsiteX7" fmla="*/ 0 w 2278481"/>
                <a:gd name="connsiteY7" fmla="*/ 1025316 h 1139240"/>
                <a:gd name="connsiteX8" fmla="*/ 0 w 2278481"/>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78481" h="1139240">
                  <a:moveTo>
                    <a:pt x="0" y="113924"/>
                  </a:moveTo>
                  <a:cubicBezTo>
                    <a:pt x="0" y="51006"/>
                    <a:pt x="51006" y="0"/>
                    <a:pt x="113924" y="0"/>
                  </a:cubicBezTo>
                  <a:lnTo>
                    <a:pt x="2164557" y="0"/>
                  </a:lnTo>
                  <a:cubicBezTo>
                    <a:pt x="2227475" y="0"/>
                    <a:pt x="2278481" y="51006"/>
                    <a:pt x="2278481" y="113924"/>
                  </a:cubicBezTo>
                  <a:lnTo>
                    <a:pt x="2278481" y="1025316"/>
                  </a:lnTo>
                  <a:cubicBezTo>
                    <a:pt x="2278481" y="1088234"/>
                    <a:pt x="2227475" y="1139240"/>
                    <a:pt x="2164557" y="1139240"/>
                  </a:cubicBezTo>
                  <a:lnTo>
                    <a:pt x="113924" y="1139240"/>
                  </a:lnTo>
                  <a:cubicBezTo>
                    <a:pt x="51006" y="1139240"/>
                    <a:pt x="0" y="1088234"/>
                    <a:pt x="0" y="1025316"/>
                  </a:cubicBezTo>
                  <a:lnTo>
                    <a:pt x="0" y="113924"/>
                  </a:lnTo>
                  <a:close/>
                </a:path>
              </a:pathLst>
            </a:custGeom>
            <a:solidFill>
              <a:schemeClr val="accent4"/>
            </a:solidFill>
            <a:ln w="19050">
              <a:solidFill>
                <a:schemeClr val="accent4"/>
              </a:solidFill>
            </a:ln>
            <a:scene3d>
              <a:camera prst="orthographicFront"/>
              <a:lightRig rig="flat" dir="t"/>
            </a:scene3d>
            <a:sp3d prstMaterial="plastic">
              <a:bevelB w="88900" h="31750" prst="angle"/>
            </a:sp3d>
          </p:spPr>
          <p:style>
            <a:lnRef idx="0">
              <a:schemeClr val="lt1">
                <a:hueOff val="0"/>
                <a:satOff val="0"/>
                <a:lumOff val="0"/>
                <a:alphaOff val="0"/>
              </a:schemeClr>
            </a:lnRef>
            <a:fillRef idx="3">
              <a:schemeClr val="accent3">
                <a:hueOff val="-5481765"/>
                <a:satOff val="-50356"/>
                <a:lumOff val="20196"/>
                <a:alphaOff val="0"/>
              </a:schemeClr>
            </a:fillRef>
            <a:effectRef idx="2">
              <a:schemeClr val="accent3">
                <a:hueOff val="-5481765"/>
                <a:satOff val="-50356"/>
                <a:lumOff val="20196"/>
                <a:alphaOff val="0"/>
              </a:schemeClr>
            </a:effectRef>
            <a:fontRef idx="minor">
              <a:schemeClr val="lt1"/>
            </a:fontRef>
          </p:style>
          <p:txBody>
            <a:bodyPr spcFirstLastPara="0" vert="horz" wrap="square" lIns="94327" tIns="74007" rIns="94327" bIns="74007" numCol="1" spcCol="1270" anchor="ctr" anchorCtr="0">
              <a:noAutofit/>
            </a:bodyPr>
            <a:lstStyle/>
            <a:p>
              <a:pPr algn="ctr" defTabSz="1422364">
                <a:lnSpc>
                  <a:spcPct val="90000"/>
                </a:lnSpc>
                <a:spcBef>
                  <a:spcPct val="0"/>
                </a:spcBef>
                <a:spcAft>
                  <a:spcPct val="35000"/>
                </a:spcAft>
              </a:pPr>
              <a:r>
                <a:rPr lang="en-US" sz="3200" dirty="0">
                  <a:solidFill>
                    <a:prstClr val="white"/>
                  </a:solidFill>
                </a:rPr>
                <a:t>Share</a:t>
              </a:r>
            </a:p>
          </p:txBody>
        </p:sp>
        <p:sp>
          <p:nvSpPr>
            <p:cNvPr id="36" name="Freeform 35"/>
            <p:cNvSpPr/>
            <p:nvPr/>
          </p:nvSpPr>
          <p:spPr>
            <a:xfrm>
              <a:off x="9212284" y="2882544"/>
              <a:ext cx="227848" cy="854430"/>
            </a:xfrm>
            <a:custGeom>
              <a:avLst/>
              <a:gdLst/>
              <a:ahLst/>
              <a:cxnLst/>
              <a:rect l="0" t="0" r="0" b="0"/>
              <a:pathLst>
                <a:path>
                  <a:moveTo>
                    <a:pt x="0" y="0"/>
                  </a:moveTo>
                  <a:lnTo>
                    <a:pt x="0" y="854430"/>
                  </a:lnTo>
                  <a:lnTo>
                    <a:pt x="227848" y="854430"/>
                  </a:lnTo>
                </a:path>
              </a:pathLst>
            </a:custGeom>
            <a:noFill/>
            <a:ln w="19050">
              <a:solidFill>
                <a:schemeClr val="accent4"/>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37" name="Freeform 36"/>
            <p:cNvSpPr/>
            <p:nvPr/>
          </p:nvSpPr>
          <p:spPr>
            <a:xfrm>
              <a:off x="9440132" y="3167354"/>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4"/>
              </a:solidFill>
            </a:ln>
            <a:scene3d>
              <a:camera prst="orthographicFront"/>
              <a:lightRig rig="flat" dir="t"/>
            </a:scene3d>
            <a:sp3d z="-190500" extrusionH="12700" prstMaterial="plastic"/>
          </p:spPr>
          <p:style>
            <a:lnRef idx="1">
              <a:schemeClr val="accent3">
                <a:hueOff val="-4698656"/>
                <a:satOff val="-43162"/>
                <a:lumOff val="17311"/>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AU" sz="1500" dirty="0">
                  <a:solidFill>
                    <a:prstClr val="black">
                      <a:hueOff val="0"/>
                      <a:satOff val="0"/>
                      <a:lumOff val="0"/>
                      <a:alphaOff val="0"/>
                    </a:prstClr>
                  </a:solidFill>
                </a:rPr>
                <a:t>Security &amp; access controls</a:t>
              </a:r>
              <a:br>
                <a:rPr lang="en-AU" sz="1500" dirty="0">
                  <a:solidFill>
                    <a:prstClr val="black">
                      <a:hueOff val="0"/>
                      <a:satOff val="0"/>
                      <a:lumOff val="0"/>
                      <a:alphaOff val="0"/>
                    </a:prstClr>
                  </a:solidFill>
                </a:rPr>
              </a:br>
              <a:r>
                <a:rPr lang="en-AU" sz="1500" dirty="0">
                  <a:solidFill>
                    <a:prstClr val="black">
                      <a:hueOff val="0"/>
                      <a:satOff val="0"/>
                      <a:lumOff val="0"/>
                      <a:alphaOff val="0"/>
                    </a:prstClr>
                  </a:solidFill>
                </a:rPr>
                <a:t>Contextual search</a:t>
              </a:r>
              <a:br>
                <a:rPr lang="en-AU" sz="1500" dirty="0">
                  <a:solidFill>
                    <a:prstClr val="black">
                      <a:hueOff val="0"/>
                      <a:satOff val="0"/>
                      <a:lumOff val="0"/>
                      <a:alphaOff val="0"/>
                    </a:prstClr>
                  </a:solidFill>
                </a:rPr>
              </a:br>
              <a:r>
                <a:rPr lang="en-AU" sz="1500" dirty="0">
                  <a:solidFill>
                    <a:prstClr val="black">
                      <a:hueOff val="0"/>
                      <a:satOff val="0"/>
                      <a:lumOff val="0"/>
                      <a:alphaOff val="0"/>
                    </a:prstClr>
                  </a:solidFill>
                </a:rPr>
                <a:t>Mobile access</a:t>
              </a:r>
              <a:endParaRPr lang="en-US" sz="1500" dirty="0">
                <a:solidFill>
                  <a:prstClr val="black">
                    <a:hueOff val="0"/>
                    <a:satOff val="0"/>
                    <a:lumOff val="0"/>
                    <a:alphaOff val="0"/>
                  </a:prstClr>
                </a:solidFill>
              </a:endParaRPr>
            </a:p>
          </p:txBody>
        </p:sp>
        <p:sp>
          <p:nvSpPr>
            <p:cNvPr id="38" name="Freeform 37"/>
            <p:cNvSpPr/>
            <p:nvPr/>
          </p:nvSpPr>
          <p:spPr>
            <a:xfrm>
              <a:off x="9212284" y="2882544"/>
              <a:ext cx="227848" cy="2278481"/>
            </a:xfrm>
            <a:custGeom>
              <a:avLst/>
              <a:gdLst/>
              <a:ahLst/>
              <a:cxnLst/>
              <a:rect l="0" t="0" r="0" b="0"/>
              <a:pathLst>
                <a:path>
                  <a:moveTo>
                    <a:pt x="0" y="0"/>
                  </a:moveTo>
                  <a:lnTo>
                    <a:pt x="0" y="2278481"/>
                  </a:lnTo>
                  <a:lnTo>
                    <a:pt x="227848" y="2278481"/>
                  </a:lnTo>
                </a:path>
              </a:pathLst>
            </a:custGeom>
            <a:noFill/>
            <a:ln w="19050">
              <a:solidFill>
                <a:schemeClr val="accent4"/>
              </a:solidFill>
            </a:ln>
            <a:scene3d>
              <a:camera prst="orthographicFront"/>
              <a:lightRig rig="flat" dir="t"/>
            </a:scene3d>
            <a:sp3d prstMaterial="matte"/>
          </p:spPr>
          <p:style>
            <a:lnRef idx="2">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sp>
        <p:sp>
          <p:nvSpPr>
            <p:cNvPr id="39" name="Freeform 38"/>
            <p:cNvSpPr/>
            <p:nvPr/>
          </p:nvSpPr>
          <p:spPr>
            <a:xfrm>
              <a:off x="9440132" y="4591405"/>
              <a:ext cx="1822784" cy="1139240"/>
            </a:xfrm>
            <a:custGeom>
              <a:avLst/>
              <a:gdLst>
                <a:gd name="connsiteX0" fmla="*/ 0 w 1822784"/>
                <a:gd name="connsiteY0" fmla="*/ 113924 h 1139240"/>
                <a:gd name="connsiteX1" fmla="*/ 113924 w 1822784"/>
                <a:gd name="connsiteY1" fmla="*/ 0 h 1139240"/>
                <a:gd name="connsiteX2" fmla="*/ 1708860 w 1822784"/>
                <a:gd name="connsiteY2" fmla="*/ 0 h 1139240"/>
                <a:gd name="connsiteX3" fmla="*/ 1822784 w 1822784"/>
                <a:gd name="connsiteY3" fmla="*/ 113924 h 1139240"/>
                <a:gd name="connsiteX4" fmla="*/ 1822784 w 1822784"/>
                <a:gd name="connsiteY4" fmla="*/ 1025316 h 1139240"/>
                <a:gd name="connsiteX5" fmla="*/ 1708860 w 1822784"/>
                <a:gd name="connsiteY5" fmla="*/ 1139240 h 1139240"/>
                <a:gd name="connsiteX6" fmla="*/ 113924 w 1822784"/>
                <a:gd name="connsiteY6" fmla="*/ 1139240 h 1139240"/>
                <a:gd name="connsiteX7" fmla="*/ 0 w 1822784"/>
                <a:gd name="connsiteY7" fmla="*/ 1025316 h 1139240"/>
                <a:gd name="connsiteX8" fmla="*/ 0 w 1822784"/>
                <a:gd name="connsiteY8" fmla="*/ 113924 h 113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2784" h="1139240">
                  <a:moveTo>
                    <a:pt x="0" y="113924"/>
                  </a:moveTo>
                  <a:cubicBezTo>
                    <a:pt x="0" y="51006"/>
                    <a:pt x="51006" y="0"/>
                    <a:pt x="113924" y="0"/>
                  </a:cubicBezTo>
                  <a:lnTo>
                    <a:pt x="1708860" y="0"/>
                  </a:lnTo>
                  <a:cubicBezTo>
                    <a:pt x="1771778" y="0"/>
                    <a:pt x="1822784" y="51006"/>
                    <a:pt x="1822784" y="113924"/>
                  </a:cubicBezTo>
                  <a:lnTo>
                    <a:pt x="1822784" y="1025316"/>
                  </a:lnTo>
                  <a:cubicBezTo>
                    <a:pt x="1822784" y="1088234"/>
                    <a:pt x="1771778" y="1139240"/>
                    <a:pt x="1708860" y="1139240"/>
                  </a:cubicBezTo>
                  <a:lnTo>
                    <a:pt x="113924" y="1139240"/>
                  </a:lnTo>
                  <a:cubicBezTo>
                    <a:pt x="51006" y="1139240"/>
                    <a:pt x="0" y="1088234"/>
                    <a:pt x="0" y="1025316"/>
                  </a:cubicBezTo>
                  <a:lnTo>
                    <a:pt x="0" y="113924"/>
                  </a:lnTo>
                  <a:close/>
                </a:path>
              </a:pathLst>
            </a:custGeom>
            <a:ln w="19050">
              <a:solidFill>
                <a:schemeClr val="accent4"/>
              </a:solidFill>
            </a:ln>
            <a:scene3d>
              <a:camera prst="orthographicFront"/>
              <a:lightRig rig="flat" dir="t"/>
            </a:scene3d>
            <a:sp3d z="-190500" extrusionH="12700" prstMaterial="plastic"/>
          </p:spPr>
          <p:style>
            <a:lnRef idx="1">
              <a:schemeClr val="accent3">
                <a:hueOff val="-5481765"/>
                <a:satOff val="-50356"/>
                <a:lumOff val="20196"/>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1943" tIns="52417" rIns="61943" bIns="52417" numCol="1" spcCol="1270" anchor="ctr" anchorCtr="0">
              <a:noAutofit/>
            </a:bodyPr>
            <a:lstStyle/>
            <a:p>
              <a:pPr algn="ctr" defTabSz="666734">
                <a:lnSpc>
                  <a:spcPct val="90000"/>
                </a:lnSpc>
                <a:spcBef>
                  <a:spcPct val="0"/>
                </a:spcBef>
                <a:spcAft>
                  <a:spcPct val="35000"/>
                </a:spcAft>
              </a:pPr>
              <a:r>
                <a:rPr lang="en-AU" sz="1500" dirty="0">
                  <a:solidFill>
                    <a:prstClr val="black">
                      <a:hueOff val="0"/>
                      <a:satOff val="0"/>
                      <a:lumOff val="0"/>
                      <a:alphaOff val="0"/>
                    </a:prstClr>
                  </a:solidFill>
                </a:rPr>
                <a:t>SharePoint exposure</a:t>
              </a:r>
              <a:br>
                <a:rPr lang="en-AU" sz="1500" dirty="0">
                  <a:solidFill>
                    <a:prstClr val="black">
                      <a:hueOff val="0"/>
                      <a:satOff val="0"/>
                      <a:lumOff val="0"/>
                      <a:alphaOff val="0"/>
                    </a:prstClr>
                  </a:solidFill>
                </a:rPr>
              </a:br>
              <a:r>
                <a:rPr lang="en-AU" sz="1500" dirty="0">
                  <a:solidFill>
                    <a:prstClr val="black">
                      <a:hueOff val="0"/>
                      <a:satOff val="0"/>
                      <a:lumOff val="0"/>
                      <a:alphaOff val="0"/>
                    </a:prstClr>
                  </a:solidFill>
                </a:rPr>
                <a:t>Secure links</a:t>
              </a:r>
              <a:br>
                <a:rPr lang="en-AU" sz="1500" dirty="0">
                  <a:solidFill>
                    <a:prstClr val="black">
                      <a:hueOff val="0"/>
                      <a:satOff val="0"/>
                      <a:lumOff val="0"/>
                      <a:alphaOff val="0"/>
                    </a:prstClr>
                  </a:solidFill>
                </a:rPr>
              </a:br>
              <a:r>
                <a:rPr lang="en-AU" sz="1500" dirty="0">
                  <a:solidFill>
                    <a:prstClr val="black">
                      <a:hueOff val="0"/>
                      <a:satOff val="0"/>
                      <a:lumOff val="0"/>
                      <a:alphaOff val="0"/>
                    </a:prstClr>
                  </a:solidFill>
                </a:rPr>
                <a:t>Web publishing</a:t>
              </a:r>
              <a:endParaRPr lang="en-US" sz="1500" dirty="0">
                <a:solidFill>
                  <a:prstClr val="black">
                    <a:hueOff val="0"/>
                    <a:satOff val="0"/>
                    <a:lumOff val="0"/>
                    <a:alphaOff val="0"/>
                  </a:prstClr>
                </a:solidFill>
              </a:endParaRPr>
            </a:p>
          </p:txBody>
        </p:sp>
      </p:grpSp>
    </p:spTree>
    <p:extLst>
      <p:ext uri="{BB962C8B-B14F-4D97-AF65-F5344CB8AC3E}">
        <p14:creationId xmlns:p14="http://schemas.microsoft.com/office/powerpoint/2010/main" val="3704636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What are customers looking to achieve?</a:t>
            </a:r>
            <a:endParaRPr lang="en-US" dirty="0"/>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13</a:t>
            </a:fld>
            <a:endParaRPr lang="en-US">
              <a:solidFill>
                <a:srgbClr val="617D78"/>
              </a:solidFill>
            </a:endParaRPr>
          </a:p>
        </p:txBody>
      </p:sp>
      <p:sp>
        <p:nvSpPr>
          <p:cNvPr id="15" name="Freeform 14"/>
          <p:cNvSpPr/>
          <p:nvPr/>
        </p:nvSpPr>
        <p:spPr>
          <a:xfrm>
            <a:off x="2012289" y="1525448"/>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231CA5"/>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AU" sz="1500" u="sng" kern="1200" dirty="0">
                <a:solidFill>
                  <a:sysClr val="window" lastClr="FFFFFF"/>
                </a:solidFill>
                <a:latin typeface="Arial" panose="020B0604020202020204"/>
                <a:ea typeface="+mn-ea"/>
                <a:cs typeface="+mn-cs"/>
              </a:rPr>
              <a:t>Streamline system </a:t>
            </a:r>
            <a:r>
              <a:rPr lang="en-AU" sz="1600" u="sng" kern="1200" dirty="0">
                <a:solidFill>
                  <a:sysClr val="window" lastClr="FFFFFF"/>
                </a:solidFill>
                <a:latin typeface="Arial" panose="020B0604020202020204"/>
                <a:ea typeface="+mn-ea"/>
                <a:cs typeface="+mn-cs"/>
              </a:rPr>
              <a:t>administration</a:t>
            </a:r>
            <a:r>
              <a:rPr lang="en-AU" sz="1500" u="sng" kern="1200" dirty="0">
                <a:solidFill>
                  <a:sysClr val="window" lastClr="FFFFFF"/>
                </a:solidFill>
                <a:latin typeface="Arial" panose="020B0604020202020204"/>
                <a:ea typeface="+mn-ea"/>
                <a:cs typeface="+mn-cs"/>
              </a:rPr>
              <a:t> and information flow</a:t>
            </a:r>
          </a:p>
          <a:p>
            <a:pPr lvl="0" algn="ctr" defTabSz="666750">
              <a:lnSpc>
                <a:spcPct val="90000"/>
              </a:lnSpc>
              <a:spcBef>
                <a:spcPct val="0"/>
              </a:spcBef>
              <a:spcAft>
                <a:spcPct val="35000"/>
              </a:spcAft>
            </a:pPr>
            <a:endParaRPr lang="en-AU" sz="1500" kern="1200" dirty="0">
              <a:solidFill>
                <a:sysClr val="window" lastClr="FFFFFF"/>
              </a:solidFill>
              <a:latin typeface="Arial" panose="020B0604020202020204"/>
              <a:ea typeface="+mn-ea"/>
              <a:cs typeface="+mn-cs"/>
            </a:endParaRPr>
          </a:p>
          <a:p>
            <a:pPr lvl="0" algn="ctr" defTabSz="666750">
              <a:lnSpc>
                <a:spcPct val="90000"/>
              </a:lnSpc>
              <a:spcBef>
                <a:spcPct val="0"/>
              </a:spcBef>
              <a:spcAft>
                <a:spcPct val="35000"/>
              </a:spcAft>
            </a:pPr>
            <a:endParaRPr lang="en-GB" sz="1500" kern="1200" dirty="0">
              <a:solidFill>
                <a:sysClr val="window" lastClr="FFFFFF"/>
              </a:solidFill>
              <a:latin typeface="Arial" panose="020B0604020202020204"/>
              <a:ea typeface="+mn-ea"/>
              <a:cs typeface="+mn-cs"/>
            </a:endParaRPr>
          </a:p>
          <a:p>
            <a:pPr lvl="0" algn="ctr" defTabSz="666750">
              <a:lnSpc>
                <a:spcPct val="90000"/>
              </a:lnSpc>
              <a:spcBef>
                <a:spcPct val="0"/>
              </a:spcBef>
              <a:spcAft>
                <a:spcPct val="35000"/>
              </a:spcAft>
            </a:pPr>
            <a:endParaRPr lang="en-US" sz="1500" kern="1200" dirty="0">
              <a:solidFill>
                <a:sysClr val="window" lastClr="FFFFFF"/>
              </a:solidFill>
              <a:latin typeface="Arial" panose="020B0604020202020204"/>
              <a:ea typeface="+mn-ea"/>
              <a:cs typeface="+mn-cs"/>
            </a:endParaRPr>
          </a:p>
        </p:txBody>
      </p:sp>
      <p:sp>
        <p:nvSpPr>
          <p:cNvPr id="16" name="Freeform 15"/>
          <p:cNvSpPr/>
          <p:nvPr/>
        </p:nvSpPr>
        <p:spPr>
          <a:xfrm>
            <a:off x="4818748" y="1525448"/>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3896F3"/>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Improve information management, compliance and sharing</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17" name="Freeform 16"/>
          <p:cNvSpPr/>
          <p:nvPr/>
        </p:nvSpPr>
        <p:spPr>
          <a:xfrm>
            <a:off x="7625207" y="1525448"/>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231CA5"/>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Reduce data migration &amp; change management while mitigating risk</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19" name="Freeform 18"/>
          <p:cNvSpPr/>
          <p:nvPr/>
        </p:nvSpPr>
        <p:spPr>
          <a:xfrm>
            <a:off x="2012289" y="3311377"/>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3896F3"/>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Simplify legally defensible retention management</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20" name="Freeform 19"/>
          <p:cNvSpPr/>
          <p:nvPr/>
        </p:nvSpPr>
        <p:spPr>
          <a:xfrm>
            <a:off x="4818748" y="3311377"/>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231CA5"/>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Get SharePoint content under control</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21" name="Freeform 20"/>
          <p:cNvSpPr/>
          <p:nvPr/>
        </p:nvSpPr>
        <p:spPr>
          <a:xfrm>
            <a:off x="7625207" y="3311377"/>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3896F3"/>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Reduce the cost and complexity to archive SAP applications and content</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22" name="Freeform 21"/>
          <p:cNvSpPr/>
          <p:nvPr/>
        </p:nvSpPr>
        <p:spPr>
          <a:xfrm>
            <a:off x="2012289" y="5097305"/>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231CA5"/>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Enable your mobile workforce</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23" name="Freeform 22"/>
          <p:cNvSpPr/>
          <p:nvPr/>
        </p:nvSpPr>
        <p:spPr>
          <a:xfrm>
            <a:off x="4818748" y="5097305"/>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3896F3"/>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Improve information find-ability</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sp>
        <p:nvSpPr>
          <p:cNvPr id="24" name="Freeform 23"/>
          <p:cNvSpPr/>
          <p:nvPr/>
        </p:nvSpPr>
        <p:spPr>
          <a:xfrm>
            <a:off x="7625207" y="5097305"/>
            <a:ext cx="2551326" cy="1530795"/>
          </a:xfrm>
          <a:custGeom>
            <a:avLst/>
            <a:gdLst>
              <a:gd name="connsiteX0" fmla="*/ 0 w 2551326"/>
              <a:gd name="connsiteY0" fmla="*/ 0 h 1530795"/>
              <a:gd name="connsiteX1" fmla="*/ 2551326 w 2551326"/>
              <a:gd name="connsiteY1" fmla="*/ 0 h 1530795"/>
              <a:gd name="connsiteX2" fmla="*/ 2551326 w 2551326"/>
              <a:gd name="connsiteY2" fmla="*/ 1530795 h 1530795"/>
              <a:gd name="connsiteX3" fmla="*/ 0 w 2551326"/>
              <a:gd name="connsiteY3" fmla="*/ 1530795 h 1530795"/>
              <a:gd name="connsiteX4" fmla="*/ 0 w 2551326"/>
              <a:gd name="connsiteY4" fmla="*/ 0 h 15307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1326" h="1530795">
                <a:moveTo>
                  <a:pt x="0" y="0"/>
                </a:moveTo>
                <a:lnTo>
                  <a:pt x="2551326" y="0"/>
                </a:lnTo>
                <a:lnTo>
                  <a:pt x="2551326" y="1530795"/>
                </a:lnTo>
                <a:lnTo>
                  <a:pt x="0" y="1530795"/>
                </a:lnTo>
                <a:lnTo>
                  <a:pt x="0" y="0"/>
                </a:lnTo>
                <a:close/>
              </a:path>
            </a:pathLst>
          </a:custGeom>
          <a:solidFill>
            <a:srgbClr val="231CA5"/>
          </a:solidFill>
          <a:ln w="12700" cap="flat" cmpd="sng" algn="ctr">
            <a:solidFill>
              <a:sysClr val="window" lastClr="FFFFFF">
                <a:hueOff val="0"/>
                <a:satOff val="0"/>
                <a:lumOff val="0"/>
                <a:alphaOff val="0"/>
              </a:sysClr>
            </a:solid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60960" tIns="60960" rIns="60960" bIns="60960" numCol="1" spcCol="1270" anchor="t" anchorCtr="0">
            <a:noAutofit/>
          </a:bodyPr>
          <a:lstStyle/>
          <a:p>
            <a:pPr lvl="0" algn="ctr" defTabSz="711200">
              <a:lnSpc>
                <a:spcPct val="90000"/>
              </a:lnSpc>
              <a:spcBef>
                <a:spcPct val="0"/>
              </a:spcBef>
              <a:spcAft>
                <a:spcPct val="35000"/>
              </a:spcAft>
            </a:pPr>
            <a:r>
              <a:rPr lang="en-AU" sz="1600" u="sng" kern="1200" dirty="0">
                <a:solidFill>
                  <a:sysClr val="window" lastClr="FFFFFF"/>
                </a:solidFill>
                <a:latin typeface="Arial" panose="020B0604020202020204"/>
                <a:ea typeface="+mn-ea"/>
                <a:cs typeface="+mn-cs"/>
              </a:rPr>
              <a:t>Securely manage content in a hybrid environment</a:t>
            </a: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a:p>
            <a:pPr lvl="0" algn="ctr" defTabSz="711200">
              <a:lnSpc>
                <a:spcPct val="90000"/>
              </a:lnSpc>
              <a:spcBef>
                <a:spcPct val="0"/>
              </a:spcBef>
              <a:spcAft>
                <a:spcPct val="35000"/>
              </a:spcAft>
            </a:pPr>
            <a:endParaRPr lang="en-AU" sz="1600" kern="1200" dirty="0">
              <a:solidFill>
                <a:sysClr val="window" lastClr="FFFFFF"/>
              </a:solidFill>
              <a:latin typeface="Arial" panose="020B0604020202020204"/>
              <a:ea typeface="+mn-ea"/>
              <a:cs typeface="+mn-cs"/>
            </a:endParaRPr>
          </a:p>
        </p:txBody>
      </p:sp>
      <p:grpSp>
        <p:nvGrpSpPr>
          <p:cNvPr id="5" name="Group 4"/>
          <p:cNvGrpSpPr/>
          <p:nvPr/>
        </p:nvGrpSpPr>
        <p:grpSpPr>
          <a:xfrm>
            <a:off x="1985282" y="2307551"/>
            <a:ext cx="8446384" cy="4420075"/>
            <a:chOff x="1985282" y="2307551"/>
            <a:chExt cx="8446384" cy="4420075"/>
          </a:xfrm>
        </p:grpSpPr>
        <p:sp>
          <p:nvSpPr>
            <p:cNvPr id="3" name="Rectangle 2"/>
            <p:cNvSpPr/>
            <p:nvPr/>
          </p:nvSpPr>
          <p:spPr>
            <a:xfrm>
              <a:off x="2057852" y="2307551"/>
              <a:ext cx="2499633" cy="738664"/>
            </a:xfrm>
            <a:prstGeom prst="rect">
              <a:avLst/>
            </a:prstGeom>
          </p:spPr>
          <p:txBody>
            <a:bodyPr wrap="square">
              <a:spAutoFit/>
            </a:bodyPr>
            <a:lstStyle/>
            <a:p>
              <a:pPr marL="285750" lvl="0" indent="-285750">
                <a:buFont typeface="Arial" panose="020B0604020202020204" pitchFamily="34" charset="0"/>
                <a:buChar char="•"/>
              </a:pPr>
              <a:r>
                <a:rPr lang="en-AU" sz="1400" dirty="0">
                  <a:solidFill>
                    <a:schemeClr val="bg1"/>
                  </a:solidFill>
                </a:rPr>
                <a:t>Unified content and records management</a:t>
              </a:r>
              <a:endParaRPr lang="en-US" sz="1400" dirty="0">
                <a:solidFill>
                  <a:schemeClr val="bg1"/>
                </a:solidFill>
              </a:endParaRPr>
            </a:p>
            <a:p>
              <a:pPr marL="285750" lvl="0" indent="-285750">
                <a:buFont typeface="Arial" panose="020B0604020202020204" pitchFamily="34" charset="0"/>
                <a:buChar char="•"/>
              </a:pPr>
              <a:r>
                <a:rPr lang="en-AU" sz="1400" dirty="0">
                  <a:solidFill>
                    <a:schemeClr val="bg1"/>
                  </a:solidFill>
                </a:rPr>
                <a:t>Content workflow </a:t>
              </a:r>
              <a:endParaRPr lang="en-US" sz="1400" dirty="0">
                <a:solidFill>
                  <a:schemeClr val="bg1"/>
                </a:solidFill>
              </a:endParaRPr>
            </a:p>
          </p:txBody>
        </p:sp>
        <p:sp>
          <p:nvSpPr>
            <p:cNvPr id="6" name="Rectangle 5"/>
            <p:cNvSpPr/>
            <p:nvPr/>
          </p:nvSpPr>
          <p:spPr>
            <a:xfrm>
              <a:off x="4801053" y="2307551"/>
              <a:ext cx="2663352" cy="738664"/>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Auto-declaration and classification</a:t>
              </a:r>
            </a:p>
            <a:p>
              <a:pPr marL="285750" lvl="0" indent="-285750">
                <a:buFont typeface="Arial" panose="020B0604020202020204" pitchFamily="34" charset="0"/>
                <a:buChar char="•"/>
              </a:pPr>
              <a:r>
                <a:rPr lang="en-US" sz="1400" dirty="0">
                  <a:solidFill>
                    <a:schemeClr val="bg1"/>
                  </a:solidFill>
                </a:rPr>
                <a:t>Linked security and retention</a:t>
              </a:r>
            </a:p>
          </p:txBody>
        </p:sp>
        <p:sp>
          <p:nvSpPr>
            <p:cNvPr id="7" name="Rectangle 6"/>
            <p:cNvSpPr/>
            <p:nvPr/>
          </p:nvSpPr>
          <p:spPr>
            <a:xfrm>
              <a:off x="7631338" y="2307551"/>
              <a:ext cx="2499633" cy="738664"/>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Manage-in-place</a:t>
              </a:r>
            </a:p>
            <a:p>
              <a:pPr marL="285750" lvl="0" indent="-285750">
                <a:buFont typeface="Arial" panose="020B0604020202020204" pitchFamily="34" charset="0"/>
                <a:buChar char="•"/>
              </a:pPr>
              <a:r>
                <a:rPr lang="en-US" sz="1400" dirty="0">
                  <a:solidFill>
                    <a:schemeClr val="bg1"/>
                  </a:solidFill>
                </a:rPr>
                <a:t>Desktop and application integration</a:t>
              </a:r>
            </a:p>
          </p:txBody>
        </p:sp>
        <p:sp>
          <p:nvSpPr>
            <p:cNvPr id="9" name="Rectangle 8"/>
            <p:cNvSpPr/>
            <p:nvPr/>
          </p:nvSpPr>
          <p:spPr>
            <a:xfrm>
              <a:off x="1985282" y="3925560"/>
              <a:ext cx="2663352" cy="954107"/>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Automated policy application</a:t>
              </a:r>
            </a:p>
            <a:p>
              <a:pPr marL="285750" lvl="0" indent="-285750">
                <a:buFont typeface="Arial" panose="020B0604020202020204" pitchFamily="34" charset="0"/>
                <a:buChar char="•"/>
              </a:pPr>
              <a:r>
                <a:rPr lang="en-US" sz="1400" dirty="0">
                  <a:solidFill>
                    <a:schemeClr val="bg1"/>
                  </a:solidFill>
                </a:rPr>
                <a:t>Vertical industries and regional jurisdictional mandates.</a:t>
              </a:r>
            </a:p>
          </p:txBody>
        </p:sp>
        <p:sp>
          <p:nvSpPr>
            <p:cNvPr id="10" name="Rectangle 9"/>
            <p:cNvSpPr/>
            <p:nvPr/>
          </p:nvSpPr>
          <p:spPr>
            <a:xfrm>
              <a:off x="4830081" y="4099727"/>
              <a:ext cx="2780612" cy="738664"/>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Without diminishing the collaborative user experience</a:t>
              </a:r>
            </a:p>
            <a:p>
              <a:pPr marL="285750" lvl="0" indent="-285750">
                <a:buFont typeface="Arial" panose="020B0604020202020204" pitchFamily="34" charset="0"/>
                <a:buChar char="•"/>
              </a:pPr>
              <a:r>
                <a:rPr lang="en-US" sz="1400" dirty="0">
                  <a:solidFill>
                    <a:schemeClr val="bg1"/>
                  </a:solidFill>
                </a:rPr>
                <a:t>Rules based management</a:t>
              </a:r>
            </a:p>
          </p:txBody>
        </p:sp>
        <p:sp>
          <p:nvSpPr>
            <p:cNvPr id="11" name="Rectangle 10"/>
            <p:cNvSpPr/>
            <p:nvPr/>
          </p:nvSpPr>
          <p:spPr>
            <a:xfrm>
              <a:off x="7631338" y="4099727"/>
              <a:ext cx="2499633" cy="738664"/>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Still provide access to staff</a:t>
              </a:r>
            </a:p>
            <a:p>
              <a:pPr marL="285750" lvl="0" indent="-285750">
                <a:buFont typeface="Arial" panose="020B0604020202020204" pitchFamily="34" charset="0"/>
                <a:buChar char="•"/>
              </a:pPr>
              <a:r>
                <a:rPr lang="en-US" sz="1400" dirty="0">
                  <a:solidFill>
                    <a:schemeClr val="bg1"/>
                  </a:solidFill>
                </a:rPr>
                <a:t>Remove the need for legacy applications</a:t>
              </a:r>
            </a:p>
          </p:txBody>
        </p:sp>
        <p:sp>
          <p:nvSpPr>
            <p:cNvPr id="12" name="Rectangle 11"/>
            <p:cNvSpPr/>
            <p:nvPr/>
          </p:nvSpPr>
          <p:spPr>
            <a:xfrm>
              <a:off x="1997775" y="5717735"/>
              <a:ext cx="2636345" cy="954107"/>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Authorized access to content, contacts, workflows</a:t>
              </a:r>
            </a:p>
            <a:p>
              <a:pPr marL="285750" lvl="0" indent="-285750">
                <a:buFont typeface="Arial" panose="020B0604020202020204" pitchFamily="34" charset="0"/>
                <a:buChar char="•"/>
              </a:pPr>
              <a:r>
                <a:rPr lang="en-US" sz="1400" dirty="0">
                  <a:solidFill>
                    <a:schemeClr val="bg1"/>
                  </a:solidFill>
                </a:rPr>
                <a:t>GPS linked assets/content</a:t>
              </a:r>
            </a:p>
            <a:p>
              <a:pPr marL="285750" lvl="0" indent="-285750">
                <a:buFont typeface="Arial" panose="020B0604020202020204" pitchFamily="34" charset="0"/>
                <a:buChar char="•"/>
              </a:pPr>
              <a:r>
                <a:rPr lang="en-US" sz="1400" dirty="0">
                  <a:solidFill>
                    <a:schemeClr val="bg1"/>
                  </a:solidFill>
                </a:rPr>
                <a:t>A range of mobile devices</a:t>
              </a:r>
            </a:p>
          </p:txBody>
        </p:sp>
        <p:sp>
          <p:nvSpPr>
            <p:cNvPr id="13" name="Rectangle 12"/>
            <p:cNvSpPr/>
            <p:nvPr/>
          </p:nvSpPr>
          <p:spPr>
            <a:xfrm>
              <a:off x="4786538" y="5558075"/>
              <a:ext cx="2774295" cy="1169551"/>
            </a:xfrm>
            <a:prstGeom prst="rect">
              <a:avLst/>
            </a:prstGeom>
          </p:spPr>
          <p:txBody>
            <a:bodyPr wrap="square">
              <a:spAutoFit/>
            </a:bodyPr>
            <a:lstStyle/>
            <a:p>
              <a:pPr marL="285750" lvl="0" indent="-285750">
                <a:buFont typeface="Arial" panose="020B0604020202020204" pitchFamily="34" charset="0"/>
                <a:buChar char="•"/>
              </a:pPr>
              <a:r>
                <a:rPr lang="en-US" sz="1400" dirty="0">
                  <a:solidFill>
                    <a:schemeClr val="bg1"/>
                  </a:solidFill>
                </a:rPr>
                <a:t>Powerful, contextual and accurate search</a:t>
              </a:r>
            </a:p>
            <a:p>
              <a:pPr marL="285750" lvl="0" indent="-285750">
                <a:buFont typeface="Arial" panose="020B0604020202020204" pitchFamily="34" charset="0"/>
                <a:buChar char="•"/>
              </a:pPr>
              <a:r>
                <a:rPr lang="en-US" sz="1400" dirty="0">
                  <a:solidFill>
                    <a:schemeClr val="bg1"/>
                  </a:solidFill>
                </a:rPr>
                <a:t>Pin-point what you want</a:t>
              </a:r>
            </a:p>
            <a:p>
              <a:pPr marL="285750" lvl="0" indent="-285750">
                <a:buFont typeface="Arial" panose="020B0604020202020204" pitchFamily="34" charset="0"/>
                <a:buChar char="•"/>
              </a:pPr>
              <a:r>
                <a:rPr lang="en-US" sz="1400" dirty="0">
                  <a:solidFill>
                    <a:schemeClr val="bg1"/>
                  </a:solidFill>
                </a:rPr>
                <a:t>No list of loosely related options to work through </a:t>
              </a:r>
            </a:p>
          </p:txBody>
        </p:sp>
        <p:sp>
          <p:nvSpPr>
            <p:cNvPr id="14" name="Rectangle 13"/>
            <p:cNvSpPr/>
            <p:nvPr/>
          </p:nvSpPr>
          <p:spPr>
            <a:xfrm>
              <a:off x="7631338" y="5558073"/>
              <a:ext cx="2800328" cy="1169551"/>
            </a:xfrm>
            <a:prstGeom prst="rect">
              <a:avLst/>
            </a:prstGeom>
          </p:spPr>
          <p:txBody>
            <a:bodyPr wrap="square">
              <a:spAutoFit/>
            </a:bodyPr>
            <a:lstStyle/>
            <a:p>
              <a:pPr marL="285750" lvl="0" indent="-285750">
                <a:buFont typeface="Arial" panose="020B0604020202020204" pitchFamily="34" charset="0"/>
                <a:buChar char="•"/>
              </a:pPr>
              <a:r>
                <a:rPr lang="en-AU" sz="1400" dirty="0">
                  <a:solidFill>
                    <a:schemeClr val="bg1"/>
                  </a:solidFill>
                </a:rPr>
                <a:t>O365 integration via the desktop client</a:t>
              </a:r>
            </a:p>
            <a:p>
              <a:pPr marL="285750" lvl="0" indent="-285750">
                <a:buFont typeface="Arial" panose="020B0604020202020204" pitchFamily="34" charset="0"/>
                <a:buChar char="•"/>
              </a:pPr>
              <a:r>
                <a:rPr lang="en-AU" sz="1400" dirty="0">
                  <a:solidFill>
                    <a:schemeClr val="bg1"/>
                  </a:solidFill>
                </a:rPr>
                <a:t>User authentication, access controls, encryption &amp; audit</a:t>
              </a:r>
            </a:p>
            <a:p>
              <a:pPr marL="285750" lvl="0" indent="-285750">
                <a:buFont typeface="Arial" panose="020B0604020202020204" pitchFamily="34" charset="0"/>
                <a:buChar char="•"/>
              </a:pPr>
              <a:r>
                <a:rPr lang="en-AU" sz="1400" dirty="0">
                  <a:solidFill>
                    <a:schemeClr val="bg1"/>
                  </a:solidFill>
                </a:rPr>
                <a:t>DoD5015.2</a:t>
              </a:r>
            </a:p>
          </p:txBody>
        </p:sp>
      </p:grpSp>
      <p:sp>
        <p:nvSpPr>
          <p:cNvPr id="8" name="Rectangle 7"/>
          <p:cNvSpPr/>
          <p:nvPr/>
        </p:nvSpPr>
        <p:spPr>
          <a:xfrm>
            <a:off x="4757962" y="1488008"/>
            <a:ext cx="2677867" cy="1610765"/>
          </a:xfrm>
          <a:prstGeom prst="rect">
            <a:avLst/>
          </a:prstGeom>
          <a:noFill/>
          <a:ln w="28575">
            <a:solidFill>
              <a:srgbClr val="E500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1949018" y="3278367"/>
            <a:ext cx="2677867" cy="1610765"/>
          </a:xfrm>
          <a:prstGeom prst="rect">
            <a:avLst/>
          </a:prstGeom>
          <a:noFill/>
          <a:ln w="28575">
            <a:solidFill>
              <a:srgbClr val="E500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4755477" y="3279956"/>
            <a:ext cx="2677867" cy="1610765"/>
          </a:xfrm>
          <a:prstGeom prst="rect">
            <a:avLst/>
          </a:prstGeom>
          <a:noFill/>
          <a:ln w="28575">
            <a:solidFill>
              <a:srgbClr val="E500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1949017" y="5064767"/>
            <a:ext cx="2677867" cy="1610765"/>
          </a:xfrm>
          <a:prstGeom prst="rect">
            <a:avLst/>
          </a:prstGeom>
          <a:noFill/>
          <a:ln w="28575">
            <a:solidFill>
              <a:srgbClr val="E500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p:cNvSpPr/>
          <p:nvPr/>
        </p:nvSpPr>
        <p:spPr>
          <a:xfrm>
            <a:off x="4755476" y="5076039"/>
            <a:ext cx="2677867" cy="1610765"/>
          </a:xfrm>
          <a:prstGeom prst="rect">
            <a:avLst/>
          </a:prstGeom>
          <a:noFill/>
          <a:ln w="28575">
            <a:solidFill>
              <a:srgbClr val="E500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7867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1" nodeType="clickEffect">
                                  <p:stCondLst>
                                    <p:cond delay="0"/>
                                  </p:stCondLst>
                                  <p:childTnLst>
                                    <p:animEffect transition="out" filter="fade">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fade">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25"/>
                                        </p:tgtEl>
                                      </p:cBhvr>
                                    </p:animEffect>
                                    <p:set>
                                      <p:cBhvr>
                                        <p:cTn id="25" dur="1" fill="hold">
                                          <p:stCondLst>
                                            <p:cond delay="499"/>
                                          </p:stCondLst>
                                        </p:cTn>
                                        <p:tgtEl>
                                          <p:spTgt spid="25"/>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fade">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26"/>
                                        </p:tgtEl>
                                      </p:cBhvr>
                                    </p:animEffect>
                                    <p:set>
                                      <p:cBhvr>
                                        <p:cTn id="33" dur="1" fill="hold">
                                          <p:stCondLst>
                                            <p:cond delay="499"/>
                                          </p:stCondLst>
                                        </p:cTn>
                                        <p:tgtEl>
                                          <p:spTgt spid="26"/>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xit" presetSubtype="0" fill="hold" grpId="1" nodeType="clickEffect">
                                  <p:stCondLst>
                                    <p:cond delay="0"/>
                                  </p:stCondLst>
                                  <p:childTnLst>
                                    <p:animEffect transition="out" filter="fade">
                                      <p:cBhvr>
                                        <p:cTn id="40" dur="500"/>
                                        <p:tgtEl>
                                          <p:spTgt spid="27"/>
                                        </p:tgtEl>
                                      </p:cBhvr>
                                    </p:animEffect>
                                    <p:set>
                                      <p:cBhvr>
                                        <p:cTn id="41" dur="1" fill="hold">
                                          <p:stCondLst>
                                            <p:cond delay="499"/>
                                          </p:stCondLst>
                                        </p:cTn>
                                        <p:tgtEl>
                                          <p:spTgt spid="27"/>
                                        </p:tgtEl>
                                        <p:attrNameLst>
                                          <p:attrName>style.visibility</p:attrName>
                                        </p:attrNameLst>
                                      </p:cBhvr>
                                      <p:to>
                                        <p:strVal val="hidden"/>
                                      </p:to>
                                    </p:set>
                                  </p:childTnLst>
                                </p:cTn>
                              </p:par>
                              <p:par>
                                <p:cTn id="42" presetID="10" presetClass="entr" presetSubtype="0" fill="hold" grpId="1" nodeType="with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28"/>
                                        </p:tgtEl>
                                      </p:cBhvr>
                                    </p:animEffect>
                                    <p:set>
                                      <p:cBhvr>
                                        <p:cTn id="49"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25" grpId="0" animBg="1"/>
      <p:bldP spid="25" grpId="1" animBg="1"/>
      <p:bldP spid="26" grpId="0" animBg="1"/>
      <p:bldP spid="26" grpId="1" animBg="1"/>
      <p:bldP spid="27" grpId="0" animBg="1"/>
      <p:bldP spid="27" grpId="1" animBg="1"/>
      <p:bldP spid="28" grpId="0" animBg="1"/>
      <p:bldP spid="2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Value to Change</a:t>
            </a:r>
            <a:endParaRPr lang="en-US" dirty="0"/>
          </a:p>
        </p:txBody>
      </p:sp>
    </p:spTree>
    <p:extLst>
      <p:ext uri="{BB962C8B-B14F-4D97-AF65-F5344CB8AC3E}">
        <p14:creationId xmlns:p14="http://schemas.microsoft.com/office/powerpoint/2010/main" val="343408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ltGray">
          <a:xfrm>
            <a:off x="3503712" y="2659246"/>
            <a:ext cx="5040560" cy="2252206"/>
          </a:xfrm>
          <a:prstGeom prst="rect">
            <a:avLst/>
          </a:prstGeom>
          <a:solidFill>
            <a:schemeClr val="bg1"/>
          </a:solid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2000" dirty="0" err="1">
              <a:solidFill>
                <a:prstClr val="white"/>
              </a:solidFill>
              <a:cs typeface="Arial" panose="020B0604020202020204" pitchFamily="34" charset="0"/>
            </a:endParaRPr>
          </a:p>
        </p:txBody>
      </p:sp>
      <p:sp>
        <p:nvSpPr>
          <p:cNvPr id="3" name="Title 2"/>
          <p:cNvSpPr>
            <a:spLocks noGrp="1"/>
          </p:cNvSpPr>
          <p:nvPr>
            <p:ph type="title"/>
          </p:nvPr>
        </p:nvSpPr>
        <p:spPr/>
        <p:txBody>
          <a:bodyPr/>
          <a:lstStyle/>
          <a:p>
            <a:r>
              <a:rPr lang="en-AU" dirty="0"/>
              <a:t>A vital business application to manage content across the lifecycle</a:t>
            </a:r>
            <a:endParaRPr lang="en-US" dirty="0"/>
          </a:p>
        </p:txBody>
      </p:sp>
      <p:sp>
        <p:nvSpPr>
          <p:cNvPr id="8" name="TextBox 7"/>
          <p:cNvSpPr txBox="1"/>
          <p:nvPr/>
        </p:nvSpPr>
        <p:spPr>
          <a:xfrm>
            <a:off x="3884437" y="3396248"/>
            <a:ext cx="4279109" cy="1155164"/>
          </a:xfrm>
          <a:prstGeom prst="rect">
            <a:avLst/>
          </a:prstGeom>
          <a:noFill/>
        </p:spPr>
        <p:txBody>
          <a:bodyPr wrap="square" lIns="0" tIns="0" rIns="0" bIns="0" rtlCol="0">
            <a:noAutofit/>
          </a:bodyPr>
          <a:lstStyle/>
          <a:p>
            <a:pPr>
              <a:lnSpc>
                <a:spcPct val="90000"/>
              </a:lnSpc>
            </a:pPr>
            <a:r>
              <a:rPr lang="en-AU" dirty="0">
                <a:solidFill>
                  <a:prstClr val="black"/>
                </a:solidFill>
                <a:cs typeface="Arial" panose="020B0604020202020204" pitchFamily="34" charset="0"/>
              </a:rPr>
              <a:t>Content Manager is considered a vital business application within our organization, it helps us capture, manage, access and secure business documents and records from creation to disposal. </a:t>
            </a:r>
            <a:br>
              <a:rPr lang="en-AU" dirty="0">
                <a:solidFill>
                  <a:prstClr val="black"/>
                </a:solidFill>
                <a:cs typeface="Arial" panose="020B0604020202020204" pitchFamily="34" charset="0"/>
              </a:rPr>
            </a:br>
            <a:endParaRPr lang="en-US" dirty="0">
              <a:solidFill>
                <a:prstClr val="black"/>
              </a:solidFill>
              <a:cs typeface="Arial" panose="020B0604020202020204" pitchFamily="34" charset="0"/>
            </a:endParaRPr>
          </a:p>
        </p:txBody>
      </p:sp>
      <p:sp>
        <p:nvSpPr>
          <p:cNvPr id="2" name="TextBox 1"/>
          <p:cNvSpPr txBox="1"/>
          <p:nvPr/>
        </p:nvSpPr>
        <p:spPr>
          <a:xfrm>
            <a:off x="8188946" y="6014235"/>
            <a:ext cx="3416766" cy="410966"/>
          </a:xfrm>
          <a:prstGeom prst="rect">
            <a:avLst/>
          </a:prstGeom>
          <a:noFill/>
        </p:spPr>
        <p:txBody>
          <a:bodyPr wrap="square" lIns="0" tIns="0" rIns="0" bIns="0" rtlCol="0">
            <a:noAutofit/>
          </a:bodyPr>
          <a:lstStyle/>
          <a:p>
            <a:pPr>
              <a:lnSpc>
                <a:spcPct val="90000"/>
              </a:lnSpc>
            </a:pPr>
            <a:r>
              <a:rPr lang="en-AU" sz="1000" dirty="0" err="1">
                <a:solidFill>
                  <a:srgbClr val="808285"/>
                </a:solidFill>
                <a:cs typeface="Arial" panose="020B0604020202020204" pitchFamily="34" charset="0"/>
              </a:rPr>
              <a:t>TechValidate</a:t>
            </a:r>
            <a:r>
              <a:rPr lang="en-AU" sz="1000" dirty="0">
                <a:solidFill>
                  <a:srgbClr val="808285"/>
                </a:solidFill>
                <a:cs typeface="Arial" panose="020B0604020202020204" pitchFamily="34" charset="0"/>
              </a:rPr>
              <a:t> Survey Results August 2015</a:t>
            </a:r>
            <a:endParaRPr lang="en-US" sz="1000" dirty="0">
              <a:solidFill>
                <a:srgbClr val="808285"/>
              </a:solidFill>
              <a:cs typeface="Arial" panose="020B0604020202020204" pitchFamily="34" charset="0"/>
            </a:endParaRPr>
          </a:p>
        </p:txBody>
      </p:sp>
      <p:sp>
        <p:nvSpPr>
          <p:cNvPr id="5" name="Rectangle 4"/>
          <p:cNvSpPr/>
          <p:nvPr/>
        </p:nvSpPr>
        <p:spPr>
          <a:xfrm>
            <a:off x="3792915" y="2763941"/>
            <a:ext cx="4670253" cy="590931"/>
          </a:xfrm>
          <a:prstGeom prst="rect">
            <a:avLst/>
          </a:prstGeom>
        </p:spPr>
        <p:txBody>
          <a:bodyPr wrap="none">
            <a:spAutoFit/>
          </a:bodyPr>
          <a:lstStyle/>
          <a:p>
            <a:pPr>
              <a:lnSpc>
                <a:spcPct val="90000"/>
              </a:lnSpc>
            </a:pPr>
            <a:r>
              <a:rPr lang="en-AU" sz="3600" dirty="0">
                <a:solidFill>
                  <a:prstClr val="black"/>
                </a:solidFill>
                <a:cs typeface="Arial" panose="020B0604020202020204" pitchFamily="34" charset="0"/>
              </a:rPr>
              <a:t>87% of customers agree</a:t>
            </a:r>
          </a:p>
        </p:txBody>
      </p:sp>
      <p:grpSp>
        <p:nvGrpSpPr>
          <p:cNvPr id="4" name="Group 3"/>
          <p:cNvGrpSpPr/>
          <p:nvPr/>
        </p:nvGrpSpPr>
        <p:grpSpPr>
          <a:xfrm>
            <a:off x="633656" y="1383060"/>
            <a:ext cx="10790936" cy="4816038"/>
            <a:chOff x="633656" y="1383060"/>
            <a:chExt cx="10790936" cy="4816038"/>
          </a:xfrm>
        </p:grpSpPr>
        <p:cxnSp>
          <p:nvCxnSpPr>
            <p:cNvPr id="11" name="Straight Connector 10"/>
            <p:cNvCxnSpPr/>
            <p:nvPr/>
          </p:nvCxnSpPr>
          <p:spPr>
            <a:xfrm>
              <a:off x="6096000" y="2107981"/>
              <a:ext cx="0" cy="432048"/>
            </a:xfrm>
            <a:prstGeom prst="line">
              <a:avLst/>
            </a:prstGeom>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096000" y="4932125"/>
              <a:ext cx="0" cy="546348"/>
            </a:xfrm>
            <a:prstGeom prst="line">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9" name="Rectangle 8"/>
            <p:cNvSpPr>
              <a:spLocks noChangeAspect="1"/>
            </p:cNvSpPr>
            <p:nvPr/>
          </p:nvSpPr>
          <p:spPr bwMode="ltGray">
            <a:xfrm>
              <a:off x="5271452" y="1383060"/>
              <a:ext cx="1645920" cy="7206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sz="1600" dirty="0">
                  <a:solidFill>
                    <a:prstClr val="black"/>
                  </a:solidFill>
                  <a:cs typeface="Arial" panose="020B0604020202020204" pitchFamily="34" charset="0"/>
                </a:rPr>
                <a:t>Federal government</a:t>
              </a:r>
              <a:endParaRPr lang="en-US" sz="1600" dirty="0" err="1">
                <a:solidFill>
                  <a:prstClr val="black"/>
                </a:solidFill>
                <a:cs typeface="Arial" panose="020B0604020202020204" pitchFamily="34" charset="0"/>
              </a:endParaRPr>
            </a:p>
          </p:txBody>
        </p:sp>
        <p:sp>
          <p:nvSpPr>
            <p:cNvPr id="15" name="Rectangle 14"/>
            <p:cNvSpPr>
              <a:spLocks noChangeAspect="1"/>
            </p:cNvSpPr>
            <p:nvPr/>
          </p:nvSpPr>
          <p:spPr bwMode="ltGray">
            <a:xfrm>
              <a:off x="9778672" y="2675623"/>
              <a:ext cx="1645920" cy="7206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sz="1600" dirty="0">
                  <a:solidFill>
                    <a:prstClr val="black"/>
                  </a:solidFill>
                  <a:cs typeface="Arial" panose="020B0604020202020204" pitchFamily="34" charset="0"/>
                </a:rPr>
                <a:t>Small, medium and large enterprises</a:t>
              </a:r>
              <a:endParaRPr lang="en-US" sz="1600" dirty="0" err="1">
                <a:solidFill>
                  <a:prstClr val="black"/>
                </a:solidFill>
                <a:cs typeface="Arial" panose="020B0604020202020204" pitchFamily="34" charset="0"/>
              </a:endParaRPr>
            </a:p>
          </p:txBody>
        </p:sp>
        <p:sp>
          <p:nvSpPr>
            <p:cNvPr id="16" name="Rectangle 15"/>
            <p:cNvSpPr>
              <a:spLocks noChangeAspect="1"/>
            </p:cNvSpPr>
            <p:nvPr/>
          </p:nvSpPr>
          <p:spPr bwMode="ltGray">
            <a:xfrm>
              <a:off x="633656" y="2675623"/>
              <a:ext cx="1645920" cy="7206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sz="1600" dirty="0">
                  <a:solidFill>
                    <a:prstClr val="black"/>
                  </a:solidFill>
                  <a:cs typeface="Arial" panose="020B0604020202020204" pitchFamily="34" charset="0"/>
                </a:rPr>
                <a:t>State and Local government</a:t>
              </a:r>
              <a:endParaRPr lang="en-US" sz="1600" dirty="0" err="1">
                <a:solidFill>
                  <a:prstClr val="black"/>
                </a:solidFill>
                <a:cs typeface="Arial" panose="020B0604020202020204" pitchFamily="34" charset="0"/>
              </a:endParaRPr>
            </a:p>
          </p:txBody>
        </p:sp>
        <p:sp>
          <p:nvSpPr>
            <p:cNvPr id="17" name="Rectangle 16"/>
            <p:cNvSpPr>
              <a:spLocks noChangeAspect="1"/>
            </p:cNvSpPr>
            <p:nvPr/>
          </p:nvSpPr>
          <p:spPr bwMode="ltGray">
            <a:xfrm>
              <a:off x="9778672" y="4191099"/>
              <a:ext cx="1645920" cy="7206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sz="1600" dirty="0">
                  <a:solidFill>
                    <a:prstClr val="black"/>
                  </a:solidFill>
                  <a:cs typeface="Arial" panose="020B0604020202020204" pitchFamily="34" charset="0"/>
                </a:rPr>
                <a:t>Global 500</a:t>
              </a:r>
              <a:endParaRPr lang="en-US" sz="1600" dirty="0" err="1">
                <a:solidFill>
                  <a:prstClr val="black"/>
                </a:solidFill>
                <a:cs typeface="Arial" panose="020B0604020202020204" pitchFamily="34" charset="0"/>
              </a:endParaRPr>
            </a:p>
          </p:txBody>
        </p:sp>
        <p:sp>
          <p:nvSpPr>
            <p:cNvPr id="18" name="Rectangle 17"/>
            <p:cNvSpPr>
              <a:spLocks noChangeAspect="1"/>
            </p:cNvSpPr>
            <p:nvPr/>
          </p:nvSpPr>
          <p:spPr bwMode="ltGray">
            <a:xfrm>
              <a:off x="5273040" y="5478473"/>
              <a:ext cx="1645920" cy="7206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sz="1600" dirty="0">
                  <a:solidFill>
                    <a:prstClr val="black"/>
                  </a:solidFill>
                  <a:cs typeface="Arial" panose="020B0604020202020204" pitchFamily="34" charset="0"/>
                </a:rPr>
                <a:t>Education, cultural and non-profit institutions</a:t>
              </a:r>
              <a:endParaRPr lang="en-US" sz="1600" dirty="0" err="1">
                <a:solidFill>
                  <a:prstClr val="black"/>
                </a:solidFill>
                <a:cs typeface="Arial" panose="020B0604020202020204" pitchFamily="34" charset="0"/>
              </a:endParaRPr>
            </a:p>
          </p:txBody>
        </p:sp>
        <p:sp>
          <p:nvSpPr>
            <p:cNvPr id="19" name="Rectangle 18"/>
            <p:cNvSpPr>
              <a:spLocks noChangeAspect="1"/>
            </p:cNvSpPr>
            <p:nvPr/>
          </p:nvSpPr>
          <p:spPr bwMode="ltGray">
            <a:xfrm>
              <a:off x="633656" y="4152900"/>
              <a:ext cx="1645920" cy="720625"/>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sz="1600" dirty="0">
                  <a:solidFill>
                    <a:prstClr val="black"/>
                  </a:solidFill>
                  <a:cs typeface="Arial" panose="020B0604020202020204" pitchFamily="34" charset="0"/>
                </a:rPr>
                <a:t>Fortune 500</a:t>
              </a:r>
              <a:endParaRPr lang="en-US" sz="1600" dirty="0" err="1">
                <a:solidFill>
                  <a:prstClr val="black"/>
                </a:solidFill>
                <a:cs typeface="Arial" panose="020B0604020202020204" pitchFamily="34" charset="0"/>
              </a:endParaRPr>
            </a:p>
          </p:txBody>
        </p:sp>
        <p:cxnSp>
          <p:nvCxnSpPr>
            <p:cNvPr id="33" name="Straight Connector 32"/>
            <p:cNvCxnSpPr/>
            <p:nvPr/>
          </p:nvCxnSpPr>
          <p:spPr>
            <a:xfrm>
              <a:off x="8713568" y="4524741"/>
              <a:ext cx="1065104" cy="0"/>
            </a:xfrm>
            <a:prstGeom prst="line">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713568" y="3035247"/>
              <a:ext cx="1065104" cy="0"/>
            </a:xfrm>
            <a:prstGeom prst="line">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H="1">
              <a:off x="2279576" y="4524741"/>
              <a:ext cx="1065104" cy="0"/>
            </a:xfrm>
            <a:prstGeom prst="line">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flipH="1">
              <a:off x="2279576" y="3035247"/>
              <a:ext cx="1065104" cy="0"/>
            </a:xfrm>
            <a:prstGeom prst="line">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74569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AU" dirty="0"/>
              <a:t>Achieving improvement in productivity and compliance</a:t>
            </a:r>
            <a:endParaRPr lang="en-US" dirty="0"/>
          </a:p>
        </p:txBody>
      </p:sp>
      <p:sp>
        <p:nvSpPr>
          <p:cNvPr id="2" name="TextBox 1"/>
          <p:cNvSpPr txBox="1"/>
          <p:nvPr/>
        </p:nvSpPr>
        <p:spPr>
          <a:xfrm>
            <a:off x="1370408" y="5239631"/>
            <a:ext cx="4064000" cy="304800"/>
          </a:xfrm>
          <a:prstGeom prst="rect">
            <a:avLst/>
          </a:prstGeom>
          <a:noFill/>
        </p:spPr>
        <p:txBody>
          <a:bodyPr wrap="square" lIns="0" tIns="0" rIns="0" bIns="0" rtlCol="0">
            <a:noAutofit/>
          </a:bodyPr>
          <a:lstStyle/>
          <a:p>
            <a:pPr>
              <a:lnSpc>
                <a:spcPct val="90000"/>
              </a:lnSpc>
            </a:pPr>
            <a:r>
              <a:rPr lang="en-AU" sz="2000" dirty="0">
                <a:solidFill>
                  <a:prstClr val="black"/>
                </a:solidFill>
                <a:cs typeface="Arial" panose="020B0604020202020204" pitchFamily="34" charset="0"/>
              </a:rPr>
              <a:t>% of customers realized the benefit</a:t>
            </a:r>
            <a:endParaRPr lang="en-US" sz="2000" dirty="0">
              <a:solidFill>
                <a:prstClr val="black"/>
              </a:solidFill>
              <a:cs typeface="Arial" panose="020B0604020202020204" pitchFamily="34" charset="0"/>
            </a:endParaRPr>
          </a:p>
        </p:txBody>
      </p:sp>
      <p:sp>
        <p:nvSpPr>
          <p:cNvPr id="8" name="TextBox 7"/>
          <p:cNvSpPr txBox="1"/>
          <p:nvPr/>
        </p:nvSpPr>
        <p:spPr>
          <a:xfrm>
            <a:off x="7702411" y="5239631"/>
            <a:ext cx="2814572" cy="338161"/>
          </a:xfrm>
          <a:prstGeom prst="rect">
            <a:avLst/>
          </a:prstGeom>
          <a:noFill/>
        </p:spPr>
        <p:txBody>
          <a:bodyPr wrap="square" lIns="0" tIns="0" rIns="0" bIns="0" rtlCol="0">
            <a:noAutofit/>
          </a:bodyPr>
          <a:lstStyle/>
          <a:p>
            <a:pPr>
              <a:lnSpc>
                <a:spcPct val="90000"/>
              </a:lnSpc>
            </a:pPr>
            <a:r>
              <a:rPr lang="en-AU" sz="2000" dirty="0">
                <a:solidFill>
                  <a:prstClr val="black"/>
                </a:solidFill>
                <a:cs typeface="Arial" panose="020B0604020202020204" pitchFamily="34" charset="0"/>
              </a:rPr>
              <a:t>% improvement in metric</a:t>
            </a:r>
            <a:endParaRPr lang="en-US" sz="2000" dirty="0">
              <a:solidFill>
                <a:prstClr val="black"/>
              </a:solidFill>
              <a:cs typeface="Arial" panose="020B0604020202020204" pitchFamily="34" charset="0"/>
            </a:endParaRPr>
          </a:p>
        </p:txBody>
      </p:sp>
      <p:sp>
        <p:nvSpPr>
          <p:cNvPr id="17" name="Rectangle 16"/>
          <p:cNvSpPr/>
          <p:nvPr/>
        </p:nvSpPr>
        <p:spPr bwMode="ltGray">
          <a:xfrm>
            <a:off x="2872805" y="2166331"/>
            <a:ext cx="1800200" cy="144016"/>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22" name="TextBox 21"/>
          <p:cNvSpPr txBox="1"/>
          <p:nvPr/>
        </p:nvSpPr>
        <p:spPr>
          <a:xfrm>
            <a:off x="609600" y="2166331"/>
            <a:ext cx="1584176" cy="210966"/>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Improved process efficiency</a:t>
            </a:r>
            <a:endParaRPr lang="en-US" sz="1200" b="1" dirty="0">
              <a:solidFill>
                <a:prstClr val="black"/>
              </a:solidFill>
              <a:cs typeface="Arial" panose="020B0604020202020204" pitchFamily="34" charset="0"/>
            </a:endParaRPr>
          </a:p>
        </p:txBody>
      </p:sp>
      <p:sp>
        <p:nvSpPr>
          <p:cNvPr id="16" name="Rectangle 15"/>
          <p:cNvSpPr/>
          <p:nvPr/>
        </p:nvSpPr>
        <p:spPr bwMode="ltGray">
          <a:xfrm>
            <a:off x="2872805" y="2516961"/>
            <a:ext cx="1667842" cy="146618"/>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23" name="TextBox 22"/>
          <p:cNvSpPr txBox="1"/>
          <p:nvPr/>
        </p:nvSpPr>
        <p:spPr>
          <a:xfrm>
            <a:off x="609600" y="2516961"/>
            <a:ext cx="2263204" cy="320209"/>
          </a:xfrm>
          <a:prstGeom prst="rect">
            <a:avLst/>
          </a:prstGeom>
          <a:noFill/>
        </p:spPr>
        <p:txBody>
          <a:bodyPr wrap="square" lIns="0" tIns="0" rIns="0" bIns="0" rtlCol="0">
            <a:noAutofit/>
          </a:bodyPr>
          <a:lstStyle/>
          <a:p>
            <a:pPr>
              <a:lnSpc>
                <a:spcPct val="90000"/>
              </a:lnSpc>
            </a:pPr>
            <a:r>
              <a:rPr lang="en-AU" sz="1200" b="1" dirty="0">
                <a:solidFill>
                  <a:prstClr val="black"/>
                </a:solidFill>
                <a:cs typeface="Arial" panose="020B0604020202020204" pitchFamily="34" charset="0"/>
              </a:rPr>
              <a:t>Improved customer service</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information, delivery, accuracy and security</a:t>
            </a:r>
            <a:endParaRPr lang="en-US" sz="1200" dirty="0">
              <a:solidFill>
                <a:prstClr val="black"/>
              </a:solidFill>
              <a:cs typeface="Arial" panose="020B0604020202020204" pitchFamily="34" charset="0"/>
            </a:endParaRPr>
          </a:p>
        </p:txBody>
      </p:sp>
      <p:sp>
        <p:nvSpPr>
          <p:cNvPr id="18" name="Rectangle 17"/>
          <p:cNvSpPr/>
          <p:nvPr/>
        </p:nvSpPr>
        <p:spPr bwMode="ltGray">
          <a:xfrm>
            <a:off x="2872805" y="2982432"/>
            <a:ext cx="1411064" cy="162024"/>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24" name="TextBox 23"/>
          <p:cNvSpPr txBox="1"/>
          <p:nvPr/>
        </p:nvSpPr>
        <p:spPr>
          <a:xfrm>
            <a:off x="609600" y="2982432"/>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Business continuity </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by securing critical information</a:t>
            </a:r>
            <a:endParaRPr lang="en-US" sz="1200" dirty="0">
              <a:solidFill>
                <a:prstClr val="black"/>
              </a:solidFill>
              <a:cs typeface="Arial" panose="020B0604020202020204" pitchFamily="34" charset="0"/>
            </a:endParaRPr>
          </a:p>
        </p:txBody>
      </p:sp>
      <p:sp>
        <p:nvSpPr>
          <p:cNvPr id="19" name="Rectangle 18"/>
          <p:cNvSpPr/>
          <p:nvPr/>
        </p:nvSpPr>
        <p:spPr bwMode="ltGray">
          <a:xfrm>
            <a:off x="2872805" y="3474593"/>
            <a:ext cx="1267048" cy="162024"/>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25" name="TextBox 24"/>
          <p:cNvSpPr txBox="1"/>
          <p:nvPr/>
        </p:nvSpPr>
        <p:spPr>
          <a:xfrm>
            <a:off x="609600" y="3474593"/>
            <a:ext cx="2263204" cy="320209"/>
          </a:xfrm>
          <a:prstGeom prst="rect">
            <a:avLst/>
          </a:prstGeom>
          <a:noFill/>
        </p:spPr>
        <p:txBody>
          <a:bodyPr wrap="square" lIns="0" tIns="0" rIns="0" bIns="0" rtlCol="0">
            <a:noAutofit/>
          </a:bodyPr>
          <a:lstStyle/>
          <a:p>
            <a:pPr>
              <a:lnSpc>
                <a:spcPct val="90000"/>
              </a:lnSpc>
            </a:pPr>
            <a:r>
              <a:rPr lang="en-AU" sz="1200" b="1" dirty="0">
                <a:solidFill>
                  <a:prstClr val="black"/>
                </a:solidFill>
                <a:cs typeface="Arial" panose="020B0604020202020204" pitchFamily="34" charset="0"/>
              </a:rPr>
              <a:t>Improved decision making</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based on accurate and relevant information</a:t>
            </a:r>
            <a:endParaRPr lang="en-US" sz="1200" dirty="0">
              <a:solidFill>
                <a:prstClr val="black"/>
              </a:solidFill>
              <a:cs typeface="Arial" panose="020B0604020202020204" pitchFamily="34" charset="0"/>
            </a:endParaRPr>
          </a:p>
        </p:txBody>
      </p:sp>
      <p:sp>
        <p:nvSpPr>
          <p:cNvPr id="20" name="Rectangle 19"/>
          <p:cNvSpPr/>
          <p:nvPr/>
        </p:nvSpPr>
        <p:spPr bwMode="ltGray">
          <a:xfrm>
            <a:off x="2872804" y="3933056"/>
            <a:ext cx="2207575" cy="162024"/>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26" name="TextBox 25"/>
          <p:cNvSpPr txBox="1"/>
          <p:nvPr/>
        </p:nvSpPr>
        <p:spPr>
          <a:xfrm>
            <a:off x="609600" y="3933056"/>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Improved compliance state</a:t>
            </a:r>
            <a:endParaRPr lang="en-US" sz="1200" b="1" dirty="0">
              <a:solidFill>
                <a:prstClr val="black"/>
              </a:solidFill>
              <a:cs typeface="Arial" panose="020B0604020202020204" pitchFamily="34" charset="0"/>
            </a:endParaRPr>
          </a:p>
        </p:txBody>
      </p:sp>
      <p:sp>
        <p:nvSpPr>
          <p:cNvPr id="21" name="Rectangle 20"/>
          <p:cNvSpPr/>
          <p:nvPr/>
        </p:nvSpPr>
        <p:spPr bwMode="ltGray">
          <a:xfrm>
            <a:off x="2872804" y="4300581"/>
            <a:ext cx="2169493" cy="162024"/>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28" name="TextBox 27"/>
          <p:cNvSpPr txBox="1"/>
          <p:nvPr/>
        </p:nvSpPr>
        <p:spPr>
          <a:xfrm>
            <a:off x="609600" y="4300581"/>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Reduction in time</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retrieving documents and records</a:t>
            </a:r>
            <a:endParaRPr lang="en-US" sz="1200" dirty="0">
              <a:solidFill>
                <a:prstClr val="black"/>
              </a:solidFill>
              <a:cs typeface="Arial" panose="020B0604020202020204" pitchFamily="34" charset="0"/>
            </a:endParaRPr>
          </a:p>
        </p:txBody>
      </p:sp>
      <p:grpSp>
        <p:nvGrpSpPr>
          <p:cNvPr id="56" name="Group 55"/>
          <p:cNvGrpSpPr/>
          <p:nvPr/>
        </p:nvGrpSpPr>
        <p:grpSpPr>
          <a:xfrm>
            <a:off x="2853389" y="4725144"/>
            <a:ext cx="2681969" cy="286512"/>
            <a:chOff x="2853389" y="4941168"/>
            <a:chExt cx="2681969" cy="286512"/>
          </a:xfrm>
        </p:grpSpPr>
        <p:cxnSp>
          <p:nvCxnSpPr>
            <p:cNvPr id="30" name="Straight Connector 29"/>
            <p:cNvCxnSpPr/>
            <p:nvPr/>
          </p:nvCxnSpPr>
          <p:spPr>
            <a:xfrm>
              <a:off x="2872804" y="4941168"/>
              <a:ext cx="2563193"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872804" y="4941168"/>
              <a:ext cx="0" cy="9118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153606" y="4941168"/>
              <a:ext cx="0" cy="9118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4794007" y="4941168"/>
              <a:ext cx="0" cy="9118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5434408" y="4941168"/>
              <a:ext cx="0" cy="9118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5347453" y="5075280"/>
              <a:ext cx="187905" cy="152400"/>
            </a:xfrm>
            <a:prstGeom prst="rect">
              <a:avLst/>
            </a:prstGeom>
            <a:noFill/>
          </p:spPr>
          <p:txBody>
            <a:bodyPr wrap="square" lIns="0" tIns="0" rIns="0" bIns="0" rtlCol="0">
              <a:noAutofit/>
            </a:bodyPr>
            <a:lstStyle/>
            <a:p>
              <a:pPr>
                <a:lnSpc>
                  <a:spcPct val="90000"/>
                </a:lnSpc>
              </a:pPr>
              <a:r>
                <a:rPr lang="en-AU" sz="900" dirty="0">
                  <a:solidFill>
                    <a:prstClr val="black"/>
                  </a:solidFill>
                  <a:cs typeface="Arial" panose="020B0604020202020204" pitchFamily="34" charset="0"/>
                </a:rPr>
                <a:t>80</a:t>
              </a:r>
              <a:endParaRPr lang="en-US" sz="900" dirty="0">
                <a:solidFill>
                  <a:prstClr val="black"/>
                </a:solidFill>
                <a:cs typeface="Arial" panose="020B0604020202020204" pitchFamily="34" charset="0"/>
              </a:endParaRPr>
            </a:p>
          </p:txBody>
        </p:sp>
        <p:sp>
          <p:nvSpPr>
            <p:cNvPr id="43" name="TextBox 42"/>
            <p:cNvSpPr txBox="1"/>
            <p:nvPr/>
          </p:nvSpPr>
          <p:spPr>
            <a:xfrm>
              <a:off x="2853389" y="5075280"/>
              <a:ext cx="187905" cy="152400"/>
            </a:xfrm>
            <a:prstGeom prst="rect">
              <a:avLst/>
            </a:prstGeom>
            <a:noFill/>
          </p:spPr>
          <p:txBody>
            <a:bodyPr wrap="square" lIns="0" tIns="0" rIns="0" bIns="0" rtlCol="0">
              <a:noAutofit/>
            </a:bodyPr>
            <a:lstStyle/>
            <a:p>
              <a:pPr>
                <a:lnSpc>
                  <a:spcPct val="90000"/>
                </a:lnSpc>
              </a:pPr>
              <a:r>
                <a:rPr lang="en-AU" sz="900" dirty="0">
                  <a:solidFill>
                    <a:prstClr val="black"/>
                  </a:solidFill>
                  <a:cs typeface="Arial" panose="020B0604020202020204" pitchFamily="34" charset="0"/>
                </a:rPr>
                <a:t>0</a:t>
              </a:r>
              <a:endParaRPr lang="en-US" sz="900" dirty="0">
                <a:solidFill>
                  <a:prstClr val="black"/>
                </a:solidFill>
                <a:cs typeface="Arial" panose="020B0604020202020204" pitchFamily="34" charset="0"/>
              </a:endParaRPr>
            </a:p>
          </p:txBody>
        </p:sp>
        <p:sp>
          <p:nvSpPr>
            <p:cNvPr id="44" name="TextBox 43"/>
            <p:cNvSpPr txBox="1"/>
            <p:nvPr/>
          </p:nvSpPr>
          <p:spPr>
            <a:xfrm>
              <a:off x="3459784" y="5075280"/>
              <a:ext cx="187905" cy="152400"/>
            </a:xfrm>
            <a:prstGeom prst="rect">
              <a:avLst/>
            </a:prstGeom>
            <a:noFill/>
          </p:spPr>
          <p:txBody>
            <a:bodyPr wrap="square" lIns="0" tIns="0" rIns="0" bIns="0" rtlCol="0">
              <a:noAutofit/>
            </a:bodyPr>
            <a:lstStyle/>
            <a:p>
              <a:pPr>
                <a:lnSpc>
                  <a:spcPct val="90000"/>
                </a:lnSpc>
              </a:pPr>
              <a:r>
                <a:rPr lang="en-AU" sz="900" dirty="0">
                  <a:solidFill>
                    <a:prstClr val="black"/>
                  </a:solidFill>
                  <a:cs typeface="Arial" panose="020B0604020202020204" pitchFamily="34" charset="0"/>
                </a:rPr>
                <a:t>20</a:t>
              </a:r>
              <a:endParaRPr lang="en-US" sz="900" dirty="0">
                <a:solidFill>
                  <a:prstClr val="black"/>
                </a:solidFill>
                <a:cs typeface="Arial" panose="020B0604020202020204" pitchFamily="34" charset="0"/>
              </a:endParaRPr>
            </a:p>
          </p:txBody>
        </p:sp>
        <p:cxnSp>
          <p:nvCxnSpPr>
            <p:cNvPr id="45" name="Straight Connector 44"/>
            <p:cNvCxnSpPr/>
            <p:nvPr/>
          </p:nvCxnSpPr>
          <p:spPr>
            <a:xfrm>
              <a:off x="3513205" y="4941168"/>
              <a:ext cx="0" cy="91189"/>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4095964" y="5075280"/>
              <a:ext cx="187905" cy="152400"/>
            </a:xfrm>
            <a:prstGeom prst="rect">
              <a:avLst/>
            </a:prstGeom>
            <a:noFill/>
          </p:spPr>
          <p:txBody>
            <a:bodyPr wrap="square" lIns="0" tIns="0" rIns="0" bIns="0" rtlCol="0">
              <a:noAutofit/>
            </a:bodyPr>
            <a:lstStyle/>
            <a:p>
              <a:pPr>
                <a:lnSpc>
                  <a:spcPct val="90000"/>
                </a:lnSpc>
              </a:pPr>
              <a:r>
                <a:rPr lang="en-AU" sz="900" dirty="0">
                  <a:solidFill>
                    <a:prstClr val="black"/>
                  </a:solidFill>
                  <a:cs typeface="Arial" panose="020B0604020202020204" pitchFamily="34" charset="0"/>
                </a:rPr>
                <a:t>40</a:t>
              </a:r>
              <a:endParaRPr lang="en-US" sz="900" dirty="0">
                <a:solidFill>
                  <a:prstClr val="black"/>
                </a:solidFill>
                <a:cs typeface="Arial" panose="020B0604020202020204" pitchFamily="34" charset="0"/>
              </a:endParaRPr>
            </a:p>
          </p:txBody>
        </p:sp>
        <p:sp>
          <p:nvSpPr>
            <p:cNvPr id="49" name="TextBox 48"/>
            <p:cNvSpPr txBox="1"/>
            <p:nvPr/>
          </p:nvSpPr>
          <p:spPr>
            <a:xfrm>
              <a:off x="4732144" y="5075280"/>
              <a:ext cx="187905" cy="152400"/>
            </a:xfrm>
            <a:prstGeom prst="rect">
              <a:avLst/>
            </a:prstGeom>
            <a:noFill/>
          </p:spPr>
          <p:txBody>
            <a:bodyPr wrap="square" lIns="0" tIns="0" rIns="0" bIns="0" rtlCol="0">
              <a:noAutofit/>
            </a:bodyPr>
            <a:lstStyle/>
            <a:p>
              <a:pPr>
                <a:lnSpc>
                  <a:spcPct val="90000"/>
                </a:lnSpc>
              </a:pPr>
              <a:r>
                <a:rPr lang="en-AU" sz="900" dirty="0">
                  <a:solidFill>
                    <a:prstClr val="black"/>
                  </a:solidFill>
                  <a:cs typeface="Arial" panose="020B0604020202020204" pitchFamily="34" charset="0"/>
                </a:rPr>
                <a:t>60</a:t>
              </a:r>
              <a:endParaRPr lang="en-US" sz="900" dirty="0">
                <a:solidFill>
                  <a:prstClr val="black"/>
                </a:solidFill>
                <a:cs typeface="Arial" panose="020B0604020202020204" pitchFamily="34" charset="0"/>
              </a:endParaRPr>
            </a:p>
          </p:txBody>
        </p:sp>
      </p:grpSp>
      <p:cxnSp>
        <p:nvCxnSpPr>
          <p:cNvPr id="58" name="Straight Connector 57"/>
          <p:cNvCxnSpPr/>
          <p:nvPr/>
        </p:nvCxnSpPr>
        <p:spPr>
          <a:xfrm>
            <a:off x="5807968" y="2133600"/>
            <a:ext cx="0" cy="3311525"/>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10" name="Group 109"/>
          <p:cNvGrpSpPr/>
          <p:nvPr/>
        </p:nvGrpSpPr>
        <p:grpSpPr>
          <a:xfrm>
            <a:off x="8603264" y="4739313"/>
            <a:ext cx="2605304" cy="224029"/>
            <a:chOff x="8720306" y="4653136"/>
            <a:chExt cx="2605304" cy="224029"/>
          </a:xfrm>
        </p:grpSpPr>
        <p:cxnSp>
          <p:nvCxnSpPr>
            <p:cNvPr id="85" name="Straight Connector 84"/>
            <p:cNvCxnSpPr/>
            <p:nvPr/>
          </p:nvCxnSpPr>
          <p:spPr>
            <a:xfrm>
              <a:off x="8802113" y="4653136"/>
              <a:ext cx="0" cy="7200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9408368" y="4653136"/>
              <a:ext cx="0" cy="7200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9984432" y="4653136"/>
              <a:ext cx="0" cy="7200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0555932" y="4653136"/>
              <a:ext cx="0" cy="7200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1150203" y="4653136"/>
              <a:ext cx="0" cy="72008"/>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11037578" y="4734669"/>
              <a:ext cx="288032" cy="142496"/>
            </a:xfrm>
            <a:prstGeom prst="rect">
              <a:avLst/>
            </a:prstGeom>
            <a:noFill/>
          </p:spPr>
          <p:txBody>
            <a:bodyPr wrap="square" lIns="0" tIns="0" rIns="0" bIns="0" rtlCol="0">
              <a:noAutofit/>
            </a:bodyPr>
            <a:lstStyle/>
            <a:p>
              <a:pPr>
                <a:lnSpc>
                  <a:spcPct val="90000"/>
                </a:lnSpc>
              </a:pPr>
              <a:r>
                <a:rPr lang="en-AU" sz="1000" dirty="0">
                  <a:solidFill>
                    <a:prstClr val="black"/>
                  </a:solidFill>
                  <a:cs typeface="Arial" panose="020B0604020202020204" pitchFamily="34" charset="0"/>
                </a:rPr>
                <a:t>1-10%</a:t>
              </a:r>
              <a:endParaRPr lang="en-US" sz="1000" dirty="0">
                <a:solidFill>
                  <a:prstClr val="black"/>
                </a:solidFill>
                <a:cs typeface="Arial" panose="020B0604020202020204" pitchFamily="34" charset="0"/>
              </a:endParaRPr>
            </a:p>
          </p:txBody>
        </p:sp>
        <p:sp>
          <p:nvSpPr>
            <p:cNvPr id="91" name="TextBox 90"/>
            <p:cNvSpPr txBox="1"/>
            <p:nvPr/>
          </p:nvSpPr>
          <p:spPr>
            <a:xfrm>
              <a:off x="10453202" y="4734669"/>
              <a:ext cx="356640" cy="142496"/>
            </a:xfrm>
            <a:prstGeom prst="rect">
              <a:avLst/>
            </a:prstGeom>
            <a:noFill/>
          </p:spPr>
          <p:txBody>
            <a:bodyPr wrap="square" lIns="0" tIns="0" rIns="0" bIns="0" rtlCol="0">
              <a:noAutofit/>
            </a:bodyPr>
            <a:lstStyle/>
            <a:p>
              <a:pPr>
                <a:lnSpc>
                  <a:spcPct val="90000"/>
                </a:lnSpc>
              </a:pPr>
              <a:r>
                <a:rPr lang="en-AU" sz="1000" dirty="0">
                  <a:solidFill>
                    <a:prstClr val="black"/>
                  </a:solidFill>
                  <a:cs typeface="Arial" panose="020B0604020202020204" pitchFamily="34" charset="0"/>
                </a:rPr>
                <a:t>11-30%</a:t>
              </a:r>
              <a:endParaRPr lang="en-US" sz="1000" dirty="0">
                <a:solidFill>
                  <a:prstClr val="black"/>
                </a:solidFill>
                <a:cs typeface="Arial" panose="020B0604020202020204" pitchFamily="34" charset="0"/>
              </a:endParaRPr>
            </a:p>
          </p:txBody>
        </p:sp>
        <p:sp>
          <p:nvSpPr>
            <p:cNvPr id="92" name="TextBox 91"/>
            <p:cNvSpPr txBox="1"/>
            <p:nvPr/>
          </p:nvSpPr>
          <p:spPr>
            <a:xfrm>
              <a:off x="9869264" y="4734669"/>
              <a:ext cx="356640" cy="142496"/>
            </a:xfrm>
            <a:prstGeom prst="rect">
              <a:avLst/>
            </a:prstGeom>
            <a:noFill/>
          </p:spPr>
          <p:txBody>
            <a:bodyPr wrap="square" lIns="0" tIns="0" rIns="0" bIns="0" rtlCol="0">
              <a:noAutofit/>
            </a:bodyPr>
            <a:lstStyle/>
            <a:p>
              <a:pPr>
                <a:lnSpc>
                  <a:spcPct val="90000"/>
                </a:lnSpc>
              </a:pPr>
              <a:r>
                <a:rPr lang="en-AU" sz="1000" dirty="0">
                  <a:solidFill>
                    <a:prstClr val="black"/>
                  </a:solidFill>
                  <a:cs typeface="Arial" panose="020B0604020202020204" pitchFamily="34" charset="0"/>
                </a:rPr>
                <a:t>31-50%</a:t>
              </a:r>
              <a:endParaRPr lang="en-US" sz="1000" dirty="0">
                <a:solidFill>
                  <a:prstClr val="black"/>
                </a:solidFill>
                <a:cs typeface="Arial" panose="020B0604020202020204" pitchFamily="34" charset="0"/>
              </a:endParaRPr>
            </a:p>
          </p:txBody>
        </p:sp>
        <p:sp>
          <p:nvSpPr>
            <p:cNvPr id="93" name="TextBox 92"/>
            <p:cNvSpPr txBox="1"/>
            <p:nvPr/>
          </p:nvSpPr>
          <p:spPr>
            <a:xfrm>
              <a:off x="9285326" y="4734669"/>
              <a:ext cx="356640" cy="142496"/>
            </a:xfrm>
            <a:prstGeom prst="rect">
              <a:avLst/>
            </a:prstGeom>
            <a:noFill/>
          </p:spPr>
          <p:txBody>
            <a:bodyPr wrap="square" lIns="0" tIns="0" rIns="0" bIns="0" rtlCol="0">
              <a:noAutofit/>
            </a:bodyPr>
            <a:lstStyle/>
            <a:p>
              <a:pPr>
                <a:lnSpc>
                  <a:spcPct val="90000"/>
                </a:lnSpc>
              </a:pPr>
              <a:r>
                <a:rPr lang="en-AU" sz="1000" dirty="0">
                  <a:solidFill>
                    <a:prstClr val="black"/>
                  </a:solidFill>
                  <a:cs typeface="Arial" panose="020B0604020202020204" pitchFamily="34" charset="0"/>
                </a:rPr>
                <a:t>51-70%</a:t>
              </a:r>
              <a:endParaRPr lang="en-US" sz="1000" dirty="0">
                <a:solidFill>
                  <a:prstClr val="black"/>
                </a:solidFill>
                <a:cs typeface="Arial" panose="020B0604020202020204" pitchFamily="34" charset="0"/>
              </a:endParaRPr>
            </a:p>
          </p:txBody>
        </p:sp>
        <p:sp>
          <p:nvSpPr>
            <p:cNvPr id="94" name="TextBox 93"/>
            <p:cNvSpPr txBox="1"/>
            <p:nvPr/>
          </p:nvSpPr>
          <p:spPr>
            <a:xfrm>
              <a:off x="8720306" y="4734669"/>
              <a:ext cx="356640" cy="142496"/>
            </a:xfrm>
            <a:prstGeom prst="rect">
              <a:avLst/>
            </a:prstGeom>
            <a:noFill/>
          </p:spPr>
          <p:txBody>
            <a:bodyPr wrap="square" lIns="0" tIns="0" rIns="0" bIns="0" rtlCol="0">
              <a:noAutofit/>
            </a:bodyPr>
            <a:lstStyle/>
            <a:p>
              <a:pPr>
                <a:lnSpc>
                  <a:spcPct val="90000"/>
                </a:lnSpc>
              </a:pPr>
              <a:r>
                <a:rPr lang="en-AU" sz="1000" dirty="0">
                  <a:solidFill>
                    <a:prstClr val="black"/>
                  </a:solidFill>
                  <a:cs typeface="Arial" panose="020B0604020202020204" pitchFamily="34" charset="0"/>
                </a:rPr>
                <a:t>&gt;70%</a:t>
              </a:r>
              <a:endParaRPr lang="en-US" sz="1000" dirty="0">
                <a:solidFill>
                  <a:prstClr val="black"/>
                </a:solidFill>
                <a:cs typeface="Arial" panose="020B0604020202020204" pitchFamily="34" charset="0"/>
              </a:endParaRPr>
            </a:p>
          </p:txBody>
        </p:sp>
        <p:cxnSp>
          <p:nvCxnSpPr>
            <p:cNvPr id="96" name="Straight Connector 95"/>
            <p:cNvCxnSpPr/>
            <p:nvPr/>
          </p:nvCxnSpPr>
          <p:spPr>
            <a:xfrm>
              <a:off x="8802113" y="4653136"/>
              <a:ext cx="234809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11" name="Group 110"/>
          <p:cNvGrpSpPr/>
          <p:nvPr/>
        </p:nvGrpSpPr>
        <p:grpSpPr>
          <a:xfrm>
            <a:off x="6131025" y="2166331"/>
            <a:ext cx="4963342" cy="2249714"/>
            <a:chOff x="6248067" y="2043382"/>
            <a:chExt cx="4963342" cy="2249714"/>
          </a:xfrm>
        </p:grpSpPr>
        <p:grpSp>
          <p:nvGrpSpPr>
            <p:cNvPr id="105" name="Group 104"/>
            <p:cNvGrpSpPr/>
            <p:nvPr/>
          </p:nvGrpSpPr>
          <p:grpSpPr>
            <a:xfrm>
              <a:off x="8802113" y="2043382"/>
              <a:ext cx="2409296" cy="249499"/>
              <a:chOff x="8827823" y="2074787"/>
              <a:chExt cx="2409296" cy="249499"/>
            </a:xfrm>
          </p:grpSpPr>
          <p:sp>
            <p:nvSpPr>
              <p:cNvPr id="59" name="Rectangle 58"/>
              <p:cNvSpPr/>
              <p:nvPr/>
            </p:nvSpPr>
            <p:spPr bwMode="ltGray">
              <a:xfrm>
                <a:off x="8827823" y="2074787"/>
                <a:ext cx="604307" cy="249499"/>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0" name="Rectangle 59"/>
              <p:cNvSpPr/>
              <p:nvPr/>
            </p:nvSpPr>
            <p:spPr bwMode="ltGray">
              <a:xfrm>
                <a:off x="9432131" y="2074787"/>
                <a:ext cx="714375" cy="249499"/>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1" name="Rectangle 60"/>
              <p:cNvSpPr/>
              <p:nvPr/>
            </p:nvSpPr>
            <p:spPr bwMode="ltGray">
              <a:xfrm>
                <a:off x="10146505" y="2074787"/>
                <a:ext cx="588169" cy="249499"/>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2" name="Rectangle 61"/>
              <p:cNvSpPr/>
              <p:nvPr/>
            </p:nvSpPr>
            <p:spPr bwMode="ltGray">
              <a:xfrm>
                <a:off x="10728895" y="2074787"/>
                <a:ext cx="335657" cy="249499"/>
              </a:xfrm>
              <a:prstGeom prst="rect">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3" name="Rectangle 62"/>
              <p:cNvSpPr/>
              <p:nvPr/>
            </p:nvSpPr>
            <p:spPr bwMode="ltGray">
              <a:xfrm>
                <a:off x="11063288" y="2074787"/>
                <a:ext cx="173831" cy="249499"/>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grpSp>
        <p:grpSp>
          <p:nvGrpSpPr>
            <p:cNvPr id="106" name="Group 105"/>
            <p:cNvGrpSpPr/>
            <p:nvPr/>
          </p:nvGrpSpPr>
          <p:grpSpPr>
            <a:xfrm>
              <a:off x="8802113" y="2516961"/>
              <a:ext cx="2409296" cy="249499"/>
              <a:chOff x="8827823" y="2598933"/>
              <a:chExt cx="2380745" cy="249499"/>
            </a:xfrm>
          </p:grpSpPr>
          <p:sp>
            <p:nvSpPr>
              <p:cNvPr id="64" name="Rectangle 63"/>
              <p:cNvSpPr/>
              <p:nvPr/>
            </p:nvSpPr>
            <p:spPr bwMode="ltGray">
              <a:xfrm>
                <a:off x="8827823" y="2598933"/>
                <a:ext cx="520965" cy="249499"/>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5" name="Rectangle 64"/>
              <p:cNvSpPr/>
              <p:nvPr/>
            </p:nvSpPr>
            <p:spPr bwMode="ltGray">
              <a:xfrm>
                <a:off x="9348788" y="2598933"/>
                <a:ext cx="728662" cy="249499"/>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6" name="Rectangle 65"/>
              <p:cNvSpPr/>
              <p:nvPr/>
            </p:nvSpPr>
            <p:spPr bwMode="ltGray">
              <a:xfrm>
                <a:off x="10077450" y="2598933"/>
                <a:ext cx="588169" cy="249499"/>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7" name="Rectangle 66"/>
              <p:cNvSpPr/>
              <p:nvPr/>
            </p:nvSpPr>
            <p:spPr bwMode="ltGray">
              <a:xfrm>
                <a:off x="10665619" y="2598933"/>
                <a:ext cx="335657" cy="249499"/>
              </a:xfrm>
              <a:prstGeom prst="rect">
                <a:avLst/>
              </a:prstGeom>
              <a:solidFill>
                <a:srgbClr val="A6A6A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68" name="Rectangle 67"/>
              <p:cNvSpPr/>
              <p:nvPr/>
            </p:nvSpPr>
            <p:spPr bwMode="ltGray">
              <a:xfrm>
                <a:off x="10997704" y="2598933"/>
                <a:ext cx="210864" cy="249499"/>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grpSp>
        <p:grpSp>
          <p:nvGrpSpPr>
            <p:cNvPr id="107" name="Group 106"/>
            <p:cNvGrpSpPr/>
            <p:nvPr/>
          </p:nvGrpSpPr>
          <p:grpSpPr>
            <a:xfrm>
              <a:off x="8802113" y="2982432"/>
              <a:ext cx="2408812" cy="249499"/>
              <a:chOff x="8827823" y="3135295"/>
              <a:chExt cx="2392627" cy="249499"/>
            </a:xfrm>
          </p:grpSpPr>
          <p:sp>
            <p:nvSpPr>
              <p:cNvPr id="69" name="Rectangle 68"/>
              <p:cNvSpPr/>
              <p:nvPr/>
            </p:nvSpPr>
            <p:spPr bwMode="ltGray">
              <a:xfrm>
                <a:off x="8827823" y="3135295"/>
                <a:ext cx="364521" cy="249499"/>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0" name="Rectangle 69"/>
              <p:cNvSpPr/>
              <p:nvPr/>
            </p:nvSpPr>
            <p:spPr bwMode="ltGray">
              <a:xfrm>
                <a:off x="9186376" y="3135295"/>
                <a:ext cx="691049" cy="249499"/>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1" name="Rectangle 70"/>
              <p:cNvSpPr/>
              <p:nvPr/>
            </p:nvSpPr>
            <p:spPr bwMode="ltGray">
              <a:xfrm>
                <a:off x="9877425" y="3135295"/>
                <a:ext cx="614363" cy="249499"/>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2" name="Rectangle 71"/>
              <p:cNvSpPr/>
              <p:nvPr/>
            </p:nvSpPr>
            <p:spPr bwMode="ltGray">
              <a:xfrm>
                <a:off x="10488960" y="3135295"/>
                <a:ext cx="564803" cy="249499"/>
              </a:xfrm>
              <a:prstGeom prst="rect">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3" name="Rectangle 72"/>
              <p:cNvSpPr/>
              <p:nvPr/>
            </p:nvSpPr>
            <p:spPr bwMode="ltGray">
              <a:xfrm>
                <a:off x="11053763" y="3135295"/>
                <a:ext cx="166687" cy="249499"/>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grpSp>
        <p:grpSp>
          <p:nvGrpSpPr>
            <p:cNvPr id="108" name="Group 107"/>
            <p:cNvGrpSpPr/>
            <p:nvPr/>
          </p:nvGrpSpPr>
          <p:grpSpPr>
            <a:xfrm>
              <a:off x="8802113" y="3474593"/>
              <a:ext cx="2399287" cy="249499"/>
              <a:chOff x="8827823" y="3676267"/>
              <a:chExt cx="2392627" cy="249499"/>
            </a:xfrm>
          </p:grpSpPr>
          <p:sp>
            <p:nvSpPr>
              <p:cNvPr id="74" name="Rectangle 73"/>
              <p:cNvSpPr/>
              <p:nvPr/>
            </p:nvSpPr>
            <p:spPr bwMode="ltGray">
              <a:xfrm>
                <a:off x="8827823" y="3676267"/>
                <a:ext cx="463815" cy="249499"/>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5" name="Rectangle 74"/>
              <p:cNvSpPr/>
              <p:nvPr/>
            </p:nvSpPr>
            <p:spPr bwMode="ltGray">
              <a:xfrm>
                <a:off x="9285326" y="3676267"/>
                <a:ext cx="644487" cy="249499"/>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dirty="0">
                    <a:solidFill>
                      <a:prstClr val="white"/>
                    </a:solidFill>
                    <a:cs typeface="Arial" panose="020B0604020202020204" pitchFamily="34" charset="0"/>
                  </a:rPr>
                  <a:t>                          </a:t>
                </a:r>
                <a:endParaRPr lang="en-US" dirty="0" err="1">
                  <a:solidFill>
                    <a:prstClr val="white"/>
                  </a:solidFill>
                  <a:cs typeface="Arial" panose="020B0604020202020204" pitchFamily="34" charset="0"/>
                </a:endParaRPr>
              </a:p>
            </p:txBody>
          </p:sp>
          <p:sp>
            <p:nvSpPr>
              <p:cNvPr id="76" name="Rectangle 75"/>
              <p:cNvSpPr/>
              <p:nvPr/>
            </p:nvSpPr>
            <p:spPr bwMode="ltGray">
              <a:xfrm>
                <a:off x="9929813" y="3676267"/>
                <a:ext cx="621506" cy="249499"/>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7" name="Rectangle 76"/>
              <p:cNvSpPr/>
              <p:nvPr/>
            </p:nvSpPr>
            <p:spPr bwMode="ltGray">
              <a:xfrm>
                <a:off x="10551320" y="3676267"/>
                <a:ext cx="457200" cy="249499"/>
              </a:xfrm>
              <a:prstGeom prst="rect">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78" name="Rectangle 77"/>
              <p:cNvSpPr/>
              <p:nvPr/>
            </p:nvSpPr>
            <p:spPr bwMode="ltGray">
              <a:xfrm>
                <a:off x="11008520" y="3676267"/>
                <a:ext cx="211930" cy="249499"/>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grpSp>
        <p:grpSp>
          <p:nvGrpSpPr>
            <p:cNvPr id="109" name="Group 108"/>
            <p:cNvGrpSpPr/>
            <p:nvPr/>
          </p:nvGrpSpPr>
          <p:grpSpPr>
            <a:xfrm>
              <a:off x="8802112" y="3972887"/>
              <a:ext cx="2399287" cy="249499"/>
              <a:chOff x="8821511" y="4225424"/>
              <a:chExt cx="2392626" cy="249499"/>
            </a:xfrm>
          </p:grpSpPr>
          <p:sp>
            <p:nvSpPr>
              <p:cNvPr id="79" name="Rectangle 78"/>
              <p:cNvSpPr/>
              <p:nvPr/>
            </p:nvSpPr>
            <p:spPr bwMode="ltGray">
              <a:xfrm>
                <a:off x="8821511" y="4225424"/>
                <a:ext cx="512989" cy="249499"/>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80" name="Rectangle 79"/>
              <p:cNvSpPr/>
              <p:nvPr/>
            </p:nvSpPr>
            <p:spPr bwMode="ltGray">
              <a:xfrm>
                <a:off x="9332119" y="4225424"/>
                <a:ext cx="583406" cy="249499"/>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AU" dirty="0">
                    <a:solidFill>
                      <a:prstClr val="white"/>
                    </a:solidFill>
                    <a:cs typeface="Arial" panose="020B0604020202020204" pitchFamily="34" charset="0"/>
                  </a:rPr>
                  <a:t>                          </a:t>
                </a:r>
                <a:endParaRPr lang="en-US" dirty="0" err="1">
                  <a:solidFill>
                    <a:prstClr val="white"/>
                  </a:solidFill>
                  <a:cs typeface="Arial" panose="020B0604020202020204" pitchFamily="34" charset="0"/>
                </a:endParaRPr>
              </a:p>
            </p:txBody>
          </p:sp>
          <p:sp>
            <p:nvSpPr>
              <p:cNvPr id="81" name="Rectangle 80"/>
              <p:cNvSpPr/>
              <p:nvPr/>
            </p:nvSpPr>
            <p:spPr bwMode="ltGray">
              <a:xfrm>
                <a:off x="9915524" y="4225424"/>
                <a:ext cx="709613" cy="249499"/>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82" name="Rectangle 81"/>
              <p:cNvSpPr/>
              <p:nvPr/>
            </p:nvSpPr>
            <p:spPr bwMode="ltGray">
              <a:xfrm>
                <a:off x="10620374" y="4225424"/>
                <a:ext cx="407195" cy="249499"/>
              </a:xfrm>
              <a:prstGeom prst="rect">
                <a:avLst/>
              </a:prstGeom>
              <a:solidFill>
                <a:schemeClr val="bg1">
                  <a:lumMod val="6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sp>
            <p:nvSpPr>
              <p:cNvPr id="83" name="Rectangle 82"/>
              <p:cNvSpPr/>
              <p:nvPr/>
            </p:nvSpPr>
            <p:spPr bwMode="ltGray">
              <a:xfrm>
                <a:off x="11015662" y="4225424"/>
                <a:ext cx="198475" cy="249499"/>
              </a:xfrm>
              <a:prstGeom prst="rect">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solidFill>
                    <a:prstClr val="white"/>
                  </a:solidFill>
                  <a:cs typeface="Arial" panose="020B0604020202020204" pitchFamily="34" charset="0"/>
                </a:endParaRPr>
              </a:p>
            </p:txBody>
          </p:sp>
        </p:grpSp>
        <p:sp>
          <p:nvSpPr>
            <p:cNvPr id="99" name="TextBox 98"/>
            <p:cNvSpPr txBox="1"/>
            <p:nvPr/>
          </p:nvSpPr>
          <p:spPr>
            <a:xfrm>
              <a:off x="6248067" y="2516961"/>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Improved compliance state</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and audit reporting</a:t>
              </a:r>
              <a:endParaRPr lang="en-US" sz="1200" dirty="0">
                <a:solidFill>
                  <a:prstClr val="black"/>
                </a:solidFill>
                <a:cs typeface="Arial" panose="020B0604020202020204" pitchFamily="34" charset="0"/>
              </a:endParaRPr>
            </a:p>
          </p:txBody>
        </p:sp>
        <p:sp>
          <p:nvSpPr>
            <p:cNvPr id="100" name="TextBox 99"/>
            <p:cNvSpPr txBox="1"/>
            <p:nvPr/>
          </p:nvSpPr>
          <p:spPr>
            <a:xfrm>
              <a:off x="6248067" y="2982432"/>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Reduced information</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re-work and time wasted</a:t>
              </a:r>
              <a:endParaRPr lang="en-US" sz="1200" dirty="0">
                <a:solidFill>
                  <a:prstClr val="black"/>
                </a:solidFill>
                <a:cs typeface="Arial" panose="020B0604020202020204" pitchFamily="34" charset="0"/>
              </a:endParaRPr>
            </a:p>
          </p:txBody>
        </p:sp>
        <p:sp>
          <p:nvSpPr>
            <p:cNvPr id="101" name="TextBox 100"/>
            <p:cNvSpPr txBox="1"/>
            <p:nvPr/>
          </p:nvSpPr>
          <p:spPr>
            <a:xfrm>
              <a:off x="6248067" y="3474593"/>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Increased relevance </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and accuracy of documents/records</a:t>
              </a:r>
              <a:endParaRPr lang="en-US" sz="1200" dirty="0">
                <a:solidFill>
                  <a:prstClr val="black"/>
                </a:solidFill>
                <a:cs typeface="Arial" panose="020B0604020202020204" pitchFamily="34" charset="0"/>
              </a:endParaRPr>
            </a:p>
          </p:txBody>
        </p:sp>
        <p:sp>
          <p:nvSpPr>
            <p:cNvPr id="103" name="TextBox 102"/>
            <p:cNvSpPr txBox="1"/>
            <p:nvPr/>
          </p:nvSpPr>
          <p:spPr>
            <a:xfrm>
              <a:off x="6248067" y="3972887"/>
              <a:ext cx="2263204" cy="320209"/>
            </a:xfrm>
            <a:prstGeom prst="rect">
              <a:avLst/>
            </a:prstGeom>
            <a:noFill/>
          </p:spPr>
          <p:txBody>
            <a:bodyPr wrap="square" lIns="0" tIns="0" rIns="0" bIns="0" rtlCol="0">
              <a:noAutofit/>
            </a:bodyPr>
            <a:lstStyle/>
            <a:p>
              <a:pPr>
                <a:lnSpc>
                  <a:spcPct val="90000"/>
                </a:lnSpc>
              </a:pPr>
              <a:r>
                <a:rPr lang="en-AU" sz="1200" b="1" dirty="0">
                  <a:solidFill>
                    <a:prstClr val="black"/>
                  </a:solidFill>
                  <a:cs typeface="Arial" panose="020B0604020202020204" pitchFamily="34" charset="0"/>
                </a:rPr>
                <a:t>Faster retrieval time</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of documents/records, improved response time</a:t>
              </a:r>
              <a:endParaRPr lang="en-US" sz="1200" dirty="0">
                <a:solidFill>
                  <a:prstClr val="black"/>
                </a:solidFill>
                <a:cs typeface="Arial" panose="020B0604020202020204" pitchFamily="34" charset="0"/>
              </a:endParaRPr>
            </a:p>
          </p:txBody>
        </p:sp>
        <p:sp>
          <p:nvSpPr>
            <p:cNvPr id="104" name="TextBox 103"/>
            <p:cNvSpPr txBox="1"/>
            <p:nvPr/>
          </p:nvSpPr>
          <p:spPr>
            <a:xfrm>
              <a:off x="6248067" y="2043382"/>
              <a:ext cx="2263204" cy="320209"/>
            </a:xfrm>
            <a:prstGeom prst="rect">
              <a:avLst/>
            </a:prstGeom>
            <a:noFill/>
          </p:spPr>
          <p:txBody>
            <a:bodyPr wrap="none" lIns="0" tIns="0" rIns="0" bIns="0" rtlCol="0">
              <a:noAutofit/>
            </a:bodyPr>
            <a:lstStyle/>
            <a:p>
              <a:pPr>
                <a:lnSpc>
                  <a:spcPct val="90000"/>
                </a:lnSpc>
              </a:pPr>
              <a:r>
                <a:rPr lang="en-AU" sz="1200" b="1" dirty="0">
                  <a:solidFill>
                    <a:prstClr val="black"/>
                  </a:solidFill>
                  <a:cs typeface="Arial" panose="020B0604020202020204" pitchFamily="34" charset="0"/>
                </a:rPr>
                <a:t>Improved information security</a:t>
              </a:r>
              <a:br>
                <a:rPr lang="en-AU" sz="1200" dirty="0">
                  <a:solidFill>
                    <a:prstClr val="black"/>
                  </a:solidFill>
                  <a:cs typeface="Arial" panose="020B0604020202020204" pitchFamily="34" charset="0"/>
                </a:rPr>
              </a:br>
              <a:r>
                <a:rPr lang="en-AU" sz="1050" dirty="0">
                  <a:solidFill>
                    <a:prstClr val="black"/>
                  </a:solidFill>
                  <a:cs typeface="Arial" panose="020B0604020202020204" pitchFamily="34" charset="0"/>
                </a:rPr>
                <a:t>access control and risk mitigation</a:t>
              </a:r>
              <a:endParaRPr lang="en-US" sz="1200" dirty="0">
                <a:solidFill>
                  <a:prstClr val="black"/>
                </a:solidFill>
                <a:cs typeface="Arial" panose="020B0604020202020204" pitchFamily="34" charset="0"/>
              </a:endParaRPr>
            </a:p>
          </p:txBody>
        </p:sp>
      </p:grpSp>
    </p:spTree>
    <p:extLst>
      <p:ext uri="{BB962C8B-B14F-4D97-AF65-F5344CB8AC3E}">
        <p14:creationId xmlns:p14="http://schemas.microsoft.com/office/powerpoint/2010/main" val="198625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Customer Success</a:t>
            </a:r>
            <a:endParaRPr lang="en-US" dirty="0"/>
          </a:p>
        </p:txBody>
      </p:sp>
    </p:spTree>
    <p:extLst>
      <p:ext uri="{BB962C8B-B14F-4D97-AF65-F5344CB8AC3E}">
        <p14:creationId xmlns:p14="http://schemas.microsoft.com/office/powerpoint/2010/main" val="38407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9066502" cy="574216"/>
          </a:xfrm>
        </p:spPr>
        <p:txBody>
          <a:bodyPr/>
          <a:lstStyle/>
          <a:p>
            <a:r>
              <a:rPr lang="en-US" dirty="0"/>
              <a:t>NAMIC Insurance Company</a:t>
            </a:r>
            <a:endParaRPr lang="en-US" sz="2665" dirty="0">
              <a:solidFill>
                <a:srgbClr val="00B388"/>
              </a:solidFill>
            </a:endParaRPr>
          </a:p>
        </p:txBody>
      </p:sp>
      <p:sp>
        <p:nvSpPr>
          <p:cNvPr id="4" name="Pentagon 3"/>
          <p:cNvSpPr/>
          <p:nvPr/>
        </p:nvSpPr>
        <p:spPr>
          <a:xfrm>
            <a:off x="613887" y="2058115"/>
            <a:ext cx="3411093" cy="639746"/>
          </a:xfrm>
          <a:prstGeom prst="homePlate">
            <a:avLst>
              <a:gd name="adj" fmla="val 312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Challenge</a:t>
            </a:r>
          </a:p>
        </p:txBody>
      </p:sp>
      <p:sp>
        <p:nvSpPr>
          <p:cNvPr id="6" name="Pentagon 5"/>
          <p:cNvSpPr/>
          <p:nvPr/>
        </p:nvSpPr>
        <p:spPr>
          <a:xfrm>
            <a:off x="4390455" y="2058115"/>
            <a:ext cx="3411093" cy="639746"/>
          </a:xfrm>
          <a:prstGeom prst="homePlate">
            <a:avLst>
              <a:gd name="adj" fmla="val 312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Requirements</a:t>
            </a:r>
          </a:p>
        </p:txBody>
      </p:sp>
      <p:sp>
        <p:nvSpPr>
          <p:cNvPr id="8" name="Pentagon 7"/>
          <p:cNvSpPr/>
          <p:nvPr/>
        </p:nvSpPr>
        <p:spPr>
          <a:xfrm>
            <a:off x="8155013" y="2058115"/>
            <a:ext cx="3411093" cy="639746"/>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Solution </a:t>
            </a:r>
          </a:p>
        </p:txBody>
      </p:sp>
      <p:sp>
        <p:nvSpPr>
          <p:cNvPr id="11" name="TextBox 10"/>
          <p:cNvSpPr txBox="1"/>
          <p:nvPr/>
        </p:nvSpPr>
        <p:spPr>
          <a:xfrm>
            <a:off x="613890" y="2841171"/>
            <a:ext cx="3423105" cy="2264228"/>
          </a:xfrm>
          <a:prstGeom prst="rect">
            <a:avLst/>
          </a:prstGeom>
          <a:noFill/>
        </p:spPr>
        <p:txBody>
          <a:bodyPr wrap="square" lIns="0" tIns="0" rIns="0" bIns="0" rtlCol="0">
            <a:noAutofit/>
          </a:bodyPr>
          <a:lstStyle>
            <a:defPPr>
              <a:defRPr lang="en-US"/>
            </a:defPPr>
            <a:lvl1pPr>
              <a:spcAft>
                <a:spcPts val="400"/>
              </a:spcAft>
              <a:defRPr sz="1500"/>
            </a:lvl1pPr>
            <a:lvl2pPr marL="0" lvl="1" fontAlgn="t">
              <a:spcAft>
                <a:spcPts val="400"/>
              </a:spcAft>
              <a:defRPr sz="1500"/>
            </a:lvl2pPr>
          </a:lstStyle>
          <a:p>
            <a:pPr marL="228474" lvl="1" indent="-228474" defTabSz="913897" fontAlgn="auto">
              <a:lnSpc>
                <a:spcPct val="90000"/>
              </a:lnSpc>
              <a:spcBef>
                <a:spcPts val="800"/>
              </a:spcBef>
              <a:spcAft>
                <a:spcPts val="0"/>
              </a:spcAft>
              <a:buSzPct val="80000"/>
              <a:buFont typeface="Arial"/>
              <a:buChar char="•"/>
            </a:pPr>
            <a:r>
              <a:rPr lang="en-US" sz="1600" dirty="0">
                <a:solidFill>
                  <a:prstClr val="black"/>
                </a:solidFill>
                <a:ea typeface="HP Simplified" pitchFamily="34" charset="0"/>
              </a:rPr>
              <a:t>Drive document-based workflow efficiency and improve customer satisfaction while maintaining strict security and compliance standards</a:t>
            </a:r>
          </a:p>
          <a:p>
            <a:pPr marL="228474" lvl="1" indent="-228474" defTabSz="913897" fontAlgn="auto">
              <a:lnSpc>
                <a:spcPct val="90000"/>
              </a:lnSpc>
              <a:spcBef>
                <a:spcPts val="800"/>
              </a:spcBef>
              <a:spcAft>
                <a:spcPts val="0"/>
              </a:spcAft>
              <a:buSzPct val="80000"/>
              <a:buFont typeface="Arial"/>
              <a:buChar char="•"/>
            </a:pPr>
            <a:r>
              <a:rPr lang="en-US" sz="1600" dirty="0">
                <a:solidFill>
                  <a:prstClr val="black"/>
                </a:solidFill>
                <a:ea typeface="HP Simplified" pitchFamily="34" charset="0"/>
              </a:rPr>
              <a:t>Maintain secure walls between certain documents and workflows between infrastructure and that of subsidiary</a:t>
            </a:r>
          </a:p>
        </p:txBody>
      </p:sp>
      <p:sp>
        <p:nvSpPr>
          <p:cNvPr id="17" name="TextBox 16"/>
          <p:cNvSpPr txBox="1"/>
          <p:nvPr/>
        </p:nvSpPr>
        <p:spPr>
          <a:xfrm>
            <a:off x="4390455" y="2841172"/>
            <a:ext cx="3411093" cy="2264227"/>
          </a:xfrm>
          <a:prstGeom prst="rect">
            <a:avLst/>
          </a:prstGeom>
          <a:noFill/>
        </p:spPr>
        <p:txBody>
          <a:bodyPr wrap="square" lIns="0" tIns="0" rIns="0" bIns="0" rtlCol="0">
            <a:noAutofit/>
          </a:bodyPr>
          <a:lstStyle/>
          <a:p>
            <a:pPr marL="228474" lvl="1" indent="-228474" defTabSz="913897">
              <a:lnSpc>
                <a:spcPct val="90000"/>
              </a:lnSpc>
              <a:spcBef>
                <a:spcPts val="800"/>
              </a:spcBef>
              <a:buSzPct val="80000"/>
              <a:buFont typeface="Arial"/>
              <a:buChar char="•"/>
            </a:pPr>
            <a:r>
              <a:rPr lang="en-US" sz="1600" dirty="0">
                <a:solidFill>
                  <a:prstClr val="black"/>
                </a:solidFill>
              </a:rPr>
              <a:t>A document management solution</a:t>
            </a:r>
          </a:p>
          <a:p>
            <a:pPr marL="228474" lvl="1" indent="-228474" defTabSz="913897">
              <a:lnSpc>
                <a:spcPct val="90000"/>
              </a:lnSpc>
              <a:spcBef>
                <a:spcPts val="800"/>
              </a:spcBef>
              <a:buSzPct val="80000"/>
              <a:buFont typeface="Arial"/>
              <a:buChar char="•"/>
            </a:pPr>
            <a:r>
              <a:rPr lang="en-US" sz="1600" dirty="0">
                <a:solidFill>
                  <a:prstClr val="black"/>
                </a:solidFill>
              </a:rPr>
              <a:t>Isolate documents of two separate companies</a:t>
            </a:r>
          </a:p>
          <a:p>
            <a:pPr marL="228474" lvl="1" indent="-228474" defTabSz="913897">
              <a:lnSpc>
                <a:spcPct val="90000"/>
              </a:lnSpc>
              <a:spcBef>
                <a:spcPts val="800"/>
              </a:spcBef>
              <a:buSzPct val="80000"/>
              <a:buFont typeface="Arial"/>
              <a:buChar char="•"/>
            </a:pPr>
            <a:r>
              <a:rPr lang="en-US" sz="1600" dirty="0">
                <a:solidFill>
                  <a:prstClr val="black"/>
                </a:solidFill>
              </a:rPr>
              <a:t>Integration with existing applications</a:t>
            </a:r>
          </a:p>
          <a:p>
            <a:pPr marL="228474" lvl="1" indent="-228474" defTabSz="913897">
              <a:lnSpc>
                <a:spcPct val="90000"/>
              </a:lnSpc>
              <a:spcBef>
                <a:spcPts val="800"/>
              </a:spcBef>
              <a:buSzPct val="80000"/>
              <a:buFont typeface="Arial"/>
              <a:buChar char="•"/>
            </a:pPr>
            <a:endParaRPr lang="en-US" sz="1732" dirty="0">
              <a:solidFill>
                <a:prstClr val="black"/>
              </a:solidFill>
            </a:endParaRPr>
          </a:p>
          <a:p>
            <a:pPr marL="285593" indent="-285593" defTabSz="913897" fontAlgn="t">
              <a:spcAft>
                <a:spcPts val="400"/>
              </a:spcAft>
              <a:buFont typeface="Arial" panose="020B0604020202020204" pitchFamily="34" charset="0"/>
              <a:buChar char="•"/>
            </a:pPr>
            <a:endParaRPr lang="en-US" sz="1500" dirty="0">
              <a:solidFill>
                <a:prstClr val="black"/>
              </a:solidFill>
            </a:endParaRPr>
          </a:p>
        </p:txBody>
      </p:sp>
      <p:sp>
        <p:nvSpPr>
          <p:cNvPr id="19" name="TextBox 18"/>
          <p:cNvSpPr txBox="1"/>
          <p:nvPr/>
        </p:nvSpPr>
        <p:spPr>
          <a:xfrm>
            <a:off x="8155013" y="2841172"/>
            <a:ext cx="3424372" cy="2264226"/>
          </a:xfrm>
          <a:prstGeom prst="rect">
            <a:avLst/>
          </a:prstGeom>
          <a:noFill/>
        </p:spPr>
        <p:txBody>
          <a:bodyPr wrap="square" lIns="0" tIns="0" rIns="0" bIns="0" rtlCol="0">
            <a:noAutofit/>
          </a:bodyPr>
          <a:lstStyle>
            <a:defPPr>
              <a:defRPr lang="en-US"/>
            </a:defPPr>
            <a:lvl1pPr>
              <a:spcAft>
                <a:spcPts val="400"/>
              </a:spcAft>
              <a:defRPr sz="1500"/>
            </a:lvl1pPr>
            <a:lvl2pPr marL="0" lvl="1" fontAlgn="t">
              <a:spcAft>
                <a:spcPts val="400"/>
              </a:spcAft>
              <a:defRPr sz="1500"/>
            </a:lvl2pPr>
          </a:lstStyle>
          <a:p>
            <a:pPr marL="228474" lvl="1" indent="-228474" defTabSz="913897" fontAlgn="auto">
              <a:lnSpc>
                <a:spcPct val="90000"/>
              </a:lnSpc>
              <a:spcBef>
                <a:spcPts val="800"/>
              </a:spcBef>
              <a:spcAft>
                <a:spcPts val="0"/>
              </a:spcAft>
              <a:buSzPct val="80000"/>
              <a:buFont typeface="Arial"/>
              <a:buChar char="•"/>
            </a:pPr>
            <a:r>
              <a:rPr lang="en-US" sz="1600" dirty="0">
                <a:solidFill>
                  <a:prstClr val="black"/>
                </a:solidFill>
              </a:rPr>
              <a:t>Content Manager</a:t>
            </a:r>
          </a:p>
        </p:txBody>
      </p:sp>
      <p:sp>
        <p:nvSpPr>
          <p:cNvPr id="5" name="Round Single Corner Rectangle 4"/>
          <p:cNvSpPr/>
          <p:nvPr/>
        </p:nvSpPr>
        <p:spPr>
          <a:xfrm>
            <a:off x="778626" y="5105400"/>
            <a:ext cx="10787480" cy="1115815"/>
          </a:xfrm>
          <a:prstGeom prst="round1Rect">
            <a:avLst>
              <a:gd name="adj" fmla="val 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defTabSz="609265">
              <a:buFont typeface="Arial" panose="020B0604020202020204" pitchFamily="34" charset="0"/>
              <a:buChar char="•"/>
              <a:defRPr/>
            </a:pPr>
            <a:r>
              <a:rPr lang="en-US" sz="1400" dirty="0">
                <a:solidFill>
                  <a:prstClr val="white"/>
                </a:solidFill>
              </a:rPr>
              <a:t>Reduce processes such as compiling claims from as long as a day to as little as 5 minutes; allows staff to focus on client interactions instead of pushing paper</a:t>
            </a:r>
          </a:p>
          <a:p>
            <a:pPr marL="285750" indent="-285750" defTabSz="609265">
              <a:buFont typeface="Arial" panose="020B0604020202020204" pitchFamily="34" charset="0"/>
              <a:buChar char="•"/>
              <a:defRPr/>
            </a:pPr>
            <a:r>
              <a:rPr lang="en-US" sz="1400" dirty="0">
                <a:solidFill>
                  <a:prstClr val="white"/>
                </a:solidFill>
              </a:rPr>
              <a:t>Increase available office space by a third with reduced need to store paper copies; accommodate staff growth</a:t>
            </a:r>
          </a:p>
          <a:p>
            <a:pPr marL="285750" indent="-285750" defTabSz="609265">
              <a:buFont typeface="Arial" panose="020B0604020202020204" pitchFamily="34" charset="0"/>
              <a:buChar char="•"/>
              <a:defRPr/>
            </a:pPr>
            <a:r>
              <a:rPr lang="en-US" sz="1400" dirty="0">
                <a:solidFill>
                  <a:prstClr val="white"/>
                </a:solidFill>
              </a:rPr>
              <a:t>Ensure only authorized users have access to particular documents, while maintaining integrity of each company’s respective workflows </a:t>
            </a:r>
          </a:p>
        </p:txBody>
      </p:sp>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t="24959" b="26288"/>
          <a:stretch/>
        </p:blipFill>
        <p:spPr>
          <a:xfrm>
            <a:off x="9929917" y="492542"/>
            <a:ext cx="1717226" cy="837196"/>
          </a:xfrm>
          <a:prstGeom prst="rect">
            <a:avLst/>
          </a:prstGeom>
        </p:spPr>
      </p:pic>
    </p:spTree>
    <p:extLst>
      <p:ext uri="{BB962C8B-B14F-4D97-AF65-F5344CB8AC3E}">
        <p14:creationId xmlns:p14="http://schemas.microsoft.com/office/powerpoint/2010/main" val="2328610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15858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 Manager helps customers get the balance right between…</a:t>
            </a:r>
          </a:p>
        </p:txBody>
      </p:sp>
      <p:sp>
        <p:nvSpPr>
          <p:cNvPr id="3" name="Slide Number Placeholder 2"/>
          <p:cNvSpPr>
            <a:spLocks noGrp="1"/>
          </p:cNvSpPr>
          <p:nvPr>
            <p:ph type="sldNum" sz="quarter" idx="4294967295"/>
          </p:nvPr>
        </p:nvSpPr>
        <p:spPr>
          <a:xfrm>
            <a:off x="11049000" y="6430868"/>
            <a:ext cx="533399" cy="232147"/>
          </a:xfrm>
          <a:prstGeom prst="rect">
            <a:avLst/>
          </a:prstGeom>
          <a:ln w="19050">
            <a:solidFill>
              <a:schemeClr val="tx1"/>
            </a:solidFill>
          </a:ln>
        </p:spPr>
        <p:txBody>
          <a:bodyPr/>
          <a:lstStyle/>
          <a:p>
            <a:fld id="{B016F8AB-BCEA-4347-8BA6-BE776009BC89}" type="slidenum">
              <a:rPr lang="en-US" smtClean="0">
                <a:solidFill>
                  <a:srgbClr val="617D78"/>
                </a:solidFill>
              </a:rPr>
              <a:pPr/>
              <a:t>20</a:t>
            </a:fld>
            <a:endParaRPr lang="en-US">
              <a:solidFill>
                <a:srgbClr val="617D78"/>
              </a:solidFill>
            </a:endParaRPr>
          </a:p>
        </p:txBody>
      </p:sp>
      <p:grpSp>
        <p:nvGrpSpPr>
          <p:cNvPr id="34" name="Group 33"/>
          <p:cNvGrpSpPr/>
          <p:nvPr/>
        </p:nvGrpSpPr>
        <p:grpSpPr>
          <a:xfrm>
            <a:off x="1597240" y="1480534"/>
            <a:ext cx="1972281" cy="4684167"/>
            <a:chOff x="1597240" y="1480534"/>
            <a:chExt cx="1972281" cy="4684167"/>
          </a:xfrm>
        </p:grpSpPr>
        <p:sp>
          <p:nvSpPr>
            <p:cNvPr id="6" name="Freeform 5"/>
            <p:cNvSpPr/>
            <p:nvPr/>
          </p:nvSpPr>
          <p:spPr>
            <a:xfrm>
              <a:off x="1597240" y="1480534"/>
              <a:ext cx="1972281" cy="986140"/>
            </a:xfrm>
            <a:custGeom>
              <a:avLst/>
              <a:gdLst>
                <a:gd name="connsiteX0" fmla="*/ 0 w 1972281"/>
                <a:gd name="connsiteY0" fmla="*/ 98614 h 986140"/>
                <a:gd name="connsiteX1" fmla="*/ 98614 w 1972281"/>
                <a:gd name="connsiteY1" fmla="*/ 0 h 986140"/>
                <a:gd name="connsiteX2" fmla="*/ 1873667 w 1972281"/>
                <a:gd name="connsiteY2" fmla="*/ 0 h 986140"/>
                <a:gd name="connsiteX3" fmla="*/ 1972281 w 1972281"/>
                <a:gd name="connsiteY3" fmla="*/ 98614 h 986140"/>
                <a:gd name="connsiteX4" fmla="*/ 1972281 w 1972281"/>
                <a:gd name="connsiteY4" fmla="*/ 887526 h 986140"/>
                <a:gd name="connsiteX5" fmla="*/ 1873667 w 1972281"/>
                <a:gd name="connsiteY5" fmla="*/ 986140 h 986140"/>
                <a:gd name="connsiteX6" fmla="*/ 98614 w 1972281"/>
                <a:gd name="connsiteY6" fmla="*/ 986140 h 986140"/>
                <a:gd name="connsiteX7" fmla="*/ 0 w 1972281"/>
                <a:gd name="connsiteY7" fmla="*/ 887526 h 986140"/>
                <a:gd name="connsiteX8" fmla="*/ 0 w 1972281"/>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2281" h="986140">
                  <a:moveTo>
                    <a:pt x="0" y="98614"/>
                  </a:moveTo>
                  <a:cubicBezTo>
                    <a:pt x="0" y="44151"/>
                    <a:pt x="44151" y="0"/>
                    <a:pt x="98614" y="0"/>
                  </a:cubicBezTo>
                  <a:lnTo>
                    <a:pt x="1873667" y="0"/>
                  </a:lnTo>
                  <a:cubicBezTo>
                    <a:pt x="1928130" y="0"/>
                    <a:pt x="1972281" y="44151"/>
                    <a:pt x="1972281" y="98614"/>
                  </a:cubicBezTo>
                  <a:lnTo>
                    <a:pt x="1972281" y="887526"/>
                  </a:lnTo>
                  <a:cubicBezTo>
                    <a:pt x="1972281" y="941989"/>
                    <a:pt x="1928130" y="986140"/>
                    <a:pt x="1873667" y="986140"/>
                  </a:cubicBezTo>
                  <a:lnTo>
                    <a:pt x="98614" y="986140"/>
                  </a:lnTo>
                  <a:cubicBezTo>
                    <a:pt x="44151" y="986140"/>
                    <a:pt x="0" y="941989"/>
                    <a:pt x="0" y="887526"/>
                  </a:cubicBezTo>
                  <a:lnTo>
                    <a:pt x="0" y="98614"/>
                  </a:lnTo>
                  <a:close/>
                </a:path>
              </a:pathLst>
            </a:custGeom>
            <a:solidFill>
              <a:srgbClr val="231CA5"/>
            </a:solidFill>
            <a:ln w="19050"/>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80318" tIns="63173" rIns="80318" bIns="63173" numCol="1" spcCol="1270" anchor="ctr" anchorCtr="0">
              <a:noAutofit/>
            </a:bodyPr>
            <a:lstStyle/>
            <a:p>
              <a:pPr lvl="0" algn="ctr" defTabSz="1200150">
                <a:lnSpc>
                  <a:spcPct val="90000"/>
                </a:lnSpc>
                <a:spcBef>
                  <a:spcPct val="0"/>
                </a:spcBef>
                <a:spcAft>
                  <a:spcPct val="35000"/>
                </a:spcAft>
              </a:pPr>
              <a:r>
                <a:rPr lang="en-AU" sz="2700" kern="1200" dirty="0"/>
                <a:t>Control</a:t>
              </a:r>
              <a:endParaRPr lang="en-US" sz="2700" kern="1200" dirty="0"/>
            </a:p>
          </p:txBody>
        </p:sp>
        <p:sp>
          <p:nvSpPr>
            <p:cNvPr id="7" name="Freeform 6"/>
            <p:cNvSpPr/>
            <p:nvPr/>
          </p:nvSpPr>
          <p:spPr>
            <a:xfrm>
              <a:off x="1794468" y="2466675"/>
              <a:ext cx="197228" cy="739605"/>
            </a:xfrm>
            <a:custGeom>
              <a:avLst/>
              <a:gdLst/>
              <a:ahLst/>
              <a:cxnLst/>
              <a:rect l="0" t="0" r="0" b="0"/>
              <a:pathLst>
                <a:path>
                  <a:moveTo>
                    <a:pt x="0" y="0"/>
                  </a:moveTo>
                  <a:lnTo>
                    <a:pt x="0" y="739605"/>
                  </a:lnTo>
                  <a:lnTo>
                    <a:pt x="197228" y="739605"/>
                  </a:lnTo>
                </a:path>
              </a:pathLst>
            </a:custGeom>
            <a:noFill/>
            <a:ln w="19050"/>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8" name="Freeform 7"/>
            <p:cNvSpPr/>
            <p:nvPr/>
          </p:nvSpPr>
          <p:spPr>
            <a:xfrm>
              <a:off x="1991696" y="2713210"/>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rgbClr val="231CA5"/>
              </a:solidFill>
            </a:ln>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Authorized access </a:t>
              </a:r>
            </a:p>
          </p:txBody>
        </p:sp>
        <p:sp>
          <p:nvSpPr>
            <p:cNvPr id="9" name="Freeform 8"/>
            <p:cNvSpPr/>
            <p:nvPr/>
          </p:nvSpPr>
          <p:spPr>
            <a:xfrm>
              <a:off x="1794468" y="2466675"/>
              <a:ext cx="197228" cy="1972281"/>
            </a:xfrm>
            <a:custGeom>
              <a:avLst/>
              <a:gdLst/>
              <a:ahLst/>
              <a:cxnLst/>
              <a:rect l="0" t="0" r="0" b="0"/>
              <a:pathLst>
                <a:path>
                  <a:moveTo>
                    <a:pt x="0" y="0"/>
                  </a:moveTo>
                  <a:lnTo>
                    <a:pt x="0" y="1972281"/>
                  </a:lnTo>
                  <a:lnTo>
                    <a:pt x="197228" y="1972281"/>
                  </a:lnTo>
                </a:path>
              </a:pathLst>
            </a:custGeom>
            <a:noFill/>
            <a:ln w="19050"/>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0" name="Freeform 9"/>
            <p:cNvSpPr/>
            <p:nvPr/>
          </p:nvSpPr>
          <p:spPr>
            <a:xfrm>
              <a:off x="1991696" y="3945886"/>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rgbClr val="231CA5"/>
              </a:solidFill>
            </a:ln>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Sensitive content and Privacy (PII)</a:t>
              </a:r>
            </a:p>
          </p:txBody>
        </p:sp>
        <p:sp>
          <p:nvSpPr>
            <p:cNvPr id="11" name="Freeform 10"/>
            <p:cNvSpPr/>
            <p:nvPr/>
          </p:nvSpPr>
          <p:spPr>
            <a:xfrm>
              <a:off x="1794468" y="2466675"/>
              <a:ext cx="197228" cy="3204956"/>
            </a:xfrm>
            <a:custGeom>
              <a:avLst/>
              <a:gdLst/>
              <a:ahLst/>
              <a:cxnLst/>
              <a:rect l="0" t="0" r="0" b="0"/>
              <a:pathLst>
                <a:path>
                  <a:moveTo>
                    <a:pt x="0" y="0"/>
                  </a:moveTo>
                  <a:lnTo>
                    <a:pt x="0" y="3204956"/>
                  </a:lnTo>
                  <a:lnTo>
                    <a:pt x="197228" y="3204956"/>
                  </a:lnTo>
                </a:path>
              </a:pathLst>
            </a:custGeom>
            <a:noFill/>
            <a:ln w="19050"/>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2" name="Freeform 11"/>
            <p:cNvSpPr/>
            <p:nvPr/>
          </p:nvSpPr>
          <p:spPr>
            <a:xfrm>
              <a:off x="1991696" y="5178561"/>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rgbClr val="231CA5"/>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AU" sz="1600" kern="1200" dirty="0"/>
                <a:t>Across the lifecycle</a:t>
              </a:r>
              <a:endParaRPr lang="en-US" sz="1600" kern="1200" dirty="0"/>
            </a:p>
          </p:txBody>
        </p:sp>
      </p:grpSp>
      <p:grpSp>
        <p:nvGrpSpPr>
          <p:cNvPr id="35" name="Group 34"/>
          <p:cNvGrpSpPr/>
          <p:nvPr/>
        </p:nvGrpSpPr>
        <p:grpSpPr>
          <a:xfrm>
            <a:off x="4062591" y="1480534"/>
            <a:ext cx="1972281" cy="4684167"/>
            <a:chOff x="4062591" y="1480534"/>
            <a:chExt cx="1972281" cy="4684167"/>
          </a:xfrm>
        </p:grpSpPr>
        <p:sp>
          <p:nvSpPr>
            <p:cNvPr id="13" name="Freeform 12"/>
            <p:cNvSpPr/>
            <p:nvPr/>
          </p:nvSpPr>
          <p:spPr>
            <a:xfrm>
              <a:off x="4062591" y="1480534"/>
              <a:ext cx="1972281" cy="986140"/>
            </a:xfrm>
            <a:custGeom>
              <a:avLst/>
              <a:gdLst>
                <a:gd name="connsiteX0" fmla="*/ 0 w 1972281"/>
                <a:gd name="connsiteY0" fmla="*/ 98614 h 986140"/>
                <a:gd name="connsiteX1" fmla="*/ 98614 w 1972281"/>
                <a:gd name="connsiteY1" fmla="*/ 0 h 986140"/>
                <a:gd name="connsiteX2" fmla="*/ 1873667 w 1972281"/>
                <a:gd name="connsiteY2" fmla="*/ 0 h 986140"/>
                <a:gd name="connsiteX3" fmla="*/ 1972281 w 1972281"/>
                <a:gd name="connsiteY3" fmla="*/ 98614 h 986140"/>
                <a:gd name="connsiteX4" fmla="*/ 1972281 w 1972281"/>
                <a:gd name="connsiteY4" fmla="*/ 887526 h 986140"/>
                <a:gd name="connsiteX5" fmla="*/ 1873667 w 1972281"/>
                <a:gd name="connsiteY5" fmla="*/ 986140 h 986140"/>
                <a:gd name="connsiteX6" fmla="*/ 98614 w 1972281"/>
                <a:gd name="connsiteY6" fmla="*/ 986140 h 986140"/>
                <a:gd name="connsiteX7" fmla="*/ 0 w 1972281"/>
                <a:gd name="connsiteY7" fmla="*/ 887526 h 986140"/>
                <a:gd name="connsiteX8" fmla="*/ 0 w 1972281"/>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2281" h="986140">
                  <a:moveTo>
                    <a:pt x="0" y="98614"/>
                  </a:moveTo>
                  <a:cubicBezTo>
                    <a:pt x="0" y="44151"/>
                    <a:pt x="44151" y="0"/>
                    <a:pt x="98614" y="0"/>
                  </a:cubicBezTo>
                  <a:lnTo>
                    <a:pt x="1873667" y="0"/>
                  </a:lnTo>
                  <a:cubicBezTo>
                    <a:pt x="1928130" y="0"/>
                    <a:pt x="1972281" y="44151"/>
                    <a:pt x="1972281" y="98614"/>
                  </a:cubicBezTo>
                  <a:lnTo>
                    <a:pt x="1972281" y="887526"/>
                  </a:lnTo>
                  <a:cubicBezTo>
                    <a:pt x="1972281" y="941989"/>
                    <a:pt x="1928130" y="986140"/>
                    <a:pt x="1873667" y="986140"/>
                  </a:cubicBezTo>
                  <a:lnTo>
                    <a:pt x="98614" y="986140"/>
                  </a:lnTo>
                  <a:cubicBezTo>
                    <a:pt x="44151" y="986140"/>
                    <a:pt x="0" y="941989"/>
                    <a:pt x="0" y="887526"/>
                  </a:cubicBezTo>
                  <a:lnTo>
                    <a:pt x="0" y="98614"/>
                  </a:lnTo>
                  <a:close/>
                </a:path>
              </a:pathLst>
            </a:custGeom>
            <a:solidFill>
              <a:schemeClr val="accent4"/>
            </a:solidFill>
            <a:ln w="19050"/>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80318" tIns="63173" rIns="80318" bIns="63173" numCol="1" spcCol="1270" anchor="ctr" anchorCtr="0">
              <a:noAutofit/>
            </a:bodyPr>
            <a:lstStyle/>
            <a:p>
              <a:pPr lvl="0" algn="ctr" defTabSz="1200150">
                <a:lnSpc>
                  <a:spcPct val="90000"/>
                </a:lnSpc>
                <a:spcBef>
                  <a:spcPct val="0"/>
                </a:spcBef>
                <a:spcAft>
                  <a:spcPct val="35000"/>
                </a:spcAft>
              </a:pPr>
              <a:r>
                <a:rPr lang="en-AU" sz="2700" kern="1200" dirty="0"/>
                <a:t>Compliance</a:t>
              </a:r>
              <a:endParaRPr lang="en-US" sz="2700" kern="1200" dirty="0"/>
            </a:p>
          </p:txBody>
        </p:sp>
        <p:sp>
          <p:nvSpPr>
            <p:cNvPr id="14" name="Freeform 13"/>
            <p:cNvSpPr/>
            <p:nvPr/>
          </p:nvSpPr>
          <p:spPr>
            <a:xfrm>
              <a:off x="4259819" y="2466675"/>
              <a:ext cx="197228" cy="739605"/>
            </a:xfrm>
            <a:custGeom>
              <a:avLst/>
              <a:gdLst/>
              <a:ahLst/>
              <a:cxnLst/>
              <a:rect l="0" t="0" r="0" b="0"/>
              <a:pathLst>
                <a:path>
                  <a:moveTo>
                    <a:pt x="0" y="0"/>
                  </a:moveTo>
                  <a:lnTo>
                    <a:pt x="0" y="739605"/>
                  </a:lnTo>
                  <a:lnTo>
                    <a:pt x="197228" y="739605"/>
                  </a:lnTo>
                </a:path>
              </a:pathLst>
            </a:custGeom>
            <a:noFill/>
            <a:ln w="19050">
              <a:solidFill>
                <a:schemeClr val="accent4"/>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5" name="Freeform 14"/>
            <p:cNvSpPr/>
            <p:nvPr/>
          </p:nvSpPr>
          <p:spPr>
            <a:xfrm>
              <a:off x="4457048" y="2713210"/>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4"/>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Proactively; capture, manage, retain and consign</a:t>
              </a:r>
            </a:p>
          </p:txBody>
        </p:sp>
        <p:sp>
          <p:nvSpPr>
            <p:cNvPr id="16" name="Freeform 15"/>
            <p:cNvSpPr/>
            <p:nvPr/>
          </p:nvSpPr>
          <p:spPr>
            <a:xfrm>
              <a:off x="4259819" y="2466675"/>
              <a:ext cx="197228" cy="1972281"/>
            </a:xfrm>
            <a:custGeom>
              <a:avLst/>
              <a:gdLst/>
              <a:ahLst/>
              <a:cxnLst/>
              <a:rect l="0" t="0" r="0" b="0"/>
              <a:pathLst>
                <a:path>
                  <a:moveTo>
                    <a:pt x="0" y="0"/>
                  </a:moveTo>
                  <a:lnTo>
                    <a:pt x="0" y="1972281"/>
                  </a:lnTo>
                  <a:lnTo>
                    <a:pt x="197228" y="1972281"/>
                  </a:lnTo>
                </a:path>
              </a:pathLst>
            </a:custGeom>
            <a:noFill/>
            <a:ln w="19050">
              <a:solidFill>
                <a:schemeClr val="accent4"/>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7" name="Freeform 16"/>
            <p:cNvSpPr/>
            <p:nvPr/>
          </p:nvSpPr>
          <p:spPr>
            <a:xfrm>
              <a:off x="4457048" y="3945886"/>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4"/>
              </a:solidFill>
            </a:ln>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Apply policy to all enterprise content </a:t>
              </a:r>
            </a:p>
          </p:txBody>
        </p:sp>
        <p:sp>
          <p:nvSpPr>
            <p:cNvPr id="18" name="Freeform 17"/>
            <p:cNvSpPr/>
            <p:nvPr/>
          </p:nvSpPr>
          <p:spPr>
            <a:xfrm>
              <a:off x="4259819" y="2466675"/>
              <a:ext cx="197228" cy="3204956"/>
            </a:xfrm>
            <a:custGeom>
              <a:avLst/>
              <a:gdLst/>
              <a:ahLst/>
              <a:cxnLst/>
              <a:rect l="0" t="0" r="0" b="0"/>
              <a:pathLst>
                <a:path>
                  <a:moveTo>
                    <a:pt x="0" y="0"/>
                  </a:moveTo>
                  <a:lnTo>
                    <a:pt x="0" y="3204956"/>
                  </a:lnTo>
                  <a:lnTo>
                    <a:pt x="197228" y="3204956"/>
                  </a:lnTo>
                </a:path>
              </a:pathLst>
            </a:custGeom>
            <a:noFill/>
            <a:ln w="19050">
              <a:solidFill>
                <a:schemeClr val="accent4"/>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19" name="Freeform 18"/>
            <p:cNvSpPr/>
            <p:nvPr/>
          </p:nvSpPr>
          <p:spPr>
            <a:xfrm>
              <a:off x="4457048" y="5178561"/>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4"/>
              </a:solidFill>
            </a:ln>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Human, structured and web</a:t>
              </a:r>
            </a:p>
          </p:txBody>
        </p:sp>
      </p:grpSp>
      <p:grpSp>
        <p:nvGrpSpPr>
          <p:cNvPr id="36" name="Group 35"/>
          <p:cNvGrpSpPr/>
          <p:nvPr/>
        </p:nvGrpSpPr>
        <p:grpSpPr>
          <a:xfrm>
            <a:off x="6527943" y="1480534"/>
            <a:ext cx="1972281" cy="4684167"/>
            <a:chOff x="6527943" y="1480534"/>
            <a:chExt cx="1972281" cy="4684167"/>
          </a:xfrm>
        </p:grpSpPr>
        <p:sp>
          <p:nvSpPr>
            <p:cNvPr id="20" name="Freeform 19"/>
            <p:cNvSpPr/>
            <p:nvPr/>
          </p:nvSpPr>
          <p:spPr>
            <a:xfrm>
              <a:off x="6527943" y="1480534"/>
              <a:ext cx="1972281" cy="986140"/>
            </a:xfrm>
            <a:custGeom>
              <a:avLst/>
              <a:gdLst>
                <a:gd name="connsiteX0" fmla="*/ 0 w 1972281"/>
                <a:gd name="connsiteY0" fmla="*/ 98614 h 986140"/>
                <a:gd name="connsiteX1" fmla="*/ 98614 w 1972281"/>
                <a:gd name="connsiteY1" fmla="*/ 0 h 986140"/>
                <a:gd name="connsiteX2" fmla="*/ 1873667 w 1972281"/>
                <a:gd name="connsiteY2" fmla="*/ 0 h 986140"/>
                <a:gd name="connsiteX3" fmla="*/ 1972281 w 1972281"/>
                <a:gd name="connsiteY3" fmla="*/ 98614 h 986140"/>
                <a:gd name="connsiteX4" fmla="*/ 1972281 w 1972281"/>
                <a:gd name="connsiteY4" fmla="*/ 887526 h 986140"/>
                <a:gd name="connsiteX5" fmla="*/ 1873667 w 1972281"/>
                <a:gd name="connsiteY5" fmla="*/ 986140 h 986140"/>
                <a:gd name="connsiteX6" fmla="*/ 98614 w 1972281"/>
                <a:gd name="connsiteY6" fmla="*/ 986140 h 986140"/>
                <a:gd name="connsiteX7" fmla="*/ 0 w 1972281"/>
                <a:gd name="connsiteY7" fmla="*/ 887526 h 986140"/>
                <a:gd name="connsiteX8" fmla="*/ 0 w 1972281"/>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2281" h="986140">
                  <a:moveTo>
                    <a:pt x="0" y="98614"/>
                  </a:moveTo>
                  <a:cubicBezTo>
                    <a:pt x="0" y="44151"/>
                    <a:pt x="44151" y="0"/>
                    <a:pt x="98614" y="0"/>
                  </a:cubicBezTo>
                  <a:lnTo>
                    <a:pt x="1873667" y="0"/>
                  </a:lnTo>
                  <a:cubicBezTo>
                    <a:pt x="1928130" y="0"/>
                    <a:pt x="1972281" y="44151"/>
                    <a:pt x="1972281" y="98614"/>
                  </a:cubicBezTo>
                  <a:lnTo>
                    <a:pt x="1972281" y="887526"/>
                  </a:lnTo>
                  <a:cubicBezTo>
                    <a:pt x="1972281" y="941989"/>
                    <a:pt x="1928130" y="986140"/>
                    <a:pt x="1873667" y="986140"/>
                  </a:cubicBezTo>
                  <a:lnTo>
                    <a:pt x="98614" y="986140"/>
                  </a:lnTo>
                  <a:cubicBezTo>
                    <a:pt x="44151" y="986140"/>
                    <a:pt x="0" y="941989"/>
                    <a:pt x="0" y="887526"/>
                  </a:cubicBezTo>
                  <a:lnTo>
                    <a:pt x="0" y="98614"/>
                  </a:lnTo>
                  <a:close/>
                </a:path>
              </a:pathLst>
            </a:custGeom>
            <a:solidFill>
              <a:schemeClr val="accent6"/>
            </a:solidFill>
            <a:ln w="19050"/>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80318" tIns="63173" rIns="80318" bIns="63173" numCol="1" spcCol="1270" anchor="ctr" anchorCtr="0">
              <a:noAutofit/>
            </a:bodyPr>
            <a:lstStyle/>
            <a:p>
              <a:pPr lvl="0" algn="ctr" defTabSz="1200150">
                <a:lnSpc>
                  <a:spcPct val="90000"/>
                </a:lnSpc>
                <a:spcBef>
                  <a:spcPct val="0"/>
                </a:spcBef>
                <a:spcAft>
                  <a:spcPct val="35000"/>
                </a:spcAft>
              </a:pPr>
              <a:r>
                <a:rPr lang="en-AU" sz="2700" kern="1200" dirty="0"/>
                <a:t>Productivity</a:t>
              </a:r>
              <a:endParaRPr lang="en-US" sz="2700" kern="1200" dirty="0"/>
            </a:p>
          </p:txBody>
        </p:sp>
        <p:sp>
          <p:nvSpPr>
            <p:cNvPr id="21" name="Freeform 20"/>
            <p:cNvSpPr/>
            <p:nvPr/>
          </p:nvSpPr>
          <p:spPr>
            <a:xfrm>
              <a:off x="6725171" y="2466675"/>
              <a:ext cx="197228" cy="739605"/>
            </a:xfrm>
            <a:custGeom>
              <a:avLst/>
              <a:gdLst/>
              <a:ahLst/>
              <a:cxnLst/>
              <a:rect l="0" t="0" r="0" b="0"/>
              <a:pathLst>
                <a:path>
                  <a:moveTo>
                    <a:pt x="0" y="0"/>
                  </a:moveTo>
                  <a:lnTo>
                    <a:pt x="0" y="739605"/>
                  </a:lnTo>
                  <a:lnTo>
                    <a:pt x="197228" y="739605"/>
                  </a:lnTo>
                </a:path>
              </a:pathLst>
            </a:custGeom>
            <a:noFill/>
            <a:ln w="19050">
              <a:solidFill>
                <a:schemeClr val="accent6"/>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22" name="Freeform 21"/>
            <p:cNvSpPr/>
            <p:nvPr/>
          </p:nvSpPr>
          <p:spPr>
            <a:xfrm>
              <a:off x="6922399" y="2713210"/>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6"/>
              </a:solidFill>
            </a:ln>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Streamline and automate processes </a:t>
              </a:r>
            </a:p>
          </p:txBody>
        </p:sp>
        <p:sp>
          <p:nvSpPr>
            <p:cNvPr id="23" name="Freeform 22"/>
            <p:cNvSpPr/>
            <p:nvPr/>
          </p:nvSpPr>
          <p:spPr>
            <a:xfrm>
              <a:off x="6725171" y="2466675"/>
              <a:ext cx="197228" cy="1972281"/>
            </a:xfrm>
            <a:custGeom>
              <a:avLst/>
              <a:gdLst/>
              <a:ahLst/>
              <a:cxnLst/>
              <a:rect l="0" t="0" r="0" b="0"/>
              <a:pathLst>
                <a:path>
                  <a:moveTo>
                    <a:pt x="0" y="0"/>
                  </a:moveTo>
                  <a:lnTo>
                    <a:pt x="0" y="1972281"/>
                  </a:lnTo>
                  <a:lnTo>
                    <a:pt x="197228" y="1972281"/>
                  </a:lnTo>
                </a:path>
              </a:pathLst>
            </a:custGeom>
            <a:noFill/>
            <a:ln w="19050">
              <a:solidFill>
                <a:schemeClr val="accent6"/>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24" name="Freeform 23"/>
            <p:cNvSpPr/>
            <p:nvPr/>
          </p:nvSpPr>
          <p:spPr>
            <a:xfrm>
              <a:off x="6922399" y="3945886"/>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6"/>
              </a:solidFill>
            </a:ln>
          </p:spPr>
          <p:style>
            <a:lnRef idx="2">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Integrate LOB apps or manage-in-place</a:t>
              </a:r>
            </a:p>
          </p:txBody>
        </p:sp>
        <p:sp>
          <p:nvSpPr>
            <p:cNvPr id="25" name="Freeform 24"/>
            <p:cNvSpPr/>
            <p:nvPr/>
          </p:nvSpPr>
          <p:spPr>
            <a:xfrm>
              <a:off x="6725171" y="2466675"/>
              <a:ext cx="197228" cy="3204956"/>
            </a:xfrm>
            <a:custGeom>
              <a:avLst/>
              <a:gdLst/>
              <a:ahLst/>
              <a:cxnLst/>
              <a:rect l="0" t="0" r="0" b="0"/>
              <a:pathLst>
                <a:path>
                  <a:moveTo>
                    <a:pt x="0" y="0"/>
                  </a:moveTo>
                  <a:lnTo>
                    <a:pt x="0" y="3204956"/>
                  </a:lnTo>
                  <a:lnTo>
                    <a:pt x="197228" y="3204956"/>
                  </a:lnTo>
                </a:path>
              </a:pathLst>
            </a:custGeom>
            <a:noFill/>
            <a:ln w="19050">
              <a:solidFill>
                <a:schemeClr val="accent6"/>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26" name="Freeform 25"/>
            <p:cNvSpPr/>
            <p:nvPr/>
          </p:nvSpPr>
          <p:spPr>
            <a:xfrm>
              <a:off x="6922399" y="5178561"/>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6"/>
              </a:solidFill>
            </a:ln>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AU" sz="1600" kern="1200" dirty="0"/>
                <a:t>Deliver superior functionality for the mobile user</a:t>
              </a:r>
              <a:endParaRPr lang="en-US" sz="1600" kern="1200" dirty="0"/>
            </a:p>
          </p:txBody>
        </p:sp>
      </p:grpSp>
      <p:grpSp>
        <p:nvGrpSpPr>
          <p:cNvPr id="37" name="Group 36"/>
          <p:cNvGrpSpPr/>
          <p:nvPr/>
        </p:nvGrpSpPr>
        <p:grpSpPr>
          <a:xfrm>
            <a:off x="8993294" y="1480534"/>
            <a:ext cx="1972281" cy="4684167"/>
            <a:chOff x="8993294" y="1480534"/>
            <a:chExt cx="1972281" cy="4684167"/>
          </a:xfrm>
        </p:grpSpPr>
        <p:sp>
          <p:nvSpPr>
            <p:cNvPr id="27" name="Freeform 26"/>
            <p:cNvSpPr/>
            <p:nvPr/>
          </p:nvSpPr>
          <p:spPr>
            <a:xfrm>
              <a:off x="8993294" y="1480534"/>
              <a:ext cx="1972281" cy="986140"/>
            </a:xfrm>
            <a:custGeom>
              <a:avLst/>
              <a:gdLst>
                <a:gd name="connsiteX0" fmla="*/ 0 w 1972281"/>
                <a:gd name="connsiteY0" fmla="*/ 98614 h 986140"/>
                <a:gd name="connsiteX1" fmla="*/ 98614 w 1972281"/>
                <a:gd name="connsiteY1" fmla="*/ 0 h 986140"/>
                <a:gd name="connsiteX2" fmla="*/ 1873667 w 1972281"/>
                <a:gd name="connsiteY2" fmla="*/ 0 h 986140"/>
                <a:gd name="connsiteX3" fmla="*/ 1972281 w 1972281"/>
                <a:gd name="connsiteY3" fmla="*/ 98614 h 986140"/>
                <a:gd name="connsiteX4" fmla="*/ 1972281 w 1972281"/>
                <a:gd name="connsiteY4" fmla="*/ 887526 h 986140"/>
                <a:gd name="connsiteX5" fmla="*/ 1873667 w 1972281"/>
                <a:gd name="connsiteY5" fmla="*/ 986140 h 986140"/>
                <a:gd name="connsiteX6" fmla="*/ 98614 w 1972281"/>
                <a:gd name="connsiteY6" fmla="*/ 986140 h 986140"/>
                <a:gd name="connsiteX7" fmla="*/ 0 w 1972281"/>
                <a:gd name="connsiteY7" fmla="*/ 887526 h 986140"/>
                <a:gd name="connsiteX8" fmla="*/ 0 w 1972281"/>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2281" h="986140">
                  <a:moveTo>
                    <a:pt x="0" y="98614"/>
                  </a:moveTo>
                  <a:cubicBezTo>
                    <a:pt x="0" y="44151"/>
                    <a:pt x="44151" y="0"/>
                    <a:pt x="98614" y="0"/>
                  </a:cubicBezTo>
                  <a:lnTo>
                    <a:pt x="1873667" y="0"/>
                  </a:lnTo>
                  <a:cubicBezTo>
                    <a:pt x="1928130" y="0"/>
                    <a:pt x="1972281" y="44151"/>
                    <a:pt x="1972281" y="98614"/>
                  </a:cubicBezTo>
                  <a:lnTo>
                    <a:pt x="1972281" y="887526"/>
                  </a:lnTo>
                  <a:cubicBezTo>
                    <a:pt x="1972281" y="941989"/>
                    <a:pt x="1928130" y="986140"/>
                    <a:pt x="1873667" y="986140"/>
                  </a:cubicBezTo>
                  <a:lnTo>
                    <a:pt x="98614" y="986140"/>
                  </a:lnTo>
                  <a:cubicBezTo>
                    <a:pt x="44151" y="986140"/>
                    <a:pt x="0" y="941989"/>
                    <a:pt x="0" y="887526"/>
                  </a:cubicBezTo>
                  <a:lnTo>
                    <a:pt x="0" y="98614"/>
                  </a:lnTo>
                  <a:close/>
                </a:path>
              </a:pathLst>
            </a:custGeom>
            <a:solidFill>
              <a:schemeClr val="accent5"/>
            </a:solidFill>
            <a:ln w="19050"/>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0318" tIns="63173" rIns="80318" bIns="63173" numCol="1" spcCol="1270" anchor="ctr" anchorCtr="0">
              <a:noAutofit/>
            </a:bodyPr>
            <a:lstStyle/>
            <a:p>
              <a:pPr lvl="0" algn="ctr" defTabSz="1200150">
                <a:lnSpc>
                  <a:spcPct val="90000"/>
                </a:lnSpc>
                <a:spcBef>
                  <a:spcPct val="0"/>
                </a:spcBef>
                <a:spcAft>
                  <a:spcPct val="35000"/>
                </a:spcAft>
              </a:pPr>
              <a:r>
                <a:rPr lang="en-AU" sz="2700" kern="1200" dirty="0"/>
                <a:t>Cost</a:t>
              </a:r>
              <a:endParaRPr lang="en-US" sz="2700" kern="1200" dirty="0"/>
            </a:p>
          </p:txBody>
        </p:sp>
        <p:sp>
          <p:nvSpPr>
            <p:cNvPr id="28" name="Freeform 27"/>
            <p:cNvSpPr/>
            <p:nvPr/>
          </p:nvSpPr>
          <p:spPr>
            <a:xfrm>
              <a:off x="9190522" y="2466675"/>
              <a:ext cx="197228" cy="739605"/>
            </a:xfrm>
            <a:custGeom>
              <a:avLst/>
              <a:gdLst/>
              <a:ahLst/>
              <a:cxnLst/>
              <a:rect l="0" t="0" r="0" b="0"/>
              <a:pathLst>
                <a:path>
                  <a:moveTo>
                    <a:pt x="0" y="0"/>
                  </a:moveTo>
                  <a:lnTo>
                    <a:pt x="0" y="739605"/>
                  </a:lnTo>
                  <a:lnTo>
                    <a:pt x="197228" y="739605"/>
                  </a:lnTo>
                </a:path>
              </a:pathLst>
            </a:custGeom>
            <a:noFill/>
            <a:ln w="19050">
              <a:solidFill>
                <a:schemeClr val="accent5"/>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29" name="Freeform 28"/>
            <p:cNvSpPr/>
            <p:nvPr/>
          </p:nvSpPr>
          <p:spPr>
            <a:xfrm>
              <a:off x="9387750" y="2713210"/>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5"/>
              </a:solidFill>
            </a:ln>
          </p:spPr>
          <p:style>
            <a:lnRef idx="2">
              <a:schemeClr val="accent6">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US" sz="1600" kern="1200" dirty="0"/>
                <a:t>Leverage &amp; enhance 3</a:t>
              </a:r>
              <a:r>
                <a:rPr lang="en-US" sz="1600" kern="1200" baseline="30000" dirty="0"/>
                <a:t>rd</a:t>
              </a:r>
              <a:r>
                <a:rPr lang="en-US" sz="1600" kern="1200" dirty="0"/>
                <a:t> party systems </a:t>
              </a:r>
            </a:p>
          </p:txBody>
        </p:sp>
        <p:sp>
          <p:nvSpPr>
            <p:cNvPr id="30" name="Freeform 29"/>
            <p:cNvSpPr/>
            <p:nvPr/>
          </p:nvSpPr>
          <p:spPr>
            <a:xfrm>
              <a:off x="9190522" y="2466675"/>
              <a:ext cx="197228" cy="1972281"/>
            </a:xfrm>
            <a:custGeom>
              <a:avLst/>
              <a:gdLst/>
              <a:ahLst/>
              <a:cxnLst/>
              <a:rect l="0" t="0" r="0" b="0"/>
              <a:pathLst>
                <a:path>
                  <a:moveTo>
                    <a:pt x="0" y="0"/>
                  </a:moveTo>
                  <a:lnTo>
                    <a:pt x="0" y="1972281"/>
                  </a:lnTo>
                  <a:lnTo>
                    <a:pt x="197228" y="1972281"/>
                  </a:lnTo>
                </a:path>
              </a:pathLst>
            </a:custGeom>
            <a:noFill/>
            <a:ln w="19050">
              <a:solidFill>
                <a:schemeClr val="accent5"/>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31" name="Freeform 30"/>
            <p:cNvSpPr/>
            <p:nvPr/>
          </p:nvSpPr>
          <p:spPr>
            <a:xfrm>
              <a:off x="9387750" y="3945886"/>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5"/>
              </a:solidFill>
            </a:ln>
          </p:spPr>
          <p:style>
            <a:lnRef idx="2">
              <a:schemeClr val="accent2">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AU" sz="1600" kern="1200" dirty="0"/>
                <a:t>Optimize content retention and storage  </a:t>
              </a:r>
            </a:p>
          </p:txBody>
        </p:sp>
        <p:sp>
          <p:nvSpPr>
            <p:cNvPr id="32" name="Freeform 31"/>
            <p:cNvSpPr/>
            <p:nvPr/>
          </p:nvSpPr>
          <p:spPr>
            <a:xfrm>
              <a:off x="9190522" y="2466675"/>
              <a:ext cx="197228" cy="3204956"/>
            </a:xfrm>
            <a:custGeom>
              <a:avLst/>
              <a:gdLst/>
              <a:ahLst/>
              <a:cxnLst/>
              <a:rect l="0" t="0" r="0" b="0"/>
              <a:pathLst>
                <a:path>
                  <a:moveTo>
                    <a:pt x="0" y="0"/>
                  </a:moveTo>
                  <a:lnTo>
                    <a:pt x="0" y="3204956"/>
                  </a:lnTo>
                  <a:lnTo>
                    <a:pt x="197228" y="3204956"/>
                  </a:lnTo>
                </a:path>
              </a:pathLst>
            </a:custGeom>
            <a:noFill/>
            <a:ln w="19050">
              <a:solidFill>
                <a:schemeClr val="accent5"/>
              </a:solidFill>
            </a:ln>
          </p:spPr>
          <p:style>
            <a:lnRef idx="2">
              <a:schemeClr val="accent2">
                <a:hueOff val="0"/>
                <a:satOff val="0"/>
                <a:lumOff val="0"/>
                <a:alphaOff val="0"/>
              </a:schemeClr>
            </a:lnRef>
            <a:fillRef idx="0">
              <a:scrgbClr r="0" g="0" b="0"/>
            </a:fillRef>
            <a:effectRef idx="0">
              <a:schemeClr val="accent3">
                <a:tint val="90000"/>
                <a:hueOff val="0"/>
                <a:satOff val="0"/>
                <a:lumOff val="0"/>
                <a:alphaOff val="0"/>
              </a:schemeClr>
            </a:effectRef>
            <a:fontRef idx="minor">
              <a:schemeClr val="tx1">
                <a:hueOff val="0"/>
                <a:satOff val="0"/>
                <a:lumOff val="0"/>
                <a:alphaOff val="0"/>
              </a:schemeClr>
            </a:fontRef>
          </p:style>
        </p:sp>
        <p:sp>
          <p:nvSpPr>
            <p:cNvPr id="33" name="Freeform 32"/>
            <p:cNvSpPr/>
            <p:nvPr/>
          </p:nvSpPr>
          <p:spPr>
            <a:xfrm>
              <a:off x="9387750" y="5178561"/>
              <a:ext cx="1577824" cy="986140"/>
            </a:xfrm>
            <a:custGeom>
              <a:avLst/>
              <a:gdLst>
                <a:gd name="connsiteX0" fmla="*/ 0 w 1577824"/>
                <a:gd name="connsiteY0" fmla="*/ 98614 h 986140"/>
                <a:gd name="connsiteX1" fmla="*/ 98614 w 1577824"/>
                <a:gd name="connsiteY1" fmla="*/ 0 h 986140"/>
                <a:gd name="connsiteX2" fmla="*/ 1479210 w 1577824"/>
                <a:gd name="connsiteY2" fmla="*/ 0 h 986140"/>
                <a:gd name="connsiteX3" fmla="*/ 1577824 w 1577824"/>
                <a:gd name="connsiteY3" fmla="*/ 98614 h 986140"/>
                <a:gd name="connsiteX4" fmla="*/ 1577824 w 1577824"/>
                <a:gd name="connsiteY4" fmla="*/ 887526 h 986140"/>
                <a:gd name="connsiteX5" fmla="*/ 1479210 w 1577824"/>
                <a:gd name="connsiteY5" fmla="*/ 986140 h 986140"/>
                <a:gd name="connsiteX6" fmla="*/ 98614 w 1577824"/>
                <a:gd name="connsiteY6" fmla="*/ 986140 h 986140"/>
                <a:gd name="connsiteX7" fmla="*/ 0 w 1577824"/>
                <a:gd name="connsiteY7" fmla="*/ 887526 h 986140"/>
                <a:gd name="connsiteX8" fmla="*/ 0 w 1577824"/>
                <a:gd name="connsiteY8" fmla="*/ 98614 h 986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7824" h="986140">
                  <a:moveTo>
                    <a:pt x="0" y="98614"/>
                  </a:moveTo>
                  <a:cubicBezTo>
                    <a:pt x="0" y="44151"/>
                    <a:pt x="44151" y="0"/>
                    <a:pt x="98614" y="0"/>
                  </a:cubicBezTo>
                  <a:lnTo>
                    <a:pt x="1479210" y="0"/>
                  </a:lnTo>
                  <a:cubicBezTo>
                    <a:pt x="1533673" y="0"/>
                    <a:pt x="1577824" y="44151"/>
                    <a:pt x="1577824" y="98614"/>
                  </a:cubicBezTo>
                  <a:lnTo>
                    <a:pt x="1577824" y="887526"/>
                  </a:lnTo>
                  <a:cubicBezTo>
                    <a:pt x="1577824" y="941989"/>
                    <a:pt x="1533673" y="986140"/>
                    <a:pt x="1479210" y="986140"/>
                  </a:cubicBezTo>
                  <a:lnTo>
                    <a:pt x="98614" y="986140"/>
                  </a:lnTo>
                  <a:cubicBezTo>
                    <a:pt x="44151" y="986140"/>
                    <a:pt x="0" y="941989"/>
                    <a:pt x="0" y="887526"/>
                  </a:cubicBezTo>
                  <a:lnTo>
                    <a:pt x="0" y="98614"/>
                  </a:lnTo>
                  <a:close/>
                </a:path>
              </a:pathLst>
            </a:custGeom>
            <a:ln w="19050">
              <a:solidFill>
                <a:schemeClr val="accent5"/>
              </a:solidFill>
            </a:ln>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59363" tIns="49203" rIns="59363" bIns="49203" numCol="1" spcCol="1270" anchor="ctr" anchorCtr="0">
              <a:noAutofit/>
            </a:bodyPr>
            <a:lstStyle/>
            <a:p>
              <a:pPr lvl="0" algn="ctr" defTabSz="711200">
                <a:lnSpc>
                  <a:spcPct val="90000"/>
                </a:lnSpc>
                <a:spcBef>
                  <a:spcPct val="0"/>
                </a:spcBef>
                <a:spcAft>
                  <a:spcPct val="35000"/>
                </a:spcAft>
              </a:pPr>
              <a:r>
                <a:rPr lang="en-AU" sz="1600" kern="1200" dirty="0"/>
                <a:t>Manage for value and stage of life</a:t>
              </a:r>
            </a:p>
          </p:txBody>
        </p:sp>
      </p:grpSp>
    </p:spTree>
    <p:extLst>
      <p:ext uri="{BB962C8B-B14F-4D97-AF65-F5344CB8AC3E}">
        <p14:creationId xmlns:p14="http://schemas.microsoft.com/office/powerpoint/2010/main" val="3995236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
                                        </p:tgtEl>
                                        <p:attrNameLst>
                                          <p:attrName>style.visibility</p:attrName>
                                        </p:attrNameLst>
                                      </p:cBhvr>
                                      <p:to>
                                        <p:strVal val="visible"/>
                                      </p:to>
                                    </p:set>
                                    <p:animEffect transition="in" filter="fade">
                                      <p:cBhvr>
                                        <p:cTn id="17" dur="500"/>
                                        <p:tgtEl>
                                          <p:spTgt spid="3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AB8DA6-BDE6-7C4D-89B2-385058543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2" name="Title 1"/>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EE600E9F-E005-654F-8DC6-847884446F1D}"/>
              </a:ext>
            </a:extLst>
          </p:cNvPr>
          <p:cNvSpPr>
            <a:spLocks noGrp="1"/>
          </p:cNvSpPr>
          <p:nvPr>
            <p:ph type="subTitle" idx="1"/>
          </p:nvPr>
        </p:nvSpPr>
        <p:spPr/>
        <p:txBody>
          <a:bodyPr/>
          <a:lstStyle/>
          <a:p>
            <a:endParaRPr lang="en-US"/>
          </a:p>
        </p:txBody>
      </p:sp>
      <p:sp>
        <p:nvSpPr>
          <p:cNvPr id="5" name="Rectangle 4">
            <a:extLst>
              <a:ext uri="{FF2B5EF4-FFF2-40B4-BE49-F238E27FC236}">
                <a16:creationId xmlns:a16="http://schemas.microsoft.com/office/drawing/2014/main" id="{35C770E5-A18C-DC4C-93F9-69191F0963F3}"/>
              </a:ext>
            </a:extLst>
          </p:cNvPr>
          <p:cNvSpPr/>
          <p:nvPr/>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a:extLst>
              <a:ext uri="{FF2B5EF4-FFF2-40B4-BE49-F238E27FC236}">
                <a16:creationId xmlns:a16="http://schemas.microsoft.com/office/drawing/2014/main" id="{33CB49C7-E238-CA4C-BE79-E67FBF5C3EEB}"/>
              </a:ext>
            </a:extLst>
          </p:cNvPr>
          <p:cNvGrpSpPr/>
          <p:nvPr/>
        </p:nvGrpSpPr>
        <p:grpSpPr>
          <a:xfrm>
            <a:off x="1048005" y="766395"/>
            <a:ext cx="1930326" cy="467406"/>
            <a:chOff x="-504825" y="3757613"/>
            <a:chExt cx="1009650" cy="244475"/>
          </a:xfrm>
          <a:solidFill>
            <a:schemeClr val="bg1"/>
          </a:solidFill>
        </p:grpSpPr>
        <p:sp>
          <p:nvSpPr>
            <p:cNvPr id="7" name="Freeform 5">
              <a:extLst>
                <a:ext uri="{FF2B5EF4-FFF2-40B4-BE49-F238E27FC236}">
                  <a16:creationId xmlns:a16="http://schemas.microsoft.com/office/drawing/2014/main" id="{A521FF18-F40D-354E-804E-B9DAD6BA0C25}"/>
                </a:ext>
              </a:extLst>
            </p:cNvPr>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8" name="Freeform 6">
              <a:extLst>
                <a:ext uri="{FF2B5EF4-FFF2-40B4-BE49-F238E27FC236}">
                  <a16:creationId xmlns:a16="http://schemas.microsoft.com/office/drawing/2014/main" id="{B87E6E31-BA02-414A-AB65-7445A3927F54}"/>
                </a:ext>
              </a:extLst>
            </p:cNvPr>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9" name="Freeform 7">
              <a:extLst>
                <a:ext uri="{FF2B5EF4-FFF2-40B4-BE49-F238E27FC236}">
                  <a16:creationId xmlns:a16="http://schemas.microsoft.com/office/drawing/2014/main" id="{1761A4F1-6A6A-2A44-B627-EBC166D197C3}"/>
                </a:ext>
              </a:extLst>
            </p:cNvPr>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0" name="Freeform 8">
              <a:extLst>
                <a:ext uri="{FF2B5EF4-FFF2-40B4-BE49-F238E27FC236}">
                  <a16:creationId xmlns:a16="http://schemas.microsoft.com/office/drawing/2014/main" id="{A161529E-04D5-954C-A248-CA6E7B1A878B}"/>
                </a:ext>
              </a:extLst>
            </p:cNvPr>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9">
              <a:extLst>
                <a:ext uri="{FF2B5EF4-FFF2-40B4-BE49-F238E27FC236}">
                  <a16:creationId xmlns:a16="http://schemas.microsoft.com/office/drawing/2014/main" id="{45BDBE65-92E5-9345-A15E-D3EEEDA6490F}"/>
                </a:ext>
              </a:extLst>
            </p:cNvPr>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10">
              <a:extLst>
                <a:ext uri="{FF2B5EF4-FFF2-40B4-BE49-F238E27FC236}">
                  <a16:creationId xmlns:a16="http://schemas.microsoft.com/office/drawing/2014/main" id="{7B67E482-F067-7840-A8BD-07C2035E83F8}"/>
                </a:ext>
              </a:extLst>
            </p:cNvPr>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11">
              <a:extLst>
                <a:ext uri="{FF2B5EF4-FFF2-40B4-BE49-F238E27FC236}">
                  <a16:creationId xmlns:a16="http://schemas.microsoft.com/office/drawing/2014/main" id="{DFE08647-EABE-C74F-AE60-981CF2675DDD}"/>
                </a:ext>
              </a:extLst>
            </p:cNvPr>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12">
              <a:extLst>
                <a:ext uri="{FF2B5EF4-FFF2-40B4-BE49-F238E27FC236}">
                  <a16:creationId xmlns:a16="http://schemas.microsoft.com/office/drawing/2014/main" id="{71B177CA-B922-AA42-B3CC-60DB7D4EF060}"/>
                </a:ext>
              </a:extLst>
            </p:cNvPr>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3">
              <a:extLst>
                <a:ext uri="{FF2B5EF4-FFF2-40B4-BE49-F238E27FC236}">
                  <a16:creationId xmlns:a16="http://schemas.microsoft.com/office/drawing/2014/main" id="{E1D5D901-ADF3-8047-A9C4-1A7D7B208E05}"/>
                </a:ext>
              </a:extLst>
            </p:cNvPr>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4">
              <a:extLst>
                <a:ext uri="{FF2B5EF4-FFF2-40B4-BE49-F238E27FC236}">
                  <a16:creationId xmlns:a16="http://schemas.microsoft.com/office/drawing/2014/main" id="{CB8A3CD0-2835-A64E-9EF8-1EF3F9255366}"/>
                </a:ext>
              </a:extLst>
            </p:cNvPr>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5">
              <a:extLst>
                <a:ext uri="{FF2B5EF4-FFF2-40B4-BE49-F238E27FC236}">
                  <a16:creationId xmlns:a16="http://schemas.microsoft.com/office/drawing/2014/main" id="{ECC47069-07D6-464A-9BF3-1478952A7A0F}"/>
                </a:ext>
              </a:extLst>
            </p:cNvPr>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6">
              <a:extLst>
                <a:ext uri="{FF2B5EF4-FFF2-40B4-BE49-F238E27FC236}">
                  <a16:creationId xmlns:a16="http://schemas.microsoft.com/office/drawing/2014/main" id="{A088EBA8-880A-B347-BEBE-A18820E19FBA}"/>
                </a:ext>
              </a:extLst>
            </p:cNvPr>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7">
              <a:extLst>
                <a:ext uri="{FF2B5EF4-FFF2-40B4-BE49-F238E27FC236}">
                  <a16:creationId xmlns:a16="http://schemas.microsoft.com/office/drawing/2014/main" id="{1C79386D-0710-304A-9DD5-7FBB79585886}"/>
                </a:ext>
              </a:extLst>
            </p:cNvPr>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Tree>
    <p:extLst>
      <p:ext uri="{BB962C8B-B14F-4D97-AF65-F5344CB8AC3E}">
        <p14:creationId xmlns:p14="http://schemas.microsoft.com/office/powerpoint/2010/main" val="3016751371"/>
      </p:ext>
    </p:extLst>
  </p:cSld>
  <p:clrMapOvr>
    <a:masterClrMapping/>
  </p:clrMapOvr>
</p:sld>
</file>

<file path=ppt/theme/theme1.xml><?xml version="1.0" encoding="utf-8"?>
<a:theme xmlns:a="http://schemas.openxmlformats.org/drawingml/2006/main" name="Micro Focus Theme v5">
  <a:themeElements>
    <a:clrScheme name="mf theme colors v4">
      <a:dk1>
        <a:srgbClr val="000000"/>
      </a:dk1>
      <a:lt1>
        <a:srgbClr val="FFFFFF"/>
      </a:lt1>
      <a:dk2>
        <a:srgbClr val="ECEEEF"/>
      </a:dk2>
      <a:lt2>
        <a:srgbClr val="212E35"/>
      </a:lt2>
      <a:accent1>
        <a:srgbClr val="0079EF"/>
      </a:accent1>
      <a:accent2>
        <a:srgbClr val="231CA5"/>
      </a:accent2>
      <a:accent3>
        <a:srgbClr val="7424AD"/>
      </a:accent3>
      <a:accent4>
        <a:srgbClr val="C6179D"/>
      </a:accent4>
      <a:accent5>
        <a:srgbClr val="29CEFE"/>
      </a:accent5>
      <a:accent6>
        <a:srgbClr val="2FD6C3"/>
      </a:accent6>
      <a:hlink>
        <a:srgbClr val="284CFF"/>
      </a:hlink>
      <a:folHlink>
        <a:srgbClr val="284C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rmAutofit/>
      </a:bodyPr>
      <a:lstStyle>
        <a:defPPr marL="0" indent="0">
          <a:spcAft>
            <a:spcPts val="1800"/>
          </a:spcAft>
          <a:buNone/>
          <a:defRPr sz="2400" dirty="0"/>
        </a:defPPr>
      </a:lstStyle>
    </a:txDef>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Presentation_2017" id="{EE410749-BDB7-BA44-9034-418D44443F47}" vid="{9639C47D-4534-FE4D-9883-F5A494F791BC}"/>
    </a:ext>
  </a:extLst>
</a:theme>
</file>

<file path=ppt/theme/theme2.xml><?xml version="1.0" encoding="utf-8"?>
<a:theme xmlns:a="http://schemas.openxmlformats.org/drawingml/2006/main" name="3_Office Theme">
  <a:themeElements>
    <a:clrScheme name="Micro Focus 2017 -2">
      <a:dk1>
        <a:srgbClr val="212E35"/>
      </a:dk1>
      <a:lt1>
        <a:sysClr val="window" lastClr="FFFFFF"/>
      </a:lt1>
      <a:dk2>
        <a:srgbClr val="0079EF"/>
      </a:dk2>
      <a:lt2>
        <a:srgbClr val="29CEFE"/>
      </a:lt2>
      <a:accent1>
        <a:srgbClr val="C6179D"/>
      </a:accent1>
      <a:accent2>
        <a:srgbClr val="7425AD"/>
      </a:accent2>
      <a:accent3>
        <a:srgbClr val="231CA5"/>
      </a:accent3>
      <a:accent4>
        <a:srgbClr val="1668C1"/>
      </a:accent4>
      <a:accent5>
        <a:srgbClr val="29CEFE"/>
      </a:accent5>
      <a:accent6>
        <a:srgbClr val="2FD6C3"/>
      </a:accent6>
      <a:hlink>
        <a:srgbClr val="231CA5"/>
      </a:hlink>
      <a:folHlink>
        <a:srgbClr val="5EAE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wrap="none" lIns="91440" tIns="45720" rIns="91440" bIns="45720" rtlCol="0" anchor="t" anchorCtr="0">
        <a:spAutoFit/>
      </a:bodyPr>
      <a:lstStyle>
        <a:defPPr algn="ctr">
          <a:defRPr sz="1467" smtClean="0">
            <a:solidFill>
              <a:schemeClr val="bg1">
                <a:lumMod val="50000"/>
              </a:schemeClr>
            </a:solidFill>
            <a:latin typeface="+mn-lt"/>
            <a:ea typeface="Roboto Light" charset="0"/>
            <a:cs typeface="Roboto Light" charset="0"/>
          </a:defRPr>
        </a:defPPr>
      </a:lstStyle>
    </a:txDef>
  </a:objectDefaults>
  <a:extraClrSchemeLst/>
  <a:extLst>
    <a:ext uri="{05A4C25C-085E-4340-85A3-A5531E510DB2}">
      <thm15:themeFamily xmlns:thm15="http://schemas.microsoft.com/office/thememl/2012/main" name="MF_16x9_preso_w-examples_template" id="{DA810A4A-D62B-452C-8E3A-3E6B8C636CF1}" vid="{34803E31-BC3F-429D-AB1C-AE40848DE618}"/>
    </a:ext>
  </a:extLst>
</a:theme>
</file>

<file path=ppt/theme/theme3.xml><?xml version="1.0" encoding="utf-8"?>
<a:theme xmlns:a="http://schemas.openxmlformats.org/drawingml/2006/main" name="49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Presentation3" id="{82F489F1-2415-4792-834F-354C5A0F232E}" vid="{992AD6F9-C7EC-40D2-8268-DD2526781137}"/>
    </a:ext>
  </a:extLst>
</a:theme>
</file>

<file path=ppt/theme/theme4.xml><?xml version="1.0" encoding="utf-8"?>
<a:theme xmlns:a="http://schemas.openxmlformats.org/drawingml/2006/main" name="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HPE_Standard_Arial_16x9.potx" id="{21F84462-1C9F-438F-A772-0EBAD7B3BCD8}" vid="{077F0EBE-C80C-4B61-8BF1-0309CF31637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03BCB38-008C-E349-A4FC-E674450CD1CA}">
  <we:reference id="wa104381063" version="1.0.0.0" store="en-US" storeType="OMEX"/>
  <we:alternateReferences>
    <we:reference id="wa104381063" version="1.0.0.0"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Presentation_2017</Template>
  <TotalTime>86054</TotalTime>
  <Words>2617</Words>
  <Application>Microsoft Office PowerPoint</Application>
  <PresentationFormat>Widescreen</PresentationFormat>
  <Paragraphs>348</Paragraphs>
  <Slides>21</Slides>
  <Notes>21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21</vt:i4>
      </vt:variant>
    </vt:vector>
  </HeadingPairs>
  <TitlesOfParts>
    <vt:vector size="30" baseType="lpstr">
      <vt:lpstr>Arial</vt:lpstr>
      <vt:lpstr>Calibri</vt:lpstr>
      <vt:lpstr>HP Simplified</vt:lpstr>
      <vt:lpstr>MetricHPE</vt:lpstr>
      <vt:lpstr>Wingdings</vt:lpstr>
      <vt:lpstr>Micro Focus Theme v5</vt:lpstr>
      <vt:lpstr>3_Office Theme</vt:lpstr>
      <vt:lpstr>49_HPE_Standard_Arial_16x9_v2</vt:lpstr>
      <vt:lpstr>HPE_Standard_Arial_16x9_v2</vt:lpstr>
      <vt:lpstr>Content Manager Essentials Overview </vt:lpstr>
      <vt:lpstr>Agenda </vt:lpstr>
      <vt:lpstr>Trends  </vt:lpstr>
      <vt:lpstr>Information Management inflection points</vt:lpstr>
      <vt:lpstr>Global trends are affecting the management of business content</vt:lpstr>
      <vt:lpstr>Customer Challenges </vt:lpstr>
      <vt:lpstr>The changing enterprise content management landscape</vt:lpstr>
      <vt:lpstr>What are customers looking to achieve?</vt:lpstr>
      <vt:lpstr>Roles and Drivers</vt:lpstr>
      <vt:lpstr>Solution Capabilities</vt:lpstr>
      <vt:lpstr>What is our Top-Line Position</vt:lpstr>
      <vt:lpstr>Manage Information Across the Lifecycle</vt:lpstr>
      <vt:lpstr>What are customers looking to achieve?</vt:lpstr>
      <vt:lpstr>Value to Change</vt:lpstr>
      <vt:lpstr>A vital business application to manage content across the lifecycle</vt:lpstr>
      <vt:lpstr>Achieving improvement in productivity and compliance</vt:lpstr>
      <vt:lpstr>Customer Success</vt:lpstr>
      <vt:lpstr>NAMIC Insurance Company</vt:lpstr>
      <vt:lpstr>Summary</vt:lpstr>
      <vt:lpstr>Content Manager helps customers get the balance right between…</vt:lpstr>
      <vt:lpstr>Thank you</vt:lpstr>
    </vt:vector>
  </TitlesOfParts>
  <Company>Novell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Focus Presentation Template</dc:title>
  <dc:creator>Karlin Stokes</dc:creator>
  <cp:lastModifiedBy>Rajan Ranmal</cp:lastModifiedBy>
  <cp:revision>590</cp:revision>
  <dcterms:created xsi:type="dcterms:W3CDTF">2017-10-11T15:55:15Z</dcterms:created>
  <dcterms:modified xsi:type="dcterms:W3CDTF">2019-01-30T14:14:11Z</dcterms:modified>
</cp:coreProperties>
</file>